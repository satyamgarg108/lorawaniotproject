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23"/>
  </p:notesMasterIdLst>
  <p:sldIdLst>
    <p:sldId id="256" r:id="rId2"/>
    <p:sldId id="260" r:id="rId3"/>
    <p:sldId id="264" r:id="rId4"/>
    <p:sldId id="300" r:id="rId5"/>
    <p:sldId id="298" r:id="rId6"/>
    <p:sldId id="302" r:id="rId7"/>
    <p:sldId id="303" r:id="rId8"/>
    <p:sldId id="263" r:id="rId9"/>
    <p:sldId id="308" r:id="rId10"/>
    <p:sldId id="323" r:id="rId11"/>
    <p:sldId id="265" r:id="rId12"/>
    <p:sldId id="326" r:id="rId13"/>
    <p:sldId id="276" r:id="rId14"/>
    <p:sldId id="335" r:id="rId15"/>
    <p:sldId id="330" r:id="rId16"/>
    <p:sldId id="329" r:id="rId17"/>
    <p:sldId id="331" r:id="rId18"/>
    <p:sldId id="287" r:id="rId19"/>
    <p:sldId id="333" r:id="rId20"/>
    <p:sldId id="337" r:id="rId21"/>
    <p:sldId id="293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5F62"/>
    <a:srgbClr val="B5293D"/>
    <a:srgbClr val="4EA8FD"/>
    <a:srgbClr val="7AB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4"/>
    <p:restoredTop sz="91293"/>
  </p:normalViewPr>
  <p:slideViewPr>
    <p:cSldViewPr snapToGrid="0">
      <p:cViewPr varScale="1">
        <p:scale>
          <a:sx n="116" d="100"/>
          <a:sy n="116" d="100"/>
        </p:scale>
        <p:origin x="44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CE5E9-BA52-D647-A78D-B601D9048222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BC203-8E4F-A346-B236-95E7E1F8A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3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growing demand for Internet-of-Things (IoT) applications has led to the development of several Low-Power Wide-Area Network (LPWAN) technologies in recent years.</a:t>
            </a:r>
          </a:p>
          <a:p>
            <a:endParaRPr lang="en-US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Lora Operates in unlicensed sub-GHz band, and facilitates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long-range connectivity  ,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low power consumption,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and low data-rate transmissions</a:t>
            </a:r>
            <a:r>
              <a:rPr lang="en-US" dirty="0">
                <a:effectLst/>
              </a:rPr>
              <a:t> </a:t>
            </a:r>
          </a:p>
          <a:p>
            <a:endParaRPr lang="en-US" dirty="0">
              <a:effectLst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It's widely available worldwide, with over 600 documented use cases such 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91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typical LoRa architecture includes many end-devices  or (LoRa nodes), one or more gateways and a network server. Nodes are sensors/actuators that directly communicate with the gateway wirelessly over long-range.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LoRa is the PHY layer of LoRa stack while </a:t>
            </a:r>
            <a:r>
              <a:rPr lang="en-US" sz="1800" i="1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LoRaWAN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the MAC layer.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LoRaWAN</a:t>
            </a: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divides the available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spectrum into multiple uplink and downlink channels. Nodes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send data to the gateway on the uplink channels and the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gateway responds on the downlink channels.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LoRa uses CSS modulation technique and offers several runtime-adjustable transmission parameters, out of which spreading factor is a major one.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8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68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  <a:latin typeface="Helvetica" pitchFamily="2" charset="0"/>
              </a:rPr>
              <a:t>However, upon detecting a</a:t>
            </a:r>
            <a:r>
              <a:rPr lang="en-US" i="0" dirty="0"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fire </a:t>
            </a:r>
          </a:p>
          <a:p>
            <a:r>
              <a:rPr lang="en-US" i="1" dirty="0">
                <a:effectLst/>
                <a:latin typeface="Helvetica" pitchFamily="2" charset="0"/>
              </a:rPr>
              <a:t>sensors near the affected area begin generating</a:t>
            </a:r>
            <a:r>
              <a:rPr lang="en-US" i="0" dirty="0"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burst traffic,</a:t>
            </a:r>
          </a:p>
          <a:p>
            <a:r>
              <a:rPr lang="en-US" i="1" dirty="0">
                <a:effectLst/>
                <a:latin typeface="Helvetica" pitchFamily="2" charset="0"/>
              </a:rPr>
              <a:t>likely indicating intense heat or smoke.</a:t>
            </a:r>
          </a:p>
          <a:p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All nodes start transmitting data packets to the gateway simultaneously in a quick succession leading to temp surge in network traffic. </a:t>
            </a:r>
          </a:p>
          <a:p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This</a:t>
            </a:r>
            <a:r>
              <a:rPr lang="en-US" i="0" dirty="0"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sudden uptick in data transmission plays a pivotal role in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alerting authorities and facilitating timely responses such as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evacuation in the event of a fire or eruption.</a:t>
            </a:r>
            <a:endParaRPr lang="en-US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22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6" name="Shape 31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LoRaWAN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-</a:t>
            </a:r>
          </a:p>
          <a:p>
            <a:pPr algn="l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34.54</a:t>
            </a:r>
          </a:p>
          <a:p>
            <a:pPr algn="l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26.81</a:t>
            </a:r>
          </a:p>
          <a:p>
            <a:pPr algn="l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20.77</a:t>
            </a:r>
          </a:p>
          <a:p>
            <a:pPr algn="l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13.35</a:t>
            </a:r>
          </a:p>
          <a:p>
            <a:pPr algn="l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9.39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15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C00000"/>
                </a:solidFill>
                <a:latin typeface="+mn-lt"/>
              </a:rPr>
              <a:t>Ensuring successful transmission of this traffic without loss is critical</a:t>
            </a:r>
            <a:br>
              <a:rPr lang="en-US" dirty="0">
                <a:solidFill>
                  <a:srgbClr val="C00000"/>
                </a:solidFill>
                <a:latin typeface="+mn-lt"/>
              </a:rPr>
            </a:br>
            <a:r>
              <a:rPr lang="en-US" dirty="0">
                <a:solidFill>
                  <a:srgbClr val="C00000"/>
                </a:solidFill>
                <a:latin typeface="+mn-lt"/>
              </a:rPr>
              <a:t>to alert authorities and enable timely responses.</a:t>
            </a:r>
            <a:endParaRPr lang="en-US" dirty="0">
              <a:solidFill>
                <a:srgbClr val="C00000"/>
              </a:solidFill>
              <a:latin typeface="+mn-lt"/>
              <a:sym typeface="Helvetica Neue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88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7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Gateway-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/>
              <a:t>Identifies burst when VC collisions exceed a predefined threshold.</a:t>
            </a:r>
          </a:p>
          <a:p>
            <a:pPr>
              <a:spcBef>
                <a:spcPts val="450"/>
              </a:spcBef>
            </a:pPr>
            <a:r>
              <a:rPr lang="en-US" dirty="0"/>
              <a:t>to burst nodes.</a:t>
            </a:r>
          </a:p>
          <a:p>
            <a:pPr marL="891540" lvl="2" indent="-342900">
              <a:spcBef>
                <a:spcPts val="450"/>
              </a:spcBef>
            </a:pPr>
            <a:r>
              <a:rPr lang="en-US" sz="1900" dirty="0"/>
              <a:t>Beacons provide a timing reference for clock synchronization with gateway.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Thereafter, they use Burst-MAC for subsequent transmissions. Note that, it is not required for the gateway and the burst nodes to switch to Burst-MAC at the same time. A burst node can switch to Burst-MAC once it detects burst or receives the notification from the gateway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35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68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Naturally synchronized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16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46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87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Bounded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L</a:t>
            </a:r>
            <a:r>
              <a:rPr kumimoji="0" lang="en-US" sz="12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atencies for successful uplink packets only. We do not consider lost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30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48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2BC203-8E4F-A346-B236-95E7E1F8A9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7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/>
          <p:cNvSpPr/>
          <p:nvPr/>
        </p:nvSpPr>
        <p:spPr>
          <a:xfrm>
            <a:off x="0" y="1600200"/>
            <a:ext cx="12192001" cy="1698692"/>
          </a:xfrm>
          <a:prstGeom prst="rect">
            <a:avLst/>
          </a:prstGeom>
          <a:solidFill>
            <a:srgbClr val="B4293E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3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44052" y="2132122"/>
            <a:ext cx="7623318" cy="172021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100" spc="-62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712993" y="4112553"/>
            <a:ext cx="3583798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</a:lvl1pPr>
            <a:lvl2pPr marL="0" indent="228600" defTabSz="412750">
              <a:lnSpc>
                <a:spcPct val="100000"/>
              </a:lnSpc>
              <a:spcBef>
                <a:spcPts val="0"/>
              </a:spcBef>
              <a:buSzTx/>
              <a:buNone/>
            </a:lvl2pPr>
            <a:lvl3pPr marL="0" indent="457200" defTabSz="412750">
              <a:lnSpc>
                <a:spcPct val="100000"/>
              </a:lnSpc>
              <a:spcBef>
                <a:spcPts val="0"/>
              </a:spcBef>
              <a:buSzTx/>
              <a:buNone/>
            </a:lvl3pPr>
            <a:lvl4pPr marL="0" indent="685800" defTabSz="412750">
              <a:lnSpc>
                <a:spcPct val="100000"/>
              </a:lnSpc>
              <a:spcBef>
                <a:spcPts val="0"/>
              </a:spcBef>
              <a:buSzTx/>
              <a:buNone/>
            </a:lvl4pPr>
            <a:lvl5pPr marL="0" indent="914400" defTabSz="412750">
              <a:lnSpc>
                <a:spcPct val="100000"/>
              </a:lnSpc>
              <a:spcBef>
                <a:spcPts val="0"/>
              </a:spcBef>
              <a:buSzTx/>
              <a:buNone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86" y="495095"/>
            <a:ext cx="3025381" cy="579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" descr="Image"/>
          <p:cNvPicPr>
            <a:picLocks noChangeAspect="1"/>
          </p:cNvPicPr>
          <p:nvPr/>
        </p:nvPicPr>
        <p:blipFill>
          <a:blip r:embed="rId3"/>
          <a:srcRect l="4083" t="5625" r="2826" b="13846"/>
          <a:stretch>
            <a:fillRect/>
          </a:stretch>
        </p:blipFill>
        <p:spPr>
          <a:xfrm>
            <a:off x="3723191" y="487296"/>
            <a:ext cx="1948078" cy="595375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063" y="6486708"/>
            <a:ext cx="227627" cy="241092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2584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400242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</a:lvl1pPr>
          </a:lstStyle>
          <a:p>
            <a:r>
              <a:t>幻灯片副标题</a:t>
            </a:r>
          </a:p>
        </p:txBody>
      </p:sp>
      <p:sp>
        <p:nvSpPr>
          <p:cNvPr id="25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6" name="章节标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116565" y="15043"/>
            <a:ext cx="1958871" cy="65659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章节标题</a:t>
            </a:r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章节标题"/>
          <p:cNvSpPr txBox="1">
            <a:spLocks noGrp="1"/>
          </p:cNvSpPr>
          <p:nvPr>
            <p:ph type="body" sz="quarter" idx="23"/>
          </p:nvPr>
        </p:nvSpPr>
        <p:spPr>
          <a:xfrm>
            <a:off x="4009692" y="661009"/>
            <a:ext cx="4172617" cy="47192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92950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400242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</a:lvl1pPr>
          </a:lstStyle>
          <a:p>
            <a:r>
              <a:t>幻灯片副标题</a:t>
            </a:r>
          </a:p>
        </p:txBody>
      </p:sp>
      <p:sp>
        <p:nvSpPr>
          <p:cNvPr id="36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7" name="章节标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116565" y="243974"/>
            <a:ext cx="1958871" cy="65659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章节标题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1845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章节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116565" y="15043"/>
            <a:ext cx="1958871" cy="65659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章节标题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章节标题"/>
          <p:cNvSpPr txBox="1">
            <a:spLocks noGrp="1"/>
          </p:cNvSpPr>
          <p:nvPr>
            <p:ph type="body" sz="quarter" idx="22"/>
          </p:nvPr>
        </p:nvSpPr>
        <p:spPr>
          <a:xfrm>
            <a:off x="4009692" y="661009"/>
            <a:ext cx="4172617" cy="47192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43094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演示文稿标题"/>
          <p:cNvSpPr txBox="1">
            <a:spLocks noGrp="1"/>
          </p:cNvSpPr>
          <p:nvPr>
            <p:ph type="body" sz="quarter" idx="21"/>
          </p:nvPr>
        </p:nvSpPr>
        <p:spPr>
          <a:xfrm>
            <a:off x="4479554" y="2173418"/>
            <a:ext cx="3232892" cy="63484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3100" b="1" spc="-62">
                <a:solidFill>
                  <a:srgbClr val="702F7E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结语"/>
          <p:cNvSpPr txBox="1">
            <a:spLocks noGrp="1"/>
          </p:cNvSpPr>
          <p:nvPr>
            <p:ph type="body" sz="quarter" idx="22"/>
          </p:nvPr>
        </p:nvSpPr>
        <p:spPr>
          <a:xfrm>
            <a:off x="603250" y="443600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20322" y="6518458"/>
            <a:ext cx="227627" cy="241092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8343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400242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6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304800" indent="-304800"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</a:lstStyle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5" name="章节标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116565" y="15043"/>
            <a:ext cx="1958871" cy="65659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章节标题</a:t>
            </a:r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72358" y="6472060"/>
            <a:ext cx="383118" cy="379591"/>
          </a:xfrm>
          <a:prstGeom prst="rect">
            <a:avLst/>
          </a:prstGeom>
        </p:spPr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  <p:sp>
        <p:nvSpPr>
          <p:cNvPr id="67" name="章节标题"/>
          <p:cNvSpPr txBox="1">
            <a:spLocks noGrp="1"/>
          </p:cNvSpPr>
          <p:nvPr>
            <p:ph type="body" sz="quarter" idx="23"/>
          </p:nvPr>
        </p:nvSpPr>
        <p:spPr>
          <a:xfrm>
            <a:off x="4162779" y="661009"/>
            <a:ext cx="3866443" cy="47192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566335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章节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116565" y="15043"/>
            <a:ext cx="1958871" cy="65659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章节标题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71668" y="6475209"/>
            <a:ext cx="383118" cy="379591"/>
          </a:xfrm>
          <a:prstGeom prst="rect">
            <a:avLst/>
          </a:prstGeom>
        </p:spPr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  <p:sp>
        <p:nvSpPr>
          <p:cNvPr id="76" name="章节标题"/>
          <p:cNvSpPr txBox="1">
            <a:spLocks noGrp="1"/>
          </p:cNvSpPr>
          <p:nvPr>
            <p:ph type="body" sz="quarter" idx="22"/>
          </p:nvPr>
        </p:nvSpPr>
        <p:spPr>
          <a:xfrm>
            <a:off x="4162779" y="661009"/>
            <a:ext cx="3866443" cy="47192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501937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roup"/>
          <p:cNvSpPr/>
          <p:nvPr/>
        </p:nvSpPr>
        <p:spPr>
          <a:xfrm>
            <a:off x="0" y="918"/>
            <a:ext cx="12192001" cy="1142704"/>
          </a:xfrm>
          <a:prstGeom prst="rect">
            <a:avLst/>
          </a:prstGeom>
          <a:solidFill>
            <a:srgbClr val="12329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4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400242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幻灯片副标题</a:t>
            </a:r>
          </a:p>
        </p:txBody>
      </p:sp>
      <p:sp>
        <p:nvSpPr>
          <p:cNvPr id="85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304800" indent="-304800"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</a:lstStyle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6" name="章节标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116565" y="15043"/>
            <a:ext cx="1958871" cy="65659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章节标题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  <p:sp>
        <p:nvSpPr>
          <p:cNvPr id="88" name="章节标题"/>
          <p:cNvSpPr txBox="1">
            <a:spLocks noGrp="1"/>
          </p:cNvSpPr>
          <p:nvPr>
            <p:ph type="body" sz="quarter" idx="23"/>
          </p:nvPr>
        </p:nvSpPr>
        <p:spPr>
          <a:xfrm>
            <a:off x="4162779" y="661009"/>
            <a:ext cx="3866443" cy="47192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719376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8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up"/>
          <p:cNvSpPr/>
          <p:nvPr/>
        </p:nvSpPr>
        <p:spPr>
          <a:xfrm>
            <a:off x="0" y="918"/>
            <a:ext cx="12192001" cy="1142704"/>
          </a:xfrm>
          <a:prstGeom prst="rect">
            <a:avLst/>
          </a:prstGeom>
          <a:solidFill>
            <a:srgbClr val="B4293E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69183" y="6472060"/>
            <a:ext cx="383118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292100">
              <a:defRPr sz="1800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fld id="{5E3E5820-523E-2842-ACC7-93CA10EDC84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</p:spTree>
    <p:extLst>
      <p:ext uri="{BB962C8B-B14F-4D97-AF65-F5344CB8AC3E}">
        <p14:creationId xmlns:p14="http://schemas.microsoft.com/office/powerpoint/2010/main" val="129857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</p:sldLayoutIdLst>
  <p:transition spd="med"/>
  <p:hf hdr="0" ftr="0" dt="0"/>
  <p:txStyles>
    <p:titleStyle>
      <a:lvl1pPr marL="0" marR="0" indent="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2286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4572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6858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9144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11430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13716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6002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l" defTabSz="1219169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65760" marR="0" indent="-36576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✦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1pPr>
      <a:lvl2pPr marL="6096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2pPr>
      <a:lvl3pPr marL="9144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3pPr>
      <a:lvl4pPr marL="12192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4pPr>
      <a:lvl5pPr marL="15240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5pPr>
      <a:lvl6pPr marL="18288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6pPr>
      <a:lvl7pPr marL="21336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7pPr>
      <a:lvl8pPr marL="24384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8pPr>
      <a:lvl9pPr marL="2743200" marR="0" indent="-304800" algn="l" defTabSz="1219169" eaLnBrk="1" latinLnBrk="0" hangingPunct="1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r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www.stateforesters.org/districts/california/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hyperlink" Target="https://www.nature.org/en-us/about-us/where-we-work/united-states/california/stories-in-california/californias-wildfire-futur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shiming.yu@connect.polyu.hk" TargetMode="External"/><Relationship Id="rId7" Type="http://schemas.openxmlformats.org/officeDocument/2006/relationships/image" Target="../media/image22.png"/><Relationship Id="rId2" Type="http://schemas.openxmlformats.org/officeDocument/2006/relationships/hyperlink" Target="mailto:aakriti.jain@utdallas.edu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1.tif"/><Relationship Id="rId4" Type="http://schemas.openxmlformats.org/officeDocument/2006/relationships/hyperlink" Target="10.1109/RTSS62706.2024.000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F112A8-0884-6D51-05D2-399306D0041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177158" y="3808815"/>
            <a:ext cx="10053351" cy="2246998"/>
          </a:xfrm>
        </p:spPr>
        <p:txBody>
          <a:bodyPr anchor="ctr">
            <a:normAutofit fontScale="55000" lnSpcReduction="20000"/>
          </a:bodyPr>
          <a:lstStyle/>
          <a:p>
            <a:pPr algn="ctr" defTabSz="817244">
              <a:lnSpc>
                <a:spcPct val="120000"/>
              </a:lnSpc>
              <a:defRPr sz="3959"/>
            </a:pPr>
            <a:r>
              <a:rPr lang="en-US" sz="4000" b="1" u="sng" dirty="0" err="1">
                <a:latin typeface="+mn-lt"/>
              </a:rPr>
              <a:t>Aakriti</a:t>
            </a:r>
            <a:r>
              <a:rPr lang="en-US" sz="4000" b="1" u="sng" dirty="0">
                <a:latin typeface="+mn-lt"/>
              </a:rPr>
              <a:t> Jain</a:t>
            </a:r>
            <a:r>
              <a:rPr lang="en-US" sz="4000" baseline="31999" dirty="0">
                <a:latin typeface="+mn-lt"/>
              </a:rPr>
              <a:t>1</a:t>
            </a:r>
            <a:r>
              <a:rPr lang="en-US" sz="4000" dirty="0">
                <a:latin typeface="+mn-lt"/>
              </a:rPr>
              <a:t>, Md </a:t>
            </a:r>
            <a:r>
              <a:rPr lang="en-US" sz="4000" dirty="0" err="1">
                <a:latin typeface="+mn-lt"/>
              </a:rPr>
              <a:t>Ashikul</a:t>
            </a:r>
            <a:r>
              <a:rPr lang="en-US" sz="4000" dirty="0">
                <a:latin typeface="+mn-lt"/>
              </a:rPr>
              <a:t> Haque</a:t>
            </a:r>
            <a:r>
              <a:rPr lang="en-US" sz="4000" baseline="31999" dirty="0">
                <a:latin typeface="+mn-lt"/>
              </a:rPr>
              <a:t>1</a:t>
            </a:r>
            <a:r>
              <a:rPr lang="en-US" sz="4000" dirty="0">
                <a:latin typeface="+mn-lt"/>
              </a:rPr>
              <a:t>, </a:t>
            </a:r>
            <a:r>
              <a:rPr lang="en-US" sz="4000" dirty="0" err="1">
                <a:latin typeface="+mn-lt"/>
                <a:ea typeface="Calibri" charset="0"/>
                <a:cs typeface="Calibri" charset="0"/>
              </a:rPr>
              <a:t>Abusayeed</a:t>
            </a:r>
            <a:r>
              <a:rPr lang="en-US" sz="4000" dirty="0">
                <a:latin typeface="+mn-lt"/>
                <a:ea typeface="Calibri" charset="0"/>
                <a:cs typeface="Calibri" charset="0"/>
              </a:rPr>
              <a:t> Saifullah</a:t>
            </a:r>
            <a:r>
              <a:rPr lang="en-US" sz="4000" baseline="31999" dirty="0">
                <a:latin typeface="+mn-lt"/>
              </a:rPr>
              <a:t>1</a:t>
            </a:r>
            <a:r>
              <a:rPr lang="en-US" sz="4000" dirty="0">
                <a:latin typeface="+mn-lt"/>
              </a:rPr>
              <a:t>, </a:t>
            </a:r>
            <a:r>
              <a:rPr lang="en-US" sz="4000" dirty="0" err="1">
                <a:latin typeface="+mn-lt"/>
              </a:rPr>
              <a:t>Haibo</a:t>
            </a:r>
            <a:r>
              <a:rPr lang="en-US" sz="4000" dirty="0">
                <a:latin typeface="+mn-lt"/>
              </a:rPr>
              <a:t> Zhang</a:t>
            </a:r>
            <a:r>
              <a:rPr lang="en-US" sz="4000" baseline="31999" dirty="0">
                <a:latin typeface="+mn-lt"/>
              </a:rPr>
              <a:t>2</a:t>
            </a:r>
          </a:p>
          <a:p>
            <a:pPr algn="ctr" defTabSz="817244">
              <a:lnSpc>
                <a:spcPct val="120000"/>
              </a:lnSpc>
              <a:defRPr sz="3959"/>
            </a:pPr>
            <a:endParaRPr lang="en-US" baseline="31999" dirty="0"/>
          </a:p>
          <a:p>
            <a:pPr algn="ctr" defTabSz="817244">
              <a:lnSpc>
                <a:spcPct val="120000"/>
              </a:lnSpc>
              <a:defRPr sz="3959"/>
            </a:pPr>
            <a:r>
              <a:rPr lang="en-US" baseline="31999" dirty="0"/>
              <a:t>1 </a:t>
            </a:r>
            <a:r>
              <a:rPr lang="en-US" dirty="0"/>
              <a:t>Wayne State University, USA</a:t>
            </a:r>
          </a:p>
          <a:p>
            <a:pPr algn="ctr" defTabSz="817244">
              <a:lnSpc>
                <a:spcPct val="120000"/>
              </a:lnSpc>
              <a:defRPr sz="3959"/>
            </a:pPr>
            <a:r>
              <a:rPr lang="en-US" baseline="31999" dirty="0"/>
              <a:t>2 </a:t>
            </a:r>
            <a:r>
              <a:rPr lang="en-US" dirty="0"/>
              <a:t>University of Otago, New Zealand</a:t>
            </a:r>
          </a:p>
          <a:p>
            <a:pPr algn="ctr" defTabSz="817244">
              <a:lnSpc>
                <a:spcPct val="120000"/>
              </a:lnSpc>
              <a:defRPr sz="3959"/>
            </a:pPr>
            <a:endParaRPr lang="en-US" dirty="0"/>
          </a:p>
          <a:p>
            <a:pPr algn="ctr" defTabSz="817244">
              <a:lnSpc>
                <a:spcPct val="120000"/>
              </a:lnSpc>
              <a:defRPr sz="3959"/>
            </a:pPr>
            <a:r>
              <a:rPr lang="en-US" dirty="0"/>
              <a:t>IEEE RTSS 2024, York, United Kingdom</a:t>
            </a:r>
          </a:p>
          <a:p>
            <a:pPr algn="l"/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6CE37B2-35F6-38CA-BD5B-4BF70BD35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341" y="1869363"/>
            <a:ext cx="7623318" cy="1720213"/>
          </a:xfrm>
        </p:spPr>
        <p:txBody>
          <a:bodyPr/>
          <a:lstStyle/>
          <a:p>
            <a:pPr algn="ctr"/>
            <a:r>
              <a:rPr lang="en-US" dirty="0"/>
              <a:t>Burst-MAC: A MAC Protocol for Handling Burst Traffic in LoRa Network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18982A-6A22-592C-5C43-6920DF26C493}"/>
              </a:ext>
            </a:extLst>
          </p:cNvPr>
          <p:cNvSpPr/>
          <p:nvPr/>
        </p:nvSpPr>
        <p:spPr>
          <a:xfrm>
            <a:off x="210207" y="189186"/>
            <a:ext cx="6747641" cy="118766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543FB7-493B-B04F-8BA3-CC148CC4F8BB}"/>
              </a:ext>
            </a:extLst>
          </p:cNvPr>
          <p:cNvGrpSpPr/>
          <p:nvPr/>
        </p:nvGrpSpPr>
        <p:grpSpPr>
          <a:xfrm>
            <a:off x="567094" y="105102"/>
            <a:ext cx="4309240" cy="1355834"/>
            <a:chOff x="567094" y="105102"/>
            <a:chExt cx="4309240" cy="135583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5EC464C-11FD-E037-5841-424EFAF34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094" y="341887"/>
              <a:ext cx="1240685" cy="882265"/>
            </a:xfrm>
            <a:prstGeom prst="rect">
              <a:avLst/>
            </a:prstGeom>
          </p:spPr>
        </p:pic>
        <p:pic>
          <p:nvPicPr>
            <p:cNvPr id="30" name="Picture 29" descr="A logo of university of otago&#10;&#10;Description automatically generated">
              <a:extLst>
                <a:ext uri="{FF2B5EF4-FFF2-40B4-BE49-F238E27FC236}">
                  <a16:creationId xmlns:a16="http://schemas.microsoft.com/office/drawing/2014/main" id="{36E0E4C6-E1FB-A934-3D73-68ED33CF0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4666" y="105102"/>
              <a:ext cx="2711668" cy="1355834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45BEB3-956C-88D1-9944-D9AD5FFF31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191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Low Power Wide Area Network has enabled various IoT applications."/>
          <p:cNvSpPr txBox="1">
            <a:spLocks noGrp="1"/>
          </p:cNvSpPr>
          <p:nvPr>
            <p:ph type="body" idx="1"/>
          </p:nvPr>
        </p:nvSpPr>
        <p:spPr>
          <a:xfrm>
            <a:off x="532435" y="1471808"/>
            <a:ext cx="11410862" cy="41280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/>
              <a:t>Low Power Wide Area Network</a:t>
            </a:r>
            <a:r>
              <a:rPr lang="en-US" dirty="0"/>
              <a:t> (LPWAN)</a:t>
            </a:r>
            <a:r>
              <a:rPr dirty="0"/>
              <a:t> has enabled various IoT applications.</a:t>
            </a:r>
          </a:p>
        </p:txBody>
      </p:sp>
      <p:sp>
        <p:nvSpPr>
          <p:cNvPr id="104" name="Low Power Wide Area Network"/>
          <p:cNvSpPr txBox="1">
            <a:spLocks noGrp="1"/>
          </p:cNvSpPr>
          <p:nvPr>
            <p:ph type="body" sz="quarter" idx="22"/>
          </p:nvPr>
        </p:nvSpPr>
        <p:spPr>
          <a:xfrm>
            <a:off x="2659161" y="568677"/>
            <a:ext cx="6873678" cy="656590"/>
          </a:xfrm>
          <a:prstGeom prst="rect">
            <a:avLst/>
          </a:prstGeom>
        </p:spPr>
        <p:txBody>
          <a:bodyPr/>
          <a:lstStyle/>
          <a:p>
            <a:r>
              <a:rPr dirty="0"/>
              <a:t>Low Power Wide Area Network</a:t>
            </a:r>
          </a:p>
        </p:txBody>
      </p:sp>
      <p:grpSp>
        <p:nvGrpSpPr>
          <p:cNvPr id="107" name="Group"/>
          <p:cNvGrpSpPr/>
          <p:nvPr/>
        </p:nvGrpSpPr>
        <p:grpSpPr>
          <a:xfrm>
            <a:off x="3574961" y="2134684"/>
            <a:ext cx="3072505" cy="1894286"/>
            <a:chOff x="0" y="0"/>
            <a:chExt cx="5051426" cy="3788570"/>
          </a:xfrm>
        </p:grpSpPr>
        <p:pic>
          <p:nvPicPr>
            <p:cNvPr id="105" name="已粘贴的影片.png" descr="已粘贴的影片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051426" cy="37885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6" name="Smart Agriculture"/>
            <p:cNvSpPr txBox="1"/>
            <p:nvPr/>
          </p:nvSpPr>
          <p:spPr>
            <a:xfrm>
              <a:off x="1480716" y="13268"/>
              <a:ext cx="3570710" cy="595034"/>
            </a:xfrm>
            <a:prstGeom prst="rect">
              <a:avLst/>
            </a:prstGeom>
            <a:solidFill>
              <a:schemeClr val="accent5">
                <a:lumOff val="-2986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 dirty="0"/>
                <a:t>Agriculture</a:t>
              </a:r>
              <a:r>
                <a:rPr lang="en-US" sz="1600" dirty="0"/>
                <a:t> Monitoring</a:t>
              </a:r>
              <a:endParaRPr sz="1600" dirty="0"/>
            </a:p>
          </p:txBody>
        </p:sp>
      </p:grpSp>
      <p:grpSp>
        <p:nvGrpSpPr>
          <p:cNvPr id="110" name="Group"/>
          <p:cNvGrpSpPr/>
          <p:nvPr/>
        </p:nvGrpSpPr>
        <p:grpSpPr>
          <a:xfrm>
            <a:off x="666304" y="3956311"/>
            <a:ext cx="2931632" cy="1645667"/>
            <a:chOff x="-1344" y="0"/>
            <a:chExt cx="5863262" cy="3291333"/>
          </a:xfrm>
        </p:grpSpPr>
        <p:pic>
          <p:nvPicPr>
            <p:cNvPr id="108" name="已粘贴的影片.png" descr="已粘贴的影片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0" y="0"/>
              <a:ext cx="5861918" cy="3282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9" name="Smart City"/>
            <p:cNvSpPr txBox="1"/>
            <p:nvPr/>
          </p:nvSpPr>
          <p:spPr>
            <a:xfrm>
              <a:off x="-1344" y="2696299"/>
              <a:ext cx="2093521" cy="595034"/>
            </a:xfrm>
            <a:prstGeom prst="rect">
              <a:avLst/>
            </a:prstGeom>
            <a:solidFill>
              <a:schemeClr val="accent5">
                <a:lumOff val="-2986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Smart City</a:t>
              </a:r>
            </a:p>
          </p:txBody>
        </p:sp>
      </p:grpSp>
      <p:grpSp>
        <p:nvGrpSpPr>
          <p:cNvPr id="116" name="Group"/>
          <p:cNvGrpSpPr/>
          <p:nvPr/>
        </p:nvGrpSpPr>
        <p:grpSpPr>
          <a:xfrm>
            <a:off x="3574962" y="3956311"/>
            <a:ext cx="3081608" cy="1645667"/>
            <a:chOff x="0" y="0"/>
            <a:chExt cx="6163214" cy="3291333"/>
          </a:xfrm>
        </p:grpSpPr>
        <p:pic>
          <p:nvPicPr>
            <p:cNvPr id="114" name="已粘贴的影片.png" descr="已粘贴的影片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6145006" cy="32826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" name="Smart Metering"/>
            <p:cNvSpPr txBox="1"/>
            <p:nvPr/>
          </p:nvSpPr>
          <p:spPr>
            <a:xfrm>
              <a:off x="3133539" y="2696299"/>
              <a:ext cx="3029675" cy="595034"/>
            </a:xfrm>
            <a:prstGeom prst="rect">
              <a:avLst/>
            </a:prstGeom>
            <a:solidFill>
              <a:schemeClr val="accent5">
                <a:lumOff val="-29866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rPr sz="1600"/>
                <a:t>Smart Metering</a:t>
              </a:r>
            </a:p>
          </p:txBody>
        </p:sp>
      </p:grpSp>
      <p:grpSp>
        <p:nvGrpSpPr>
          <p:cNvPr id="120" name="Group"/>
          <p:cNvGrpSpPr/>
          <p:nvPr/>
        </p:nvGrpSpPr>
        <p:grpSpPr>
          <a:xfrm>
            <a:off x="7782414" y="2164528"/>
            <a:ext cx="3043309" cy="3075581"/>
            <a:chOff x="0" y="0"/>
            <a:chExt cx="6086614" cy="6151159"/>
          </a:xfrm>
        </p:grpSpPr>
        <p:pic>
          <p:nvPicPr>
            <p:cNvPr id="117" name="已粘贴的影片.png" descr="已粘贴的影片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0" y="0"/>
              <a:ext cx="2615277" cy="14606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Wide coverage…"/>
            <p:cNvSpPr txBox="1"/>
            <p:nvPr/>
          </p:nvSpPr>
          <p:spPr>
            <a:xfrm>
              <a:off x="884415" y="1793009"/>
              <a:ext cx="4627279" cy="4358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t">
              <a:normAutofit/>
            </a:bodyPr>
            <a:lstStyle/>
            <a:p>
              <a:pPr marL="304800" indent="-304800" algn="l">
                <a:spcBef>
                  <a:spcPts val="2250"/>
                </a:spcBef>
                <a:buSzPct val="123000"/>
                <a:buChar char="✦"/>
                <a:defRPr sz="4000">
                  <a:solidFill>
                    <a:srgbClr val="000000">
                      <a:alpha val="84705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/>
                <a:t>Wide coverage</a:t>
              </a:r>
            </a:p>
            <a:p>
              <a:pPr marL="304800" indent="-304800" algn="l">
                <a:spcBef>
                  <a:spcPts val="2250"/>
                </a:spcBef>
                <a:buSzPct val="123000"/>
                <a:buChar char="✦"/>
                <a:defRPr sz="4000">
                  <a:solidFill>
                    <a:srgbClr val="000000">
                      <a:alpha val="84705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/>
                <a:t>High capacity</a:t>
              </a:r>
            </a:p>
            <a:p>
              <a:pPr marL="304800" indent="-304800" algn="l">
                <a:spcBef>
                  <a:spcPts val="2250"/>
                </a:spcBef>
                <a:buSzPct val="123000"/>
                <a:buChar char="✦"/>
                <a:defRPr sz="4000">
                  <a:solidFill>
                    <a:srgbClr val="000000">
                      <a:alpha val="84705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/>
                <a:t>Long battery life</a:t>
              </a:r>
              <a:endParaRPr lang="en-US" sz="2000" dirty="0"/>
            </a:p>
            <a:p>
              <a:pPr marL="304800" indent="-304800" algn="l">
                <a:spcBef>
                  <a:spcPts val="2250"/>
                </a:spcBef>
                <a:buSzPct val="123000"/>
                <a:buChar char="✦"/>
                <a:defRPr sz="4000">
                  <a:solidFill>
                    <a:srgbClr val="000000">
                      <a:alpha val="84705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2000" dirty="0"/>
                <a:t>Low Cost </a:t>
              </a:r>
              <a:endParaRPr sz="2000" dirty="0"/>
            </a:p>
          </p:txBody>
        </p:sp>
        <p:sp>
          <p:nvSpPr>
            <p:cNvPr id="119" name="(Long Range)"/>
            <p:cNvSpPr txBox="1"/>
            <p:nvPr/>
          </p:nvSpPr>
          <p:spPr>
            <a:xfrm>
              <a:off x="2790842" y="371178"/>
              <a:ext cx="3295772" cy="7181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/>
            <a:p>
              <a:pPr>
                <a:defRPr sz="40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/>
                <a:t>(</a:t>
              </a:r>
              <a:r>
                <a:rPr sz="2000" b="1" u="sng" dirty="0">
                  <a:solidFill>
                    <a:schemeClr val="accent5">
                      <a:lumOff val="-29866"/>
                    </a:schemeClr>
                  </a:solidFill>
                </a:rPr>
                <a:t>Lo</a:t>
              </a:r>
              <a:r>
                <a:rPr sz="2000" dirty="0"/>
                <a:t>ng </a:t>
              </a:r>
              <a:r>
                <a:rPr sz="2000" b="1" u="sng" dirty="0">
                  <a:solidFill>
                    <a:schemeClr val="accent5">
                      <a:lumOff val="-29866"/>
                    </a:schemeClr>
                  </a:solidFill>
                </a:rPr>
                <a:t>Ra</a:t>
              </a:r>
              <a:r>
                <a:rPr sz="2000" dirty="0"/>
                <a:t>nge)</a:t>
              </a:r>
            </a:p>
          </p:txBody>
        </p:sp>
      </p:grpSp>
      <p:pic>
        <p:nvPicPr>
          <p:cNvPr id="3" name="Picture 2" descr="A fire in the forest&#10;&#10;Description automatically generated">
            <a:extLst>
              <a:ext uri="{FF2B5EF4-FFF2-40B4-BE49-F238E27FC236}">
                <a16:creationId xmlns:a16="http://schemas.microsoft.com/office/drawing/2014/main" id="{83575219-3096-3591-2D37-E061CF6C0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682" y="2136188"/>
            <a:ext cx="2895279" cy="1830838"/>
          </a:xfrm>
          <a:prstGeom prst="rect">
            <a:avLst/>
          </a:prstGeom>
        </p:spPr>
      </p:pic>
      <p:sp>
        <p:nvSpPr>
          <p:cNvPr id="112" name="Smart Logistic"/>
          <p:cNvSpPr txBox="1">
            <a:spLocks/>
          </p:cNvSpPr>
          <p:nvPr/>
        </p:nvSpPr>
        <p:spPr>
          <a:xfrm>
            <a:off x="669906" y="2132204"/>
            <a:ext cx="2322752" cy="297517"/>
          </a:xfrm>
          <a:prstGeom prst="rect">
            <a:avLst/>
          </a:prstGeom>
          <a:solidFill>
            <a:schemeClr val="accent5">
              <a:lumOff val="-29866"/>
            </a:schemeClr>
          </a:solidFill>
          <a:ln w="12700" cap="flat">
            <a:noFill/>
            <a:miter lim="400000"/>
          </a:ln>
          <a:effectLst>
            <a:glow>
              <a:schemeClr val="bg1"/>
            </a:glo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numCol="1" anchor="ctr">
            <a:spAutoFit/>
          </a:bodyPr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sz="1600" dirty="0"/>
              <a:t>Environment Monitoring</a:t>
            </a:r>
            <a:endParaRPr sz="1600" dirty="0"/>
          </a:p>
        </p:txBody>
      </p:sp>
      <p:grpSp>
        <p:nvGrpSpPr>
          <p:cNvPr id="124" name="Group"/>
          <p:cNvGrpSpPr/>
          <p:nvPr/>
        </p:nvGrpSpPr>
        <p:grpSpPr>
          <a:xfrm>
            <a:off x="231228" y="5871420"/>
            <a:ext cx="11357522" cy="980231"/>
            <a:chOff x="-441384" y="230938"/>
            <a:chExt cx="22412384" cy="1979083"/>
          </a:xfrm>
        </p:grpSpPr>
        <p:sp>
          <p:nvSpPr>
            <p:cNvPr id="121" name="5.9 million gateways and 300 million end nodes with LoRa deployed worldwide (Mar 2023)"/>
            <p:cNvSpPr txBox="1"/>
            <p:nvPr/>
          </p:nvSpPr>
          <p:spPr>
            <a:xfrm>
              <a:off x="-302610" y="230938"/>
              <a:ext cx="22273610" cy="12012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2860" tIns="22860" rIns="22860" bIns="22860" numCol="1" anchor="t">
              <a:normAutofit fontScale="47500" lnSpcReduction="20000"/>
            </a:bodyPr>
            <a:lstStyle/>
            <a:p>
              <a:pPr defTabSz="354965">
                <a:defRPr sz="4128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b="1" dirty="0"/>
                <a:t>5.9 million gateways</a:t>
              </a:r>
              <a:r>
                <a:rPr dirty="0"/>
                <a:t> and </a:t>
              </a:r>
              <a:r>
                <a:rPr b="1" dirty="0"/>
                <a:t>300 million end nodes</a:t>
              </a:r>
              <a:r>
                <a:rPr dirty="0"/>
                <a:t> with LoRa deployed worldwide</a:t>
              </a:r>
              <a:r>
                <a:rPr lang="en-US" dirty="0"/>
                <a:t>,</a:t>
              </a:r>
              <a:r>
                <a:rPr dirty="0"/>
                <a:t> </a:t>
              </a:r>
              <a:endParaRPr lang="en-US" dirty="0"/>
            </a:p>
            <a:p>
              <a:pPr defTabSz="354965">
                <a:defRPr sz="4128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dirty="0"/>
                <a:t>over </a:t>
              </a:r>
              <a:r>
                <a:rPr lang="en-US" b="1" dirty="0"/>
                <a:t>600</a:t>
              </a:r>
              <a:r>
                <a:rPr lang="en-US" dirty="0"/>
                <a:t> documented </a:t>
              </a:r>
              <a:r>
                <a:rPr lang="en-US" b="1" dirty="0"/>
                <a:t>use cases </a:t>
              </a:r>
              <a:r>
                <a:rPr lang="en-US" dirty="0"/>
                <a:t>(May 2024).</a:t>
              </a:r>
            </a:p>
            <a:p>
              <a:pPr defTabSz="354965">
                <a:defRPr sz="4128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2100" dirty="0"/>
            </a:p>
          </p:txBody>
        </p:sp>
        <p:sp>
          <p:nvSpPr>
            <p:cNvPr id="122" name="https://www.semtech.com/lora"/>
            <p:cNvSpPr txBox="1"/>
            <p:nvPr/>
          </p:nvSpPr>
          <p:spPr>
            <a:xfrm>
              <a:off x="2351048" y="1719475"/>
              <a:ext cx="3892092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 u="sng">
                  <a:solidFill>
                    <a:srgbClr val="0000F5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1200"/>
                <a:t>https://www.semtech.com/lora</a:t>
              </a:r>
            </a:p>
          </p:txBody>
        </p:sp>
        <p:sp>
          <p:nvSpPr>
            <p:cNvPr id="123" name="Credits to LoRa Alliance"/>
            <p:cNvSpPr txBox="1"/>
            <p:nvPr/>
          </p:nvSpPr>
          <p:spPr>
            <a:xfrm>
              <a:off x="-441384" y="1784263"/>
              <a:ext cx="2792432" cy="425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1050" dirty="0"/>
                <a:t>Credits to LoRa Alliance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03DB9-DAB9-2602-E165-13542A0DAFC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 advAuto="0"/>
      <p:bldP spid="107" grpId="0" animBg="1" advAuto="0"/>
      <p:bldP spid="110" grpId="0" animBg="1" advAuto="0"/>
      <p:bldP spid="116" grpId="0" animBg="1" advAuto="0"/>
      <p:bldP spid="120" grpId="0" animBg="1" advAuto="0"/>
      <p:bldP spid="112" grpId="0" animBg="1"/>
      <p:bldP spid="124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71E9E-FA50-7CF5-CFFD-B1E00E705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25" y="1962338"/>
            <a:ext cx="4793923" cy="4509722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highlight>
                  <a:srgbClr val="FFFFFF"/>
                </a:highlight>
                <a:latin typeface="+mn-ea"/>
                <a:ea typeface="+mn-ea"/>
              </a:rPr>
              <a:t>End Devices (nodes), Gateway, Network Server.</a:t>
            </a:r>
          </a:p>
          <a:p>
            <a:pPr algn="just">
              <a:spcBef>
                <a:spcPts val="800"/>
              </a:spcBef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+mn-ea"/>
              </a:rPr>
              <a:t>Communication Path/ Channel:</a:t>
            </a:r>
          </a:p>
          <a:p>
            <a:pPr lvl="2" algn="just">
              <a:spcBef>
                <a:spcPts val="800"/>
              </a:spcBef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ea"/>
                <a:cs typeface="Calibri" charset="0"/>
              </a:rPr>
              <a:t>Nodes transmit packets to gateway via </a:t>
            </a:r>
            <a:r>
              <a:rPr lang="en-US" sz="1800" i="1" dirty="0">
                <a:solidFill>
                  <a:schemeClr val="bg2">
                    <a:lumMod val="10000"/>
                  </a:schemeClr>
                </a:solidFill>
                <a:latin typeface="+mn-ea"/>
                <a:cs typeface="Calibri" charset="0"/>
              </a:rPr>
              <a:t>Uplink channel.</a:t>
            </a:r>
            <a:endParaRPr lang="en-US" sz="1800" b="1" dirty="0">
              <a:solidFill>
                <a:schemeClr val="bg2">
                  <a:lumMod val="10000"/>
                </a:schemeClr>
              </a:solidFill>
              <a:latin typeface="+mn-ea"/>
              <a:cs typeface="Calibri" charset="0"/>
            </a:endParaRPr>
          </a:p>
          <a:p>
            <a:pPr lvl="2" algn="just">
              <a:spcBef>
                <a:spcPts val="800"/>
              </a:spcBef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ea"/>
                <a:cs typeface="Calibri" charset="0"/>
              </a:rPr>
              <a:t>Gateway communicates with nodes via </a:t>
            </a:r>
            <a:r>
              <a:rPr lang="en-US" sz="1800" i="1" dirty="0">
                <a:solidFill>
                  <a:schemeClr val="bg2">
                    <a:lumMod val="10000"/>
                  </a:schemeClr>
                </a:solidFill>
                <a:latin typeface="+mn-ea"/>
                <a:cs typeface="Calibri" charset="0"/>
              </a:rPr>
              <a:t>Downlink channel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ea"/>
                <a:cs typeface="Calibri" charset="0"/>
              </a:rPr>
              <a:t>.</a:t>
            </a:r>
            <a:endParaRPr lang="en-US" sz="2200" dirty="0">
              <a:solidFill>
                <a:schemeClr val="bg2">
                  <a:lumMod val="10000"/>
                </a:schemeClr>
              </a:solidFill>
              <a:highlight>
                <a:srgbClr val="FFFFFF"/>
              </a:highlight>
              <a:latin typeface="+mn-ea"/>
            </a:endParaRPr>
          </a:p>
          <a:p>
            <a:pPr>
              <a:spcBef>
                <a:spcPts val="800"/>
              </a:spcBef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+mn-ea"/>
              </a:rPr>
              <a:t>Chirp Spread Spectrum (CSS) technology.</a:t>
            </a:r>
          </a:p>
          <a:p>
            <a:pPr>
              <a:spcBef>
                <a:spcPts val="800"/>
              </a:spcBef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+mn-ea"/>
              </a:rPr>
              <a:t>Spreading Factor (SF): implies the no. of raw bits encoded in a symbol. (SF 7-12)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061E7-0175-EB01-E2A6-617119277A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77582" y="466035"/>
            <a:ext cx="3436839" cy="65659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LoRa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7BFB3B-78F4-4AC1-185C-51F7C4BB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7715" y="1594548"/>
            <a:ext cx="4905666" cy="44476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BFDDF5-AC86-168A-D476-146E303F90D6}"/>
              </a:ext>
            </a:extLst>
          </p:cNvPr>
          <p:cNvSpPr txBox="1"/>
          <p:nvPr/>
        </p:nvSpPr>
        <p:spPr>
          <a:xfrm>
            <a:off x="1238137" y="5980636"/>
            <a:ext cx="292227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Fig: LoRa network architecture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sym typeface="Helvetica Neue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DAEFB-19FB-634F-46A0-65AF2EDA2E5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239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asted-movie.gif"/>
          <p:cNvPicPr>
            <a:picLocks noChangeAspect="1"/>
          </p:cNvPicPr>
          <p:nvPr/>
        </p:nvPicPr>
        <p:blipFill rotWithShape="1">
          <a:blip r:embed="rId3"/>
          <a:srcRect l="5641" t="8060" r="27221" b="14750"/>
          <a:stretch/>
        </p:blipFill>
        <p:spPr>
          <a:xfrm flipH="1">
            <a:off x="1975466" y="1770598"/>
            <a:ext cx="8192704" cy="4665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图形 16" descr="图形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94856" y="1876034"/>
            <a:ext cx="772773" cy="7727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AA82E1-D3B6-38AB-0A6C-A778C649E5D7}"/>
              </a:ext>
            </a:extLst>
          </p:cNvPr>
          <p:cNvSpPr txBox="1"/>
          <p:nvPr/>
        </p:nvSpPr>
        <p:spPr>
          <a:xfrm>
            <a:off x="4314685" y="6410642"/>
            <a:ext cx="3659656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Fig: Forest fire monitoring in California forest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A96D4-FCA0-D6DE-ED6E-22EAE0BDBC62}"/>
              </a:ext>
            </a:extLst>
          </p:cNvPr>
          <p:cNvSpPr txBox="1"/>
          <p:nvPr/>
        </p:nvSpPr>
        <p:spPr>
          <a:xfrm>
            <a:off x="501011" y="6643880"/>
            <a:ext cx="1245533" cy="2257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  <a:hlinkClick r:id="rId5"/>
              </a:rPr>
              <a:t> state foresters California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F0E456FD-428B-0713-47FA-CB82EACD5974}"/>
              </a:ext>
            </a:extLst>
          </p:cNvPr>
          <p:cNvGrpSpPr/>
          <p:nvPr/>
        </p:nvGrpSpPr>
        <p:grpSpPr>
          <a:xfrm>
            <a:off x="4171662" y="2227549"/>
            <a:ext cx="5146812" cy="2987838"/>
            <a:chOff x="1695390" y="-163282"/>
            <a:chExt cx="10293623" cy="5975671"/>
          </a:xfrm>
        </p:grpSpPr>
        <p:sp>
          <p:nvSpPr>
            <p:cNvPr id="9" name="Line">
              <a:extLst>
                <a:ext uri="{FF2B5EF4-FFF2-40B4-BE49-F238E27FC236}">
                  <a16:creationId xmlns:a16="http://schemas.microsoft.com/office/drawing/2014/main" id="{6522F4A5-7585-487D-44C1-15E24B6D31A5}"/>
                </a:ext>
              </a:extLst>
            </p:cNvPr>
            <p:cNvSpPr/>
            <p:nvPr/>
          </p:nvSpPr>
          <p:spPr>
            <a:xfrm flipV="1">
              <a:off x="1695390" y="-163282"/>
              <a:ext cx="9935003" cy="5329953"/>
            </a:xfrm>
            <a:prstGeom prst="line">
              <a:avLst/>
            </a:prstGeom>
            <a:noFill/>
            <a:ln w="101600" cap="flat">
              <a:solidFill>
                <a:srgbClr val="B4293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43" name="Line">
              <a:extLst>
                <a:ext uri="{FF2B5EF4-FFF2-40B4-BE49-F238E27FC236}">
                  <a16:creationId xmlns:a16="http://schemas.microsoft.com/office/drawing/2014/main" id="{B77C0252-9FB9-A972-E1D1-2F7B5BCCC45E}"/>
                </a:ext>
              </a:extLst>
            </p:cNvPr>
            <p:cNvSpPr/>
            <p:nvPr/>
          </p:nvSpPr>
          <p:spPr>
            <a:xfrm flipV="1">
              <a:off x="8561661" y="772771"/>
              <a:ext cx="3068732" cy="3433683"/>
            </a:xfrm>
            <a:prstGeom prst="line">
              <a:avLst/>
            </a:prstGeom>
            <a:noFill/>
            <a:ln w="101600" cap="flat">
              <a:solidFill>
                <a:srgbClr val="B4293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 dirty="0"/>
            </a:p>
          </p:txBody>
        </p:sp>
        <p:sp>
          <p:nvSpPr>
            <p:cNvPr id="44" name="Line">
              <a:extLst>
                <a:ext uri="{FF2B5EF4-FFF2-40B4-BE49-F238E27FC236}">
                  <a16:creationId xmlns:a16="http://schemas.microsoft.com/office/drawing/2014/main" id="{D8361C8F-93B3-D2E4-572F-1925E9F3F443}"/>
                </a:ext>
              </a:extLst>
            </p:cNvPr>
            <p:cNvSpPr/>
            <p:nvPr/>
          </p:nvSpPr>
          <p:spPr>
            <a:xfrm flipV="1">
              <a:off x="11973773" y="772773"/>
              <a:ext cx="15240" cy="5039616"/>
            </a:xfrm>
            <a:prstGeom prst="line">
              <a:avLst/>
            </a:prstGeom>
            <a:noFill/>
            <a:ln w="101600" cap="flat">
              <a:solidFill>
                <a:srgbClr val="B4293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</p:grpSp>
      <p:pic>
        <p:nvPicPr>
          <p:cNvPr id="46" name="Image" descr="Image">
            <a:extLst>
              <a:ext uri="{FF2B5EF4-FFF2-40B4-BE49-F238E27FC236}">
                <a16:creationId xmlns:a16="http://schemas.microsoft.com/office/drawing/2014/main" id="{3015747F-4D3D-2CB9-E98B-C4145BE3E2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561" r="96004" b="67751"/>
          <a:stretch>
            <a:fillRect/>
          </a:stretch>
        </p:blipFill>
        <p:spPr>
          <a:xfrm>
            <a:off x="3992351" y="4881180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Image" descr="Image">
            <a:extLst>
              <a:ext uri="{FF2B5EF4-FFF2-40B4-BE49-F238E27FC236}">
                <a16:creationId xmlns:a16="http://schemas.microsoft.com/office/drawing/2014/main" id="{26CB0A3B-74F2-A9D6-637D-46E54742D1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561" r="96004" b="67751"/>
          <a:stretch>
            <a:fillRect/>
          </a:stretch>
        </p:blipFill>
        <p:spPr>
          <a:xfrm>
            <a:off x="7335539" y="4393905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Image" descr="Image">
            <a:extLst>
              <a:ext uri="{FF2B5EF4-FFF2-40B4-BE49-F238E27FC236}">
                <a16:creationId xmlns:a16="http://schemas.microsoft.com/office/drawing/2014/main" id="{15E3657F-8821-AF7C-89B3-6D06B5C604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561" r="96004" b="67751"/>
          <a:stretch>
            <a:fillRect/>
          </a:stretch>
        </p:blipFill>
        <p:spPr>
          <a:xfrm>
            <a:off x="9159144" y="5247510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形 26" descr="图形 26">
            <a:extLst>
              <a:ext uri="{FF2B5EF4-FFF2-40B4-BE49-F238E27FC236}">
                <a16:creationId xmlns:a16="http://schemas.microsoft.com/office/drawing/2014/main" id="{7B80E1CB-32B5-D602-9C1C-1BA53B915D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972" t="22490" r="11579" b="24878"/>
          <a:stretch/>
        </p:blipFill>
        <p:spPr>
          <a:xfrm>
            <a:off x="3969496" y="4496898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51" name="图形 26" descr="图形 26">
            <a:extLst>
              <a:ext uri="{FF2B5EF4-FFF2-40B4-BE49-F238E27FC236}">
                <a16:creationId xmlns:a16="http://schemas.microsoft.com/office/drawing/2014/main" id="{C859F9D1-D29B-DCB5-65FF-33CD7821FCA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972" t="22490" r="11579" b="24878"/>
          <a:stretch/>
        </p:blipFill>
        <p:spPr>
          <a:xfrm>
            <a:off x="7627630" y="4496898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53" name="图形 26" descr="图形 26">
            <a:extLst>
              <a:ext uri="{FF2B5EF4-FFF2-40B4-BE49-F238E27FC236}">
                <a16:creationId xmlns:a16="http://schemas.microsoft.com/office/drawing/2014/main" id="{B30D9FBA-5860-07E1-CC79-A061981284A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972" t="22490" r="11579" b="24878"/>
          <a:stretch/>
        </p:blipFill>
        <p:spPr>
          <a:xfrm>
            <a:off x="8866341" y="497606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A810B585-4FC3-2BA1-5364-059CE427B184}"/>
              </a:ext>
            </a:extLst>
          </p:cNvPr>
          <p:cNvSpPr txBox="1"/>
          <p:nvPr/>
        </p:nvSpPr>
        <p:spPr>
          <a:xfrm>
            <a:off x="136544" y="6643879"/>
            <a:ext cx="488916" cy="2257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Credits: </a:t>
            </a: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5D4F03D4-E7AA-AE07-1983-667C4F53A2F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4</a:t>
            </a:fld>
            <a:endParaRPr lang="en-US"/>
          </a:p>
        </p:txBody>
      </p:sp>
      <p:sp>
        <p:nvSpPr>
          <p:cNvPr id="56" name="LoRa provides diverse and flexible logical channels for">
            <a:extLst>
              <a:ext uri="{FF2B5EF4-FFF2-40B4-BE49-F238E27FC236}">
                <a16:creationId xmlns:a16="http://schemas.microsoft.com/office/drawing/2014/main" id="{551631BA-CC83-BD19-B630-7C416876CA75}"/>
              </a:ext>
            </a:extLst>
          </p:cNvPr>
          <p:cNvSpPr txBox="1">
            <a:spLocks/>
          </p:cNvSpPr>
          <p:nvPr/>
        </p:nvSpPr>
        <p:spPr>
          <a:xfrm>
            <a:off x="1502993" y="1272947"/>
            <a:ext cx="11220450" cy="1318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65760" marR="0" indent="-36576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✦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LoRa is typically designed to handle very infrequent communications. </a:t>
            </a:r>
          </a:p>
          <a:p>
            <a:pPr marL="0" indent="0" algn="ctr" defTabSz="2438338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endParaRPr lang="en-US" sz="2200" dirty="0">
              <a:solidFill>
                <a:schemeClr val="bg2">
                  <a:lumMod val="10000"/>
                </a:schemeClr>
              </a:solidFill>
              <a:sym typeface="Helvetica Neue"/>
            </a:endParaRPr>
          </a:p>
          <a:p>
            <a:pPr>
              <a:spcBef>
                <a:spcPts val="800"/>
              </a:spcBef>
            </a:pPr>
            <a:endParaRPr lang="en-US" sz="2200" dirty="0"/>
          </a:p>
        </p:txBody>
      </p:sp>
      <p:sp>
        <p:nvSpPr>
          <p:cNvPr id="61" name="Logical Channel">
            <a:extLst>
              <a:ext uri="{FF2B5EF4-FFF2-40B4-BE49-F238E27FC236}">
                <a16:creationId xmlns:a16="http://schemas.microsoft.com/office/drawing/2014/main" id="{AD0B7A00-9832-36EA-FC99-599AAA60464F}"/>
              </a:ext>
            </a:extLst>
          </p:cNvPr>
          <p:cNvSpPr txBox="1">
            <a:spLocks/>
          </p:cNvSpPr>
          <p:nvPr/>
        </p:nvSpPr>
        <p:spPr>
          <a:xfrm>
            <a:off x="4507992" y="464543"/>
            <a:ext cx="3436839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0" marR="0" indent="0" algn="ctr" defTabSz="1219169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rgbClr val="FFFFFF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LoRa Overview</a:t>
            </a:r>
          </a:p>
        </p:txBody>
      </p:sp>
    </p:spTree>
    <p:extLst>
      <p:ext uri="{BB962C8B-B14F-4D97-AF65-F5344CB8AC3E}">
        <p14:creationId xmlns:p14="http://schemas.microsoft.com/office/powerpoint/2010/main" val="281080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How to support massive IoT communications?"/>
          <p:cNvSpPr txBox="1">
            <a:spLocks noGrp="1"/>
          </p:cNvSpPr>
          <p:nvPr>
            <p:ph type="body" sz="quarter" idx="22"/>
          </p:nvPr>
        </p:nvSpPr>
        <p:spPr>
          <a:xfrm>
            <a:off x="3700659" y="475097"/>
            <a:ext cx="4898777" cy="65659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What is Burst Traffic?</a:t>
            </a:r>
          </a:p>
        </p:txBody>
      </p:sp>
      <p:pic>
        <p:nvPicPr>
          <p:cNvPr id="130" name="pasted-movie.gif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7672" y="2110960"/>
            <a:ext cx="7527530" cy="4140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图形 16" descr="图形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82732" y="2223609"/>
            <a:ext cx="772773" cy="7727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</p:pic>
      <p:pic>
        <p:nvPicPr>
          <p:cNvPr id="137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3520004" y="5191438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1868485" y="5275532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3134246" y="4002473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4668401" y="4153097"/>
            <a:ext cx="269260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4347151" y="4927861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6602013" y="3327085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934035" y="4660665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5263358" y="5015019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7622141" y="4023728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2403201" y="4554867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图形 26" descr="图形 26">
            <a:extLst>
              <a:ext uri="{FF2B5EF4-FFF2-40B4-BE49-F238E27FC236}">
                <a16:creationId xmlns:a16="http://schemas.microsoft.com/office/drawing/2014/main" id="{5ACDE50A-1058-8A70-7EE4-4BC960D6AFF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1532103" y="5093372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0" name="图形 26" descr="图形 26">
            <a:extLst>
              <a:ext uri="{FF2B5EF4-FFF2-40B4-BE49-F238E27FC236}">
                <a16:creationId xmlns:a16="http://schemas.microsoft.com/office/drawing/2014/main" id="{B0D65D01-2C0C-2F60-516B-56F5FB9AA0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4661561" y="5429412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1" name="图形 26" descr="图形 26">
            <a:extLst>
              <a:ext uri="{FF2B5EF4-FFF2-40B4-BE49-F238E27FC236}">
                <a16:creationId xmlns:a16="http://schemas.microsoft.com/office/drawing/2014/main" id="{E0A7398D-341E-B281-F345-E413BF9FE70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3078414" y="5386572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2" name="图形 26" descr="图形 26">
            <a:extLst>
              <a:ext uri="{FF2B5EF4-FFF2-40B4-BE49-F238E27FC236}">
                <a16:creationId xmlns:a16="http://schemas.microsoft.com/office/drawing/2014/main" id="{A803EC1E-5DD9-C095-2F70-EAB9F86EFF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3159962" y="5587843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3" name="图形 26" descr="图形 26">
            <a:extLst>
              <a:ext uri="{FF2B5EF4-FFF2-40B4-BE49-F238E27FC236}">
                <a16:creationId xmlns:a16="http://schemas.microsoft.com/office/drawing/2014/main" id="{E59E876E-67EE-AB23-4C1E-03386F2959C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4558208" y="5220572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6" name="图形 26" descr="图形 26">
            <a:extLst>
              <a:ext uri="{FF2B5EF4-FFF2-40B4-BE49-F238E27FC236}">
                <a16:creationId xmlns:a16="http://schemas.microsoft.com/office/drawing/2014/main" id="{E684A590-89DD-2460-D715-19D2C1A49E8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3466876" y="554413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7" name="图形 26" descr="图形 26">
            <a:extLst>
              <a:ext uri="{FF2B5EF4-FFF2-40B4-BE49-F238E27FC236}">
                <a16:creationId xmlns:a16="http://schemas.microsoft.com/office/drawing/2014/main" id="{04A3909D-7DDD-F0E5-E363-5146ED7B6B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3729674" y="545335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8" name="图形 26" descr="图形 26">
            <a:extLst>
              <a:ext uri="{FF2B5EF4-FFF2-40B4-BE49-F238E27FC236}">
                <a16:creationId xmlns:a16="http://schemas.microsoft.com/office/drawing/2014/main" id="{72C4408F-1FA6-1B9A-3F85-03FC5EF5DA2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4949514" y="428913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19" name="图形 26" descr="图形 26">
            <a:extLst>
              <a:ext uri="{FF2B5EF4-FFF2-40B4-BE49-F238E27FC236}">
                <a16:creationId xmlns:a16="http://schemas.microsoft.com/office/drawing/2014/main" id="{95ECBE7A-0A28-67DD-D75E-0006A0D8400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971063" y="380228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0" name="图形 26" descr="图形 26">
            <a:extLst>
              <a:ext uri="{FF2B5EF4-FFF2-40B4-BE49-F238E27FC236}">
                <a16:creationId xmlns:a16="http://schemas.microsoft.com/office/drawing/2014/main" id="{FF9F29EA-6199-E2B3-8EBB-0B1FA32B1BA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294880" y="3552169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1" name="图形 26" descr="图形 26">
            <a:extLst>
              <a:ext uri="{FF2B5EF4-FFF2-40B4-BE49-F238E27FC236}">
                <a16:creationId xmlns:a16="http://schemas.microsoft.com/office/drawing/2014/main" id="{E2C2790F-934D-2E36-27A9-E0C60739542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164582" y="372120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2" name="图形 26" descr="图形 26">
            <a:extLst>
              <a:ext uri="{FF2B5EF4-FFF2-40B4-BE49-F238E27FC236}">
                <a16:creationId xmlns:a16="http://schemas.microsoft.com/office/drawing/2014/main" id="{0896BF8D-461C-8383-8882-43B46787D4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955634" y="4252573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3" name="图形 26" descr="图形 26">
            <a:extLst>
              <a:ext uri="{FF2B5EF4-FFF2-40B4-BE49-F238E27FC236}">
                <a16:creationId xmlns:a16="http://schemas.microsoft.com/office/drawing/2014/main" id="{CFF42D50-04F3-18A0-C4B5-3E543916909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124942" y="4770186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4" name="图形 26" descr="图形 26">
            <a:extLst>
              <a:ext uri="{FF2B5EF4-FFF2-40B4-BE49-F238E27FC236}">
                <a16:creationId xmlns:a16="http://schemas.microsoft.com/office/drawing/2014/main" id="{9BAA8F16-3FFF-A6E3-9C1F-DCDC6C43D36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717141" y="437718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5" name="图形 26" descr="图形 26">
            <a:extLst>
              <a:ext uri="{FF2B5EF4-FFF2-40B4-BE49-F238E27FC236}">
                <a16:creationId xmlns:a16="http://schemas.microsoft.com/office/drawing/2014/main" id="{AFCA4951-1898-FFAD-BC28-F99D07C67A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1693898" y="494149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6" name="图形 26" descr="图形 26">
            <a:extLst>
              <a:ext uri="{FF2B5EF4-FFF2-40B4-BE49-F238E27FC236}">
                <a16:creationId xmlns:a16="http://schemas.microsoft.com/office/drawing/2014/main" id="{95B732BA-5AFC-37BB-DE36-CE8B3F3CFA7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4892732" y="4463163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7" name="图形 26" descr="图形 26">
            <a:extLst>
              <a:ext uri="{FF2B5EF4-FFF2-40B4-BE49-F238E27FC236}">
                <a16:creationId xmlns:a16="http://schemas.microsoft.com/office/drawing/2014/main" id="{FA1B9DD6-A2F1-486B-0382-55AB7D3DC0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7840363" y="413225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28" name="图形 26" descr="图形 26">
            <a:extLst>
              <a:ext uri="{FF2B5EF4-FFF2-40B4-BE49-F238E27FC236}">
                <a16:creationId xmlns:a16="http://schemas.microsoft.com/office/drawing/2014/main" id="{A9FEDB8D-5FFA-EB45-8674-D46156564E8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5977755" y="4922902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0" name="图形 26" descr="图形 26">
            <a:extLst>
              <a:ext uri="{FF2B5EF4-FFF2-40B4-BE49-F238E27FC236}">
                <a16:creationId xmlns:a16="http://schemas.microsoft.com/office/drawing/2014/main" id="{0571A560-5AB4-1C91-2EAB-64891CB7E81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1665656" y="4034334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1" name="图形 26" descr="图形 26">
            <a:extLst>
              <a:ext uri="{FF2B5EF4-FFF2-40B4-BE49-F238E27FC236}">
                <a16:creationId xmlns:a16="http://schemas.microsoft.com/office/drawing/2014/main" id="{1D3221C4-6A65-6404-34B2-01ADF69AA6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1947203" y="420761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2" name="图形 26" descr="图形 26">
            <a:extLst>
              <a:ext uri="{FF2B5EF4-FFF2-40B4-BE49-F238E27FC236}">
                <a16:creationId xmlns:a16="http://schemas.microsoft.com/office/drawing/2014/main" id="{52525E14-E0F6-A585-2AA1-C9A1E97D26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7751200" y="4307522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3" name="图形 26" descr="图形 26">
            <a:extLst>
              <a:ext uri="{FF2B5EF4-FFF2-40B4-BE49-F238E27FC236}">
                <a16:creationId xmlns:a16="http://schemas.microsoft.com/office/drawing/2014/main" id="{ACBF0AD1-D4A0-E660-365A-4FD4DEFBC0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997484" y="440803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4" name="图形 26" descr="图形 26">
            <a:extLst>
              <a:ext uri="{FF2B5EF4-FFF2-40B4-BE49-F238E27FC236}">
                <a16:creationId xmlns:a16="http://schemas.microsoft.com/office/drawing/2014/main" id="{9509A86E-0046-D82F-7322-2417815930A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150048" y="5156326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5" name="图形 26" descr="图形 26">
            <a:extLst>
              <a:ext uri="{FF2B5EF4-FFF2-40B4-BE49-F238E27FC236}">
                <a16:creationId xmlns:a16="http://schemas.microsoft.com/office/drawing/2014/main" id="{6C0117E6-CEF0-2846-C0F7-BC7E3236DCA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758265" y="430665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6" name="图形 26" descr="图形 26">
            <a:extLst>
              <a:ext uri="{FF2B5EF4-FFF2-40B4-BE49-F238E27FC236}">
                <a16:creationId xmlns:a16="http://schemas.microsoft.com/office/drawing/2014/main" id="{CE6E9E23-836E-384C-03F9-8E08785804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818568" y="3646659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7" name="图形 26" descr="图形 26">
            <a:extLst>
              <a:ext uri="{FF2B5EF4-FFF2-40B4-BE49-F238E27FC236}">
                <a16:creationId xmlns:a16="http://schemas.microsoft.com/office/drawing/2014/main" id="{361AB84B-1692-FA09-329C-D4A26BCF5AF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944208" y="4437336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8" name="图形 26" descr="图形 26">
            <a:extLst>
              <a:ext uri="{FF2B5EF4-FFF2-40B4-BE49-F238E27FC236}">
                <a16:creationId xmlns:a16="http://schemas.microsoft.com/office/drawing/2014/main" id="{AC314405-02DC-FF85-6CEA-7642AFE86F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5467301" y="5257568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39" name="图形 26" descr="图形 26">
            <a:extLst>
              <a:ext uri="{FF2B5EF4-FFF2-40B4-BE49-F238E27FC236}">
                <a16:creationId xmlns:a16="http://schemas.microsoft.com/office/drawing/2014/main" id="{E433CD16-38E2-04CC-C761-83D0B7D0864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5257415" y="5442050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FD21763-5894-9EB5-3FFB-7B796354664B}"/>
              </a:ext>
            </a:extLst>
          </p:cNvPr>
          <p:cNvSpPr txBox="1"/>
          <p:nvPr/>
        </p:nvSpPr>
        <p:spPr>
          <a:xfrm>
            <a:off x="8622134" y="3444834"/>
            <a:ext cx="3379585" cy="15337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82880" algn="l">
              <a:spcBef>
                <a:spcPts val="600"/>
              </a:spcBef>
            </a:pPr>
            <a:r>
              <a:rPr lang="en-US" sz="2200" dirty="0">
                <a:solidFill>
                  <a:schemeClr val="tx1">
                    <a:lumMod val="50000"/>
                  </a:schemeClr>
                </a:solidFill>
              </a:rPr>
              <a:t>N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umerous nodes start transmitting data packets simultaneously in quick succession.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1BBD41-E674-8890-3AAD-F87391AB69D2}"/>
              </a:ext>
            </a:extLst>
          </p:cNvPr>
          <p:cNvSpPr txBox="1"/>
          <p:nvPr/>
        </p:nvSpPr>
        <p:spPr>
          <a:xfrm>
            <a:off x="3355909" y="6437372"/>
            <a:ext cx="676146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Leads to temporary surge in network activity 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6F9FC"/>
                </a:highlight>
                <a:latin typeface="Apple Color Emoji" pitchFamily="2" charset="0"/>
              </a:rPr>
              <a:t>⚠️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6F9FC"/>
                </a:highlight>
                <a:latin typeface="-apple-system"/>
              </a:rPr>
              <a:t> 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pSp>
        <p:nvGrpSpPr>
          <p:cNvPr id="53" name="Group">
            <a:extLst>
              <a:ext uri="{FF2B5EF4-FFF2-40B4-BE49-F238E27FC236}">
                <a16:creationId xmlns:a16="http://schemas.microsoft.com/office/drawing/2014/main" id="{1EED2F9D-2477-C3F8-D803-AFC405776F29}"/>
              </a:ext>
            </a:extLst>
          </p:cNvPr>
          <p:cNvGrpSpPr/>
          <p:nvPr/>
        </p:nvGrpSpPr>
        <p:grpSpPr>
          <a:xfrm>
            <a:off x="3070494" y="2762437"/>
            <a:ext cx="4412281" cy="2469896"/>
            <a:chOff x="1695390" y="-163282"/>
            <a:chExt cx="10293623" cy="5975671"/>
          </a:xfrm>
        </p:grpSpPr>
        <p:sp>
          <p:nvSpPr>
            <p:cNvPr id="54" name="Line">
              <a:extLst>
                <a:ext uri="{FF2B5EF4-FFF2-40B4-BE49-F238E27FC236}">
                  <a16:creationId xmlns:a16="http://schemas.microsoft.com/office/drawing/2014/main" id="{4B5CA645-0F63-45F1-FA04-0810E7CAE87A}"/>
                </a:ext>
              </a:extLst>
            </p:cNvPr>
            <p:cNvSpPr/>
            <p:nvPr/>
          </p:nvSpPr>
          <p:spPr>
            <a:xfrm flipV="1">
              <a:off x="1695390" y="-163282"/>
              <a:ext cx="9935003" cy="5329953"/>
            </a:xfrm>
            <a:prstGeom prst="line">
              <a:avLst/>
            </a:prstGeom>
            <a:noFill/>
            <a:ln w="101600" cap="flat">
              <a:solidFill>
                <a:srgbClr val="B4293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55" name="Line">
              <a:extLst>
                <a:ext uri="{FF2B5EF4-FFF2-40B4-BE49-F238E27FC236}">
                  <a16:creationId xmlns:a16="http://schemas.microsoft.com/office/drawing/2014/main" id="{A17B383D-A0C3-E5FA-35BA-7735E404D2A0}"/>
                </a:ext>
              </a:extLst>
            </p:cNvPr>
            <p:cNvSpPr/>
            <p:nvPr/>
          </p:nvSpPr>
          <p:spPr>
            <a:xfrm flipV="1">
              <a:off x="8561661" y="772771"/>
              <a:ext cx="3068732" cy="3433683"/>
            </a:xfrm>
            <a:prstGeom prst="line">
              <a:avLst/>
            </a:prstGeom>
            <a:noFill/>
            <a:ln w="101600" cap="flat">
              <a:solidFill>
                <a:srgbClr val="B4293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 dirty="0"/>
            </a:p>
          </p:txBody>
        </p:sp>
        <p:sp>
          <p:nvSpPr>
            <p:cNvPr id="56" name="Line">
              <a:extLst>
                <a:ext uri="{FF2B5EF4-FFF2-40B4-BE49-F238E27FC236}">
                  <a16:creationId xmlns:a16="http://schemas.microsoft.com/office/drawing/2014/main" id="{81415824-E3FE-017D-77CC-200908519BD5}"/>
                </a:ext>
              </a:extLst>
            </p:cNvPr>
            <p:cNvSpPr/>
            <p:nvPr/>
          </p:nvSpPr>
          <p:spPr>
            <a:xfrm flipV="1">
              <a:off x="11973773" y="772773"/>
              <a:ext cx="15240" cy="5039616"/>
            </a:xfrm>
            <a:prstGeom prst="line">
              <a:avLst/>
            </a:prstGeom>
            <a:noFill/>
            <a:ln w="101600" cap="flat">
              <a:solidFill>
                <a:srgbClr val="B4293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</p:grpSp>
      <p:pic>
        <p:nvPicPr>
          <p:cNvPr id="57" name="Image" descr="Image">
            <a:extLst>
              <a:ext uri="{FF2B5EF4-FFF2-40B4-BE49-F238E27FC236}">
                <a16:creationId xmlns:a16="http://schemas.microsoft.com/office/drawing/2014/main" id="{96FBB122-4D82-B6FE-5C7E-FDCFE92A22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2849701" y="4911602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图形 26" descr="图形 26">
            <a:extLst>
              <a:ext uri="{FF2B5EF4-FFF2-40B4-BE49-F238E27FC236}">
                <a16:creationId xmlns:a16="http://schemas.microsoft.com/office/drawing/2014/main" id="{7B790EFF-FADE-E2DE-3126-04CE762C801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855058" y="4622930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59" name="Image" descr="Image">
            <a:extLst>
              <a:ext uri="{FF2B5EF4-FFF2-40B4-BE49-F238E27FC236}">
                <a16:creationId xmlns:a16="http://schemas.microsoft.com/office/drawing/2014/main" id="{5936961D-25CA-94EF-6EBD-4AD7A616CC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5744606" y="4442717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形 26" descr="图形 26">
            <a:extLst>
              <a:ext uri="{FF2B5EF4-FFF2-40B4-BE49-F238E27FC236}">
                <a16:creationId xmlns:a16="http://schemas.microsoft.com/office/drawing/2014/main" id="{C52175B2-7ED6-8A72-0512-CCF6121AF0C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003378" y="4546494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61" name="Image" descr="Image">
            <a:extLst>
              <a:ext uri="{FF2B5EF4-FFF2-40B4-BE49-F238E27FC236}">
                <a16:creationId xmlns:a16="http://schemas.microsoft.com/office/drawing/2014/main" id="{C0989A20-376E-76EC-F265-3B0CE2C2B0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7329055" y="5228158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形 26" descr="图形 26">
            <a:extLst>
              <a:ext uri="{FF2B5EF4-FFF2-40B4-BE49-F238E27FC236}">
                <a16:creationId xmlns:a16="http://schemas.microsoft.com/office/drawing/2014/main" id="{5564266E-4CB7-44FF-1AB9-52C523870BA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7014456" y="5027734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64" name="图形 26" descr="图形 26">
            <a:extLst>
              <a:ext uri="{FF2B5EF4-FFF2-40B4-BE49-F238E27FC236}">
                <a16:creationId xmlns:a16="http://schemas.microsoft.com/office/drawing/2014/main" id="{2243FEE6-2AE1-091B-CD17-A7C0109E38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5045132" y="4615563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65" name="图形 26" descr="图形 26">
            <a:extLst>
              <a:ext uri="{FF2B5EF4-FFF2-40B4-BE49-F238E27FC236}">
                <a16:creationId xmlns:a16="http://schemas.microsoft.com/office/drawing/2014/main" id="{6D9FF88F-C88F-D884-1345-6322B154A83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1435815" y="5335031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66" name="图形 26" descr="图形 26">
            <a:extLst>
              <a:ext uri="{FF2B5EF4-FFF2-40B4-BE49-F238E27FC236}">
                <a16:creationId xmlns:a16="http://schemas.microsoft.com/office/drawing/2014/main" id="{ED107CEB-FD6A-EEA2-19FD-49BCE6588AC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4288052" y="5783844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67" name="图形 26" descr="图形 26">
            <a:extLst>
              <a:ext uri="{FF2B5EF4-FFF2-40B4-BE49-F238E27FC236}">
                <a16:creationId xmlns:a16="http://schemas.microsoft.com/office/drawing/2014/main" id="{2EE2301F-CE66-5DD5-E03C-C3873E6C271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4489067" y="5562366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6B397CD-ACE8-DF4B-B65E-20DBFC7C1313}"/>
              </a:ext>
            </a:extLst>
          </p:cNvPr>
          <p:cNvSpPr txBox="1"/>
          <p:nvPr/>
        </p:nvSpPr>
        <p:spPr>
          <a:xfrm>
            <a:off x="3449276" y="6179100"/>
            <a:ext cx="2394887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Fig: California Wildfire (2021)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87258B-3073-B3D9-659A-756F00AA7BBD}"/>
              </a:ext>
            </a:extLst>
          </p:cNvPr>
          <p:cNvSpPr txBox="1"/>
          <p:nvPr/>
        </p:nvSpPr>
        <p:spPr>
          <a:xfrm>
            <a:off x="79564" y="6643651"/>
            <a:ext cx="1623841" cy="2257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Credits: </a:t>
            </a:r>
            <a:r>
              <a:rPr kumimoji="0" lang="en-US" sz="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  <a:hlinkClick r:id="rId7"/>
              </a:rPr>
              <a:t>The Nature Conservancy</a:t>
            </a:r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266E73A1-0B76-04A3-734E-1E4EA0568F7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5</a:t>
            </a:fld>
            <a:endParaRPr lang="en-US"/>
          </a:p>
        </p:txBody>
      </p:sp>
      <p:pic>
        <p:nvPicPr>
          <p:cNvPr id="73" name="图形 26" descr="图形 26">
            <a:extLst>
              <a:ext uri="{FF2B5EF4-FFF2-40B4-BE49-F238E27FC236}">
                <a16:creationId xmlns:a16="http://schemas.microsoft.com/office/drawing/2014/main" id="{FB8909D2-E111-D31B-B346-111312BFEE1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128148" y="4357936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74" name="图形 26" descr="图形 26">
            <a:extLst>
              <a:ext uri="{FF2B5EF4-FFF2-40B4-BE49-F238E27FC236}">
                <a16:creationId xmlns:a16="http://schemas.microsoft.com/office/drawing/2014/main" id="{02BBCB00-94A2-7284-9BA2-0F0390367F9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2089896" y="458713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75" name="Image" descr="Image">
            <a:extLst>
              <a:ext uri="{FF2B5EF4-FFF2-40B4-BE49-F238E27FC236}">
                <a16:creationId xmlns:a16="http://schemas.microsoft.com/office/drawing/2014/main" id="{E846B06A-7717-044B-80A7-7440C7DDDD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561" r="96004" b="67751"/>
          <a:stretch>
            <a:fillRect/>
          </a:stretch>
        </p:blipFill>
        <p:spPr>
          <a:xfrm>
            <a:off x="6864319" y="4073829"/>
            <a:ext cx="269259" cy="334208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形 26" descr="图形 26">
            <a:extLst>
              <a:ext uri="{FF2B5EF4-FFF2-40B4-BE49-F238E27FC236}">
                <a16:creationId xmlns:a16="http://schemas.microsoft.com/office/drawing/2014/main" id="{4CADC5B7-351E-2C41-81DE-9109FD0BEC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1149884" y="4560437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pic>
        <p:nvPicPr>
          <p:cNvPr id="77" name="图形 26" descr="图形 26">
            <a:extLst>
              <a:ext uri="{FF2B5EF4-FFF2-40B4-BE49-F238E27FC236}">
                <a16:creationId xmlns:a16="http://schemas.microsoft.com/office/drawing/2014/main" id="{0414B9EB-D1E1-A89B-AC87-6E1D0F6FBD6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972" t="22490" r="11579" b="24878"/>
          <a:stretch/>
        </p:blipFill>
        <p:spPr>
          <a:xfrm>
            <a:off x="6827163" y="4522286"/>
            <a:ext cx="358668" cy="2406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</p:pic>
      <p:sp>
        <p:nvSpPr>
          <p:cNvPr id="79" name="LoRa provides diverse and flexible logical channels for">
            <a:extLst>
              <a:ext uri="{FF2B5EF4-FFF2-40B4-BE49-F238E27FC236}">
                <a16:creationId xmlns:a16="http://schemas.microsoft.com/office/drawing/2014/main" id="{1A0AD72C-F023-4477-89F1-0508803E526A}"/>
              </a:ext>
            </a:extLst>
          </p:cNvPr>
          <p:cNvSpPr txBox="1">
            <a:spLocks/>
          </p:cNvSpPr>
          <p:nvPr/>
        </p:nvSpPr>
        <p:spPr>
          <a:xfrm>
            <a:off x="554357" y="1310002"/>
            <a:ext cx="11220450" cy="1318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65760" marR="0" indent="-36576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✦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sym typeface="Helvetica Neue"/>
              </a:rPr>
              <a:t>However, many applications experience </a:t>
            </a:r>
            <a:r>
              <a:rPr lang="en-US" sz="2200" dirty="0">
                <a:solidFill>
                  <a:srgbClr val="FF0000"/>
                </a:solidFill>
                <a:sym typeface="Helvetica Neue"/>
              </a:rPr>
              <a:t>Burst Traffic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sym typeface="Helvetica Neue"/>
              </a:rPr>
              <a:t>.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sym typeface="Helvetica Neue"/>
              </a:rPr>
              <a:t>.g., 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emergencies like </a:t>
            </a:r>
            <a:r>
              <a:rPr lang="en-US" sz="2200" dirty="0">
                <a:solidFill>
                  <a:srgbClr val="FF0000"/>
                </a:solidFill>
                <a:sym typeface="Helvetica Neue"/>
              </a:rPr>
              <a:t>Forrest Fire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sym typeface="Helvetica Neue"/>
              </a:rPr>
              <a:t>, Volcanic Eruption, Earthquake, or Smart Cities during peak hours. </a:t>
            </a:r>
          </a:p>
          <a:p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50"/>
                            </p:stCondLst>
                            <p:childTnLst>
                              <p:par>
                                <p:cTn id="6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750"/>
                            </p:stCondLst>
                            <p:childTnLst>
                              <p:par>
                                <p:cTn id="6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250"/>
                            </p:stCondLst>
                            <p:childTnLst>
                              <p:par>
                                <p:cTn id="7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750"/>
                            </p:stCondLst>
                            <p:childTnLst>
                              <p:par>
                                <p:cTn id="8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0"/>
                            </p:stCondLst>
                            <p:childTnLst>
                              <p:par>
                                <p:cTn id="8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500"/>
                            </p:stCondLst>
                            <p:childTnLst>
                              <p:par>
                                <p:cTn id="9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750"/>
                            </p:stCondLst>
                            <p:childTnLst>
                              <p:par>
                                <p:cTn id="10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000"/>
                            </p:stCondLst>
                            <p:childTnLst>
                              <p:par>
                                <p:cTn id="10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250"/>
                            </p:stCondLst>
                            <p:childTnLst>
                              <p:par>
                                <p:cTn id="10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500"/>
                            </p:stCondLst>
                            <p:childTnLst>
                              <p:par>
                                <p:cTn id="112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750"/>
                            </p:stCondLst>
                            <p:childTnLst>
                              <p:par>
                                <p:cTn id="11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00"/>
                            </p:stCondLst>
                            <p:childTnLst>
                              <p:par>
                                <p:cTn id="12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250"/>
                            </p:stCondLst>
                            <p:childTnLst>
                              <p:par>
                                <p:cTn id="12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500"/>
                            </p:stCondLst>
                            <p:childTnLst>
                              <p:par>
                                <p:cTn id="12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750"/>
                            </p:stCondLst>
                            <p:childTnLst>
                              <p:par>
                                <p:cTn id="132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8000"/>
                            </p:stCondLst>
                            <p:childTnLst>
                              <p:par>
                                <p:cTn id="13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250"/>
                            </p:stCondLst>
                            <p:childTnLst>
                              <p:par>
                                <p:cTn id="14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8500"/>
                            </p:stCondLst>
                            <p:childTnLst>
                              <p:par>
                                <p:cTn id="14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5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750"/>
                            </p:stCondLst>
                            <p:childTnLst>
                              <p:par>
                                <p:cTn id="14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9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9000"/>
                            </p:stCondLst>
                            <p:childTnLst>
                              <p:par>
                                <p:cTn id="152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9250"/>
                            </p:stCondLst>
                            <p:childTnLst>
                              <p:par>
                                <p:cTn id="15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500"/>
                            </p:stCondLst>
                            <p:childTnLst>
                              <p:par>
                                <p:cTn id="160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750"/>
                            </p:stCondLst>
                            <p:childTnLst>
                              <p:par>
                                <p:cTn id="164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5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250"/>
                            </p:stCondLst>
                            <p:childTnLst>
                              <p:par>
                                <p:cTn id="172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76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1000"/>
                            </p:stCondLst>
                            <p:childTnLst>
                              <p:par>
                                <p:cTn id="183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4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1250"/>
                            </p:stCondLst>
                            <p:childTnLst>
                              <p:par>
                                <p:cTn id="187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8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91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2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1750"/>
                            </p:stCondLst>
                            <p:childTnLst>
                              <p:par>
                                <p:cTn id="19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 advAuto="0"/>
      <p:bldP spid="141" grpId="0" animBg="1" advAuto="0"/>
      <p:bldP spid="143" grpId="0" animBg="1" advAuto="0"/>
      <p:bldP spid="145" grpId="0" animBg="1" advAuto="0"/>
      <p:bldP spid="146" grpId="0" animBg="1" advAuto="0"/>
      <p:bldP spid="148" grpId="0" animBg="1" advAuto="0"/>
      <p:bldP spid="149" grpId="0" animBg="1" advAuto="0"/>
      <p:bldP spid="150" grpId="0" animBg="1" advAuto="0"/>
      <p:bldP spid="151" grpId="0" animBg="1" advAuto="0"/>
      <p:bldP spid="7" grpId="0" animBg="1" advAuto="0"/>
      <p:bldP spid="10" grpId="0" animBg="1" advAuto="0"/>
      <p:bldP spid="11" grpId="0" animBg="1" advAuto="0"/>
      <p:bldP spid="12" grpId="0" animBg="1" advAuto="0"/>
      <p:bldP spid="13" grpId="0" animBg="1" advAuto="0"/>
      <p:bldP spid="16" grpId="0" animBg="1" advAuto="0"/>
      <p:bldP spid="17" grpId="0" animBg="1" advAuto="0"/>
      <p:bldP spid="18" grpId="0" animBg="1" advAuto="0"/>
      <p:bldP spid="19" grpId="0" animBg="1" advAuto="0"/>
      <p:bldP spid="20" grpId="0" animBg="1" advAuto="0"/>
      <p:bldP spid="21" grpId="0" animBg="1" advAuto="0"/>
      <p:bldP spid="22" grpId="0" animBg="1" advAuto="0"/>
      <p:bldP spid="23" grpId="0" animBg="1" advAuto="0"/>
      <p:bldP spid="24" grpId="0" animBg="1" advAuto="0"/>
      <p:bldP spid="25" grpId="0" animBg="1" advAuto="0"/>
      <p:bldP spid="26" grpId="0" animBg="1" advAuto="0"/>
      <p:bldP spid="27" grpId="0" animBg="1" advAuto="0"/>
      <p:bldP spid="28" grpId="0" animBg="1" advAuto="0"/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  <p:bldP spid="35" grpId="0" animBg="1" advAuto="0"/>
      <p:bldP spid="36" grpId="0" animBg="1" advAuto="0"/>
      <p:bldP spid="37" grpId="0" animBg="1" advAuto="0"/>
      <p:bldP spid="38" grpId="0" animBg="1" advAuto="0"/>
      <p:bldP spid="39" grpId="0" animBg="1" advAuto="0"/>
      <p:bldP spid="40" grpId="0"/>
      <p:bldP spid="42" grpId="0"/>
      <p:bldP spid="64" grpId="0" animBg="1" advAuto="0"/>
      <p:bldP spid="65" grpId="0" animBg="1" advAuto="0"/>
      <p:bldP spid="66" grpId="0" animBg="1" advAuto="0"/>
      <p:bldP spid="67" grpId="0" animBg="1" advAuto="0"/>
      <p:bldP spid="73" grpId="0" animBg="1" advAuto="0"/>
      <p:bldP spid="74" grpId="0" animBg="1" advAuto="0"/>
      <p:bldP spid="75" grpId="0" animBg="1" advAuto="0"/>
      <p:bldP spid="76" grpId="0" animBg="1" advAuto="0"/>
      <p:bldP spid="77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Limited Logical Channel Coverage"/>
          <p:cNvSpPr txBox="1">
            <a:spLocks noGrp="1"/>
          </p:cNvSpPr>
          <p:nvPr>
            <p:ph type="body" sz="quarter" idx="22"/>
          </p:nvPr>
        </p:nvSpPr>
        <p:spPr>
          <a:xfrm>
            <a:off x="1892666" y="459235"/>
            <a:ext cx="8643392" cy="65659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Consequences of Burst Traffic in LoRa</a:t>
            </a:r>
          </a:p>
        </p:txBody>
      </p:sp>
      <p:sp>
        <p:nvSpPr>
          <p:cNvPr id="2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4293" y="6472060"/>
            <a:ext cx="218008" cy="3795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282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69" y="317168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888" y="2931582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314" y="2501509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015" y="282004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462" y="2501509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064" y="2278158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509" y="2501509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962" y="2278158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258" y="278701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08" y="217680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798" y="241344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039" y="278701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51" y="27570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654" y="241344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264" y="2266259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887" y="3025572"/>
            <a:ext cx="457201" cy="4572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4" name="Group"/>
          <p:cNvGrpSpPr/>
          <p:nvPr/>
        </p:nvGrpSpPr>
        <p:grpSpPr>
          <a:xfrm>
            <a:off x="3078089" y="5001108"/>
            <a:ext cx="5387947" cy="1530157"/>
            <a:chOff x="-602698" y="0"/>
            <a:chExt cx="10775892" cy="3060311"/>
          </a:xfrm>
        </p:grpSpPr>
        <p:sp>
          <p:nvSpPr>
            <p:cNvPr id="298" name="Shape"/>
            <p:cNvSpPr/>
            <p:nvPr/>
          </p:nvSpPr>
          <p:spPr>
            <a:xfrm>
              <a:off x="1067756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299" name="Shape"/>
            <p:cNvSpPr/>
            <p:nvPr/>
          </p:nvSpPr>
          <p:spPr>
            <a:xfrm>
              <a:off x="4215590" y="11303"/>
              <a:ext cx="684663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0" name="Shape"/>
            <p:cNvSpPr/>
            <p:nvPr/>
          </p:nvSpPr>
          <p:spPr>
            <a:xfrm>
              <a:off x="2138248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1" name="Shape"/>
            <p:cNvSpPr/>
            <p:nvPr/>
          </p:nvSpPr>
          <p:spPr>
            <a:xfrm>
              <a:off x="3166310" y="3767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2" name="Shape"/>
            <p:cNvSpPr/>
            <p:nvPr/>
          </p:nvSpPr>
          <p:spPr>
            <a:xfrm>
              <a:off x="841270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3" name="Shape"/>
            <p:cNvSpPr/>
            <p:nvPr/>
          </p:nvSpPr>
          <p:spPr>
            <a:xfrm>
              <a:off x="633536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4" name="Shape"/>
            <p:cNvSpPr/>
            <p:nvPr/>
          </p:nvSpPr>
          <p:spPr>
            <a:xfrm>
              <a:off x="7363424" y="0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5" name="Shape"/>
            <p:cNvSpPr/>
            <p:nvPr/>
          </p:nvSpPr>
          <p:spPr>
            <a:xfrm>
              <a:off x="5327516" y="3767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06" name="Line"/>
            <p:cNvSpPr/>
            <p:nvPr/>
          </p:nvSpPr>
          <p:spPr>
            <a:xfrm>
              <a:off x="632786" y="1418351"/>
              <a:ext cx="913317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07" name="Line"/>
            <p:cNvSpPr/>
            <p:nvPr/>
          </p:nvSpPr>
          <p:spPr>
            <a:xfrm flipV="1">
              <a:off x="944881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08" name="Line"/>
            <p:cNvSpPr/>
            <p:nvPr/>
          </p:nvSpPr>
          <p:spPr>
            <a:xfrm flipV="1">
              <a:off x="5086596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09" name="Line"/>
            <p:cNvSpPr/>
            <p:nvPr/>
          </p:nvSpPr>
          <p:spPr>
            <a:xfrm flipV="1">
              <a:off x="9228310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10" name="914.2"/>
            <p:cNvSpPr txBox="1"/>
            <p:nvPr/>
          </p:nvSpPr>
          <p:spPr>
            <a:xfrm>
              <a:off x="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914.2</a:t>
              </a:r>
            </a:p>
          </p:txBody>
        </p:sp>
        <p:sp>
          <p:nvSpPr>
            <p:cNvPr id="311" name="915"/>
            <p:cNvSpPr txBox="1"/>
            <p:nvPr/>
          </p:nvSpPr>
          <p:spPr>
            <a:xfrm>
              <a:off x="4424798" y="1588589"/>
              <a:ext cx="1323598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</a:t>
              </a:r>
            </a:p>
          </p:txBody>
        </p:sp>
        <p:sp>
          <p:nvSpPr>
            <p:cNvPr id="312" name="915.8"/>
            <p:cNvSpPr txBox="1"/>
            <p:nvPr/>
          </p:nvSpPr>
          <p:spPr>
            <a:xfrm>
              <a:off x="828343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915.8</a:t>
              </a:r>
            </a:p>
          </p:txBody>
        </p:sp>
        <p:sp>
          <p:nvSpPr>
            <p:cNvPr id="313" name="Frequency (MHz)"/>
            <p:cNvSpPr txBox="1"/>
            <p:nvPr/>
          </p:nvSpPr>
          <p:spPr>
            <a:xfrm>
              <a:off x="-602698" y="2127860"/>
              <a:ext cx="5434273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 dirty="0"/>
                <a:t>Frequency (MHz)</a:t>
              </a:r>
            </a:p>
          </p:txBody>
        </p:sp>
      </p:grpSp>
      <p:pic>
        <p:nvPicPr>
          <p:cNvPr id="6" name="图形 16" descr="图形 16">
            <a:extLst>
              <a:ext uri="{FF2B5EF4-FFF2-40B4-BE49-F238E27FC236}">
                <a16:creationId xmlns:a16="http://schemas.microsoft.com/office/drawing/2014/main" id="{36155EEF-25A7-7A7E-0AAA-FE609CAD4E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34976" y="6143470"/>
            <a:ext cx="661800" cy="66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4293" y="6472060"/>
            <a:ext cx="218008" cy="3795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grpSp>
        <p:nvGrpSpPr>
          <p:cNvPr id="336" name="Group"/>
          <p:cNvGrpSpPr/>
          <p:nvPr/>
        </p:nvGrpSpPr>
        <p:grpSpPr>
          <a:xfrm>
            <a:off x="3112428" y="5001108"/>
            <a:ext cx="5353608" cy="1564850"/>
            <a:chOff x="-534020" y="0"/>
            <a:chExt cx="10707214" cy="3129697"/>
          </a:xfrm>
        </p:grpSpPr>
        <p:sp>
          <p:nvSpPr>
            <p:cNvPr id="320" name="Shape"/>
            <p:cNvSpPr/>
            <p:nvPr/>
          </p:nvSpPr>
          <p:spPr>
            <a:xfrm>
              <a:off x="1067756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 dirty="0"/>
            </a:p>
          </p:txBody>
        </p:sp>
        <p:sp>
          <p:nvSpPr>
            <p:cNvPr id="321" name="Shape"/>
            <p:cNvSpPr/>
            <p:nvPr/>
          </p:nvSpPr>
          <p:spPr>
            <a:xfrm>
              <a:off x="4215590" y="11303"/>
              <a:ext cx="684663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2" name="Shape"/>
            <p:cNvSpPr/>
            <p:nvPr/>
          </p:nvSpPr>
          <p:spPr>
            <a:xfrm>
              <a:off x="2138248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3" name="Shape"/>
            <p:cNvSpPr/>
            <p:nvPr/>
          </p:nvSpPr>
          <p:spPr>
            <a:xfrm>
              <a:off x="3166310" y="3767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4" name="Shape"/>
            <p:cNvSpPr/>
            <p:nvPr/>
          </p:nvSpPr>
          <p:spPr>
            <a:xfrm>
              <a:off x="841270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5" name="Shape"/>
            <p:cNvSpPr/>
            <p:nvPr/>
          </p:nvSpPr>
          <p:spPr>
            <a:xfrm>
              <a:off x="633536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6" name="Shape"/>
            <p:cNvSpPr/>
            <p:nvPr/>
          </p:nvSpPr>
          <p:spPr>
            <a:xfrm>
              <a:off x="7363424" y="0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7" name="Shape"/>
            <p:cNvSpPr/>
            <p:nvPr/>
          </p:nvSpPr>
          <p:spPr>
            <a:xfrm>
              <a:off x="5327516" y="3767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28" name="Line"/>
            <p:cNvSpPr/>
            <p:nvPr/>
          </p:nvSpPr>
          <p:spPr>
            <a:xfrm>
              <a:off x="632786" y="1418351"/>
              <a:ext cx="913317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29" name="Line"/>
            <p:cNvSpPr/>
            <p:nvPr/>
          </p:nvSpPr>
          <p:spPr>
            <a:xfrm flipV="1">
              <a:off x="944881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30" name="Line"/>
            <p:cNvSpPr/>
            <p:nvPr/>
          </p:nvSpPr>
          <p:spPr>
            <a:xfrm flipV="1">
              <a:off x="5086596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31" name="Line"/>
            <p:cNvSpPr/>
            <p:nvPr/>
          </p:nvSpPr>
          <p:spPr>
            <a:xfrm flipV="1">
              <a:off x="9228310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32" name="914.2"/>
            <p:cNvSpPr txBox="1"/>
            <p:nvPr/>
          </p:nvSpPr>
          <p:spPr>
            <a:xfrm>
              <a:off x="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914.2</a:t>
              </a:r>
            </a:p>
          </p:txBody>
        </p:sp>
        <p:sp>
          <p:nvSpPr>
            <p:cNvPr id="333" name="915"/>
            <p:cNvSpPr txBox="1"/>
            <p:nvPr/>
          </p:nvSpPr>
          <p:spPr>
            <a:xfrm>
              <a:off x="4424798" y="1588589"/>
              <a:ext cx="1323598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</a:t>
              </a:r>
            </a:p>
          </p:txBody>
        </p:sp>
        <p:sp>
          <p:nvSpPr>
            <p:cNvPr id="334" name="915.8"/>
            <p:cNvSpPr txBox="1"/>
            <p:nvPr/>
          </p:nvSpPr>
          <p:spPr>
            <a:xfrm>
              <a:off x="828343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915.8</a:t>
              </a:r>
            </a:p>
          </p:txBody>
        </p:sp>
        <p:sp>
          <p:nvSpPr>
            <p:cNvPr id="335" name="Frequency (MHz)"/>
            <p:cNvSpPr txBox="1"/>
            <p:nvPr/>
          </p:nvSpPr>
          <p:spPr>
            <a:xfrm>
              <a:off x="-534020" y="2197246"/>
              <a:ext cx="5434273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 dirty="0"/>
                <a:t>Frequency (MHz)</a:t>
              </a:r>
            </a:p>
          </p:txBody>
        </p:sp>
      </p:grpSp>
      <p:pic>
        <p:nvPicPr>
          <p:cNvPr id="337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661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2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661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0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798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798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684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019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798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5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034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019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27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354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158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0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49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49" y="4438475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" name="图形 26" descr="图形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49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60" name="Group"/>
          <p:cNvGrpSpPr/>
          <p:nvPr/>
        </p:nvGrpSpPr>
        <p:grpSpPr>
          <a:xfrm>
            <a:off x="3814359" y="3564461"/>
            <a:ext cx="3646558" cy="990412"/>
            <a:chOff x="0" y="0"/>
            <a:chExt cx="7293112" cy="1980821"/>
          </a:xfrm>
        </p:grpSpPr>
        <p:pic>
          <p:nvPicPr>
            <p:cNvPr id="353" name="图形 31" descr="图形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4" name="图形 31" descr="图形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1108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5" name="图形 31" descr="图形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0882" y="1066421"/>
              <a:ext cx="914401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6" name="图形 31" descr="图形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8115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7" name="图形 31" descr="图形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5353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8" name="图形 31" descr="图形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8712" y="1053696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9" name="Collision"/>
            <p:cNvSpPr txBox="1"/>
            <p:nvPr/>
          </p:nvSpPr>
          <p:spPr>
            <a:xfrm>
              <a:off x="3042405" y="0"/>
              <a:ext cx="2755507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 b="1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000" dirty="0"/>
                <a:t>Collision</a:t>
              </a:r>
              <a:r>
                <a:rPr lang="en-US" sz="2000" dirty="0"/>
                <a:t>s</a:t>
              </a:r>
              <a:endParaRPr sz="2000" dirty="0"/>
            </a:p>
          </p:txBody>
        </p:sp>
      </p:grpSp>
      <p:pic>
        <p:nvPicPr>
          <p:cNvPr id="4" name="图形 16" descr="图形 16">
            <a:extLst>
              <a:ext uri="{FF2B5EF4-FFF2-40B4-BE49-F238E27FC236}">
                <a16:creationId xmlns:a16="http://schemas.microsoft.com/office/drawing/2014/main" id="{D1C26891-1573-54A8-70EF-266BDF4BC9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34976" y="6143470"/>
            <a:ext cx="661800" cy="66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</p:pic>
      <p:sp>
        <p:nvSpPr>
          <p:cNvPr id="8" name="Limited Logical Channel Coverage">
            <a:extLst>
              <a:ext uri="{FF2B5EF4-FFF2-40B4-BE49-F238E27FC236}">
                <a16:creationId xmlns:a16="http://schemas.microsoft.com/office/drawing/2014/main" id="{40AD1978-8E7F-7700-7973-E2C8C4A57CC7}"/>
              </a:ext>
            </a:extLst>
          </p:cNvPr>
          <p:cNvSpPr txBox="1">
            <a:spLocks/>
          </p:cNvSpPr>
          <p:nvPr/>
        </p:nvSpPr>
        <p:spPr>
          <a:xfrm>
            <a:off x="1892666" y="457200"/>
            <a:ext cx="864339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0" marR="0" indent="0" algn="ctr" defTabSz="1219169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rgbClr val="FFFFFF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dirty="0"/>
              <a:t>Consequences of Burst Traffic in LoRa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4293" y="6472060"/>
            <a:ext cx="218008" cy="3795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grpSp>
        <p:nvGrpSpPr>
          <p:cNvPr id="383" name="Group"/>
          <p:cNvGrpSpPr/>
          <p:nvPr/>
        </p:nvGrpSpPr>
        <p:grpSpPr>
          <a:xfrm>
            <a:off x="391658" y="5001108"/>
            <a:ext cx="5329077" cy="1546951"/>
            <a:chOff x="-484956" y="0"/>
            <a:chExt cx="10658150" cy="3093899"/>
          </a:xfrm>
        </p:grpSpPr>
        <p:sp>
          <p:nvSpPr>
            <p:cNvPr id="367" name="Shape"/>
            <p:cNvSpPr/>
            <p:nvPr/>
          </p:nvSpPr>
          <p:spPr>
            <a:xfrm>
              <a:off x="1067756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8" name="Shape"/>
            <p:cNvSpPr/>
            <p:nvPr/>
          </p:nvSpPr>
          <p:spPr>
            <a:xfrm>
              <a:off x="4215590" y="11303"/>
              <a:ext cx="684663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9" name="Shape"/>
            <p:cNvSpPr/>
            <p:nvPr/>
          </p:nvSpPr>
          <p:spPr>
            <a:xfrm>
              <a:off x="2138248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0" name="Shape"/>
            <p:cNvSpPr/>
            <p:nvPr/>
          </p:nvSpPr>
          <p:spPr>
            <a:xfrm>
              <a:off x="3166310" y="3767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1" name="Shape"/>
            <p:cNvSpPr/>
            <p:nvPr/>
          </p:nvSpPr>
          <p:spPr>
            <a:xfrm>
              <a:off x="841270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2" name="Shape"/>
            <p:cNvSpPr/>
            <p:nvPr/>
          </p:nvSpPr>
          <p:spPr>
            <a:xfrm>
              <a:off x="633536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3" name="Shape"/>
            <p:cNvSpPr/>
            <p:nvPr/>
          </p:nvSpPr>
          <p:spPr>
            <a:xfrm>
              <a:off x="7363424" y="0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4" name="Shape"/>
            <p:cNvSpPr/>
            <p:nvPr/>
          </p:nvSpPr>
          <p:spPr>
            <a:xfrm>
              <a:off x="5327516" y="3767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5" name="Line"/>
            <p:cNvSpPr/>
            <p:nvPr/>
          </p:nvSpPr>
          <p:spPr>
            <a:xfrm>
              <a:off x="632786" y="1418351"/>
              <a:ext cx="913317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6" name="Line"/>
            <p:cNvSpPr/>
            <p:nvPr/>
          </p:nvSpPr>
          <p:spPr>
            <a:xfrm flipV="1">
              <a:off x="944881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7" name="Line"/>
            <p:cNvSpPr/>
            <p:nvPr/>
          </p:nvSpPr>
          <p:spPr>
            <a:xfrm flipV="1">
              <a:off x="5086596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8" name="Line"/>
            <p:cNvSpPr/>
            <p:nvPr/>
          </p:nvSpPr>
          <p:spPr>
            <a:xfrm flipV="1">
              <a:off x="9228310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9" name="914.2"/>
            <p:cNvSpPr txBox="1"/>
            <p:nvPr/>
          </p:nvSpPr>
          <p:spPr>
            <a:xfrm>
              <a:off x="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914.2</a:t>
              </a:r>
            </a:p>
          </p:txBody>
        </p:sp>
        <p:sp>
          <p:nvSpPr>
            <p:cNvPr id="380" name="915"/>
            <p:cNvSpPr txBox="1"/>
            <p:nvPr/>
          </p:nvSpPr>
          <p:spPr>
            <a:xfrm>
              <a:off x="4424798" y="1588589"/>
              <a:ext cx="1323598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</a:t>
              </a:r>
            </a:p>
          </p:txBody>
        </p:sp>
        <p:sp>
          <p:nvSpPr>
            <p:cNvPr id="381" name="915.8"/>
            <p:cNvSpPr txBox="1"/>
            <p:nvPr/>
          </p:nvSpPr>
          <p:spPr>
            <a:xfrm>
              <a:off x="828343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915.8</a:t>
              </a:r>
            </a:p>
          </p:txBody>
        </p:sp>
        <p:sp>
          <p:nvSpPr>
            <p:cNvPr id="382" name="Frequency (MHz)"/>
            <p:cNvSpPr txBox="1"/>
            <p:nvPr/>
          </p:nvSpPr>
          <p:spPr>
            <a:xfrm>
              <a:off x="-484956" y="2161448"/>
              <a:ext cx="5434272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 dirty="0"/>
                <a:t>Frequency (MHz)</a:t>
              </a:r>
            </a:p>
          </p:txBody>
        </p:sp>
      </p:grpSp>
      <p:pic>
        <p:nvPicPr>
          <p:cNvPr id="384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60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26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60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49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497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382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17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497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733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1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26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52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85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7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7" y="4438475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7" name="Group"/>
          <p:cNvGrpSpPr/>
          <p:nvPr/>
        </p:nvGrpSpPr>
        <p:grpSpPr>
          <a:xfrm>
            <a:off x="1069058" y="3577979"/>
            <a:ext cx="3646558" cy="976894"/>
            <a:chOff x="0" y="27036"/>
            <a:chExt cx="7293112" cy="1953785"/>
          </a:xfrm>
        </p:grpSpPr>
        <p:pic>
          <p:nvPicPr>
            <p:cNvPr id="400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1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108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2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0882" y="1066421"/>
              <a:ext cx="914401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3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8115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4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5353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5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8712" y="1053696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6" name="Collision"/>
            <p:cNvSpPr txBox="1"/>
            <p:nvPr/>
          </p:nvSpPr>
          <p:spPr>
            <a:xfrm>
              <a:off x="2408791" y="27036"/>
              <a:ext cx="2693477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 b="1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000" dirty="0"/>
                <a:t>Collision</a:t>
              </a:r>
              <a:r>
                <a:rPr lang="en-US" sz="2000" dirty="0"/>
                <a:t>s</a:t>
              </a:r>
              <a:endParaRPr sz="2000" dirty="0"/>
            </a:p>
          </p:txBody>
        </p:sp>
      </p:grpSp>
      <p:sp>
        <p:nvSpPr>
          <p:cNvPr id="409" name="*Validation from OpenLoRa [NSDI ’23]"/>
          <p:cNvSpPr txBox="1"/>
          <p:nvPr/>
        </p:nvSpPr>
        <p:spPr>
          <a:xfrm>
            <a:off x="7237208" y="6461512"/>
            <a:ext cx="432490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000" dirty="0"/>
              <a:t>*Validation from </a:t>
            </a:r>
            <a:r>
              <a:rPr lang="en-US" sz="2000" dirty="0"/>
              <a:t>experiment in our lab</a:t>
            </a:r>
            <a:endParaRPr sz="2000" dirty="0"/>
          </a:p>
        </p:txBody>
      </p:sp>
      <p:pic>
        <p:nvPicPr>
          <p:cNvPr id="5" name="图形 16" descr="图形 16">
            <a:extLst>
              <a:ext uri="{FF2B5EF4-FFF2-40B4-BE49-F238E27FC236}">
                <a16:creationId xmlns:a16="http://schemas.microsoft.com/office/drawing/2014/main" id="{D6110E71-0C9D-3C50-9F8F-2A7AC56BB8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46536" y="6158785"/>
            <a:ext cx="661800" cy="66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8D3FF7-50CC-40F8-2013-764424424710}"/>
              </a:ext>
            </a:extLst>
          </p:cNvPr>
          <p:cNvSpPr/>
          <p:nvPr/>
        </p:nvSpPr>
        <p:spPr>
          <a:xfrm>
            <a:off x="534698" y="1400238"/>
            <a:ext cx="4824252" cy="1816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Current MAC protocol of LoRa: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LoRaWAN</a:t>
            </a:r>
            <a:br>
              <a:rPr lang="en-US" sz="20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adopts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ALOHA</a:t>
            </a:r>
            <a:br>
              <a:rPr lang="en-US" sz="20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2000" i="1" dirty="0">
                <a:solidFill>
                  <a:srgbClr val="FF0000"/>
                </a:solidFill>
              </a:rPr>
              <a:t>NO collision avoidance mechanism!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3C1D56-C5C0-46DE-E9A5-3F289AFD366C}"/>
              </a:ext>
            </a:extLst>
          </p:cNvPr>
          <p:cNvSpPr/>
          <p:nvPr/>
        </p:nvSpPr>
        <p:spPr>
          <a:xfrm>
            <a:off x="6976907" y="1400238"/>
            <a:ext cx="4680395" cy="1816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Increased packet loss*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Increased retransmissions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Rapid battery depletion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Excessive network latencies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Degraded throughput*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2D83F28-9987-8E29-6BA1-7946639B4339}"/>
              </a:ext>
            </a:extLst>
          </p:cNvPr>
          <p:cNvSpPr/>
          <p:nvPr/>
        </p:nvSpPr>
        <p:spPr>
          <a:xfrm>
            <a:off x="5358950" y="2308289"/>
            <a:ext cx="1624707" cy="344245"/>
          </a:xfrm>
          <a:prstGeom prst="rightArrow">
            <a:avLst/>
          </a:prstGeom>
          <a:solidFill>
            <a:schemeClr val="bg2">
              <a:lumMod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Limited Logical Channel Coverage">
            <a:extLst>
              <a:ext uri="{FF2B5EF4-FFF2-40B4-BE49-F238E27FC236}">
                <a16:creationId xmlns:a16="http://schemas.microsoft.com/office/drawing/2014/main" id="{11446D84-EE8F-A260-F734-A3A37E33099D}"/>
              </a:ext>
            </a:extLst>
          </p:cNvPr>
          <p:cNvSpPr txBox="1">
            <a:spLocks/>
          </p:cNvSpPr>
          <p:nvPr/>
        </p:nvSpPr>
        <p:spPr>
          <a:xfrm>
            <a:off x="1235695" y="472565"/>
            <a:ext cx="9720610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0" marR="0" indent="0" algn="ctr" defTabSz="1219169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rgbClr val="FFFFFF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3600" b="1" dirty="0">
                <a:solidFill>
                  <a:schemeClr val="bg1"/>
                </a:solidFill>
              </a:rPr>
              <a:t>Why is it necessary to handle Burst Traffic?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016A8-88C5-C2E9-8788-E8C5A640C59C}"/>
              </a:ext>
            </a:extLst>
          </p:cNvPr>
          <p:cNvSpPr txBox="1"/>
          <p:nvPr/>
        </p:nvSpPr>
        <p:spPr>
          <a:xfrm>
            <a:off x="7776619" y="6190211"/>
            <a:ext cx="3246081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Fig: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Packet Reception Rate for 5 nodes</a:t>
            </a:r>
          </a:p>
        </p:txBody>
      </p:sp>
      <p:pic>
        <p:nvPicPr>
          <p:cNvPr id="3" name="Picture 2" descr="A graph with a line and a dotted line&#10;&#10;Description automatically generated with medium confidence">
            <a:extLst>
              <a:ext uri="{FF2B5EF4-FFF2-40B4-BE49-F238E27FC236}">
                <a16:creationId xmlns:a16="http://schemas.microsoft.com/office/drawing/2014/main" id="{2C61FECE-7FC3-0F97-79C3-D72BA6DB4D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154" r="7963"/>
          <a:stretch/>
        </p:blipFill>
        <p:spPr>
          <a:xfrm>
            <a:off x="7319151" y="3375689"/>
            <a:ext cx="3852449" cy="28205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AEDD42-2DD5-36C6-0B99-ACAA1B2BB6B1}"/>
              </a:ext>
            </a:extLst>
          </p:cNvPr>
          <p:cNvSpPr txBox="1"/>
          <p:nvPr/>
        </p:nvSpPr>
        <p:spPr>
          <a:xfrm>
            <a:off x="9824861" y="3497070"/>
            <a:ext cx="1346739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5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Single channel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" grpId="0" animBg="1"/>
      <p:bldP spid="6" grpId="0" animBg="1"/>
      <p:bldP spid="7" grpId="0" animBg="1"/>
      <p:bldP spid="9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4293" y="6472060"/>
            <a:ext cx="218008" cy="37959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grpSp>
        <p:nvGrpSpPr>
          <p:cNvPr id="383" name="Group"/>
          <p:cNvGrpSpPr/>
          <p:nvPr/>
        </p:nvGrpSpPr>
        <p:grpSpPr>
          <a:xfrm>
            <a:off x="391658" y="5001108"/>
            <a:ext cx="5329077" cy="1546951"/>
            <a:chOff x="-484956" y="0"/>
            <a:chExt cx="10658150" cy="3093899"/>
          </a:xfrm>
        </p:grpSpPr>
        <p:sp>
          <p:nvSpPr>
            <p:cNvPr id="367" name="Shape"/>
            <p:cNvSpPr/>
            <p:nvPr/>
          </p:nvSpPr>
          <p:spPr>
            <a:xfrm>
              <a:off x="1067756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8" name="Shape"/>
            <p:cNvSpPr/>
            <p:nvPr/>
          </p:nvSpPr>
          <p:spPr>
            <a:xfrm>
              <a:off x="4215590" y="11303"/>
              <a:ext cx="684663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9" name="Shape"/>
            <p:cNvSpPr/>
            <p:nvPr/>
          </p:nvSpPr>
          <p:spPr>
            <a:xfrm>
              <a:off x="2138248" y="11303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0" name="Shape"/>
            <p:cNvSpPr/>
            <p:nvPr/>
          </p:nvSpPr>
          <p:spPr>
            <a:xfrm>
              <a:off x="3166310" y="3767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1" name="Shape"/>
            <p:cNvSpPr/>
            <p:nvPr/>
          </p:nvSpPr>
          <p:spPr>
            <a:xfrm>
              <a:off x="841270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2" name="Shape"/>
            <p:cNvSpPr/>
            <p:nvPr/>
          </p:nvSpPr>
          <p:spPr>
            <a:xfrm>
              <a:off x="6335361" y="7535"/>
              <a:ext cx="684662" cy="13955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3" name="Shape"/>
            <p:cNvSpPr/>
            <p:nvPr/>
          </p:nvSpPr>
          <p:spPr>
            <a:xfrm>
              <a:off x="7363424" y="0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4" name="Shape"/>
            <p:cNvSpPr/>
            <p:nvPr/>
          </p:nvSpPr>
          <p:spPr>
            <a:xfrm>
              <a:off x="5327516" y="3767"/>
              <a:ext cx="684662" cy="13955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72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8627" y="0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5" name="Line"/>
            <p:cNvSpPr/>
            <p:nvPr/>
          </p:nvSpPr>
          <p:spPr>
            <a:xfrm>
              <a:off x="632786" y="1418351"/>
              <a:ext cx="913317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6" name="Line"/>
            <p:cNvSpPr/>
            <p:nvPr/>
          </p:nvSpPr>
          <p:spPr>
            <a:xfrm flipV="1">
              <a:off x="944881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7" name="Line"/>
            <p:cNvSpPr/>
            <p:nvPr/>
          </p:nvSpPr>
          <p:spPr>
            <a:xfrm flipV="1">
              <a:off x="5086596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8" name="Line"/>
            <p:cNvSpPr/>
            <p:nvPr/>
          </p:nvSpPr>
          <p:spPr>
            <a:xfrm flipV="1">
              <a:off x="9228310" y="1427414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379" name="914.2"/>
            <p:cNvSpPr txBox="1"/>
            <p:nvPr/>
          </p:nvSpPr>
          <p:spPr>
            <a:xfrm>
              <a:off x="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914.2</a:t>
              </a:r>
            </a:p>
          </p:txBody>
        </p:sp>
        <p:sp>
          <p:nvSpPr>
            <p:cNvPr id="380" name="915"/>
            <p:cNvSpPr txBox="1"/>
            <p:nvPr/>
          </p:nvSpPr>
          <p:spPr>
            <a:xfrm>
              <a:off x="4424798" y="1588589"/>
              <a:ext cx="1323598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</a:t>
              </a:r>
            </a:p>
          </p:txBody>
        </p:sp>
        <p:sp>
          <p:nvSpPr>
            <p:cNvPr id="381" name="915.8"/>
            <p:cNvSpPr txBox="1"/>
            <p:nvPr/>
          </p:nvSpPr>
          <p:spPr>
            <a:xfrm>
              <a:off x="8283430" y="1588589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915.8</a:t>
              </a:r>
            </a:p>
          </p:txBody>
        </p:sp>
        <p:sp>
          <p:nvSpPr>
            <p:cNvPr id="382" name="Frequency (MHz)"/>
            <p:cNvSpPr txBox="1"/>
            <p:nvPr/>
          </p:nvSpPr>
          <p:spPr>
            <a:xfrm>
              <a:off x="-484956" y="2161448"/>
              <a:ext cx="5434272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 dirty="0"/>
                <a:t>Frequency (MHz)</a:t>
              </a:r>
            </a:p>
          </p:txBody>
        </p:sp>
      </p:grpSp>
      <p:pic>
        <p:nvPicPr>
          <p:cNvPr id="384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60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26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60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49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497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382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17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497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733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1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826" y="4442244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52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85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7" y="4506650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7" y="4438475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" name="图形 26" descr="图形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47" y="4572943"/>
            <a:ext cx="457201" cy="4572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7" name="Group"/>
          <p:cNvGrpSpPr/>
          <p:nvPr/>
        </p:nvGrpSpPr>
        <p:grpSpPr>
          <a:xfrm>
            <a:off x="1069058" y="3577979"/>
            <a:ext cx="3646558" cy="976894"/>
            <a:chOff x="0" y="27036"/>
            <a:chExt cx="7293112" cy="1953785"/>
          </a:xfrm>
        </p:grpSpPr>
        <p:pic>
          <p:nvPicPr>
            <p:cNvPr id="400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1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1108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2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0882" y="1066421"/>
              <a:ext cx="914401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3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8115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4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5353" y="1066421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5" name="图形 31" descr="图形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8712" y="1053696"/>
              <a:ext cx="914400" cy="91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6" name="Collision"/>
            <p:cNvSpPr txBox="1"/>
            <p:nvPr/>
          </p:nvSpPr>
          <p:spPr>
            <a:xfrm>
              <a:off x="2408791" y="27036"/>
              <a:ext cx="2693477" cy="932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 b="1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000" dirty="0"/>
                <a:t>Collision</a:t>
              </a:r>
              <a:r>
                <a:rPr lang="en-US" sz="2000" dirty="0"/>
                <a:t>s</a:t>
              </a:r>
              <a:endParaRPr sz="2000" dirty="0"/>
            </a:p>
          </p:txBody>
        </p:sp>
      </p:grpSp>
      <p:sp>
        <p:nvSpPr>
          <p:cNvPr id="409" name="*Validation from OpenLoRa [NSDI ’23]"/>
          <p:cNvSpPr txBox="1"/>
          <p:nvPr/>
        </p:nvSpPr>
        <p:spPr>
          <a:xfrm>
            <a:off x="7237208" y="6461512"/>
            <a:ext cx="4324902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8255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000" dirty="0"/>
              <a:t>*Validation from </a:t>
            </a:r>
            <a:r>
              <a:rPr lang="en-US" sz="2000" dirty="0"/>
              <a:t>experiment in our lab</a:t>
            </a:r>
            <a:endParaRPr sz="2000" dirty="0"/>
          </a:p>
        </p:txBody>
      </p:sp>
      <p:pic>
        <p:nvPicPr>
          <p:cNvPr id="5" name="图形 16" descr="图形 16">
            <a:extLst>
              <a:ext uri="{FF2B5EF4-FFF2-40B4-BE49-F238E27FC236}">
                <a16:creationId xmlns:a16="http://schemas.microsoft.com/office/drawing/2014/main" id="{D6110E71-0C9D-3C50-9F8F-2A7AC56BB8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46536" y="6158785"/>
            <a:ext cx="661800" cy="66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8D3FF7-50CC-40F8-2013-764424424710}"/>
              </a:ext>
            </a:extLst>
          </p:cNvPr>
          <p:cNvSpPr/>
          <p:nvPr/>
        </p:nvSpPr>
        <p:spPr>
          <a:xfrm>
            <a:off x="534698" y="1400238"/>
            <a:ext cx="4824252" cy="1816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Current MAC protocol of LoRa: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LoRaWAN</a:t>
            </a:r>
            <a:br>
              <a:rPr lang="en-US" sz="20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adopts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ALOHA</a:t>
            </a:r>
            <a:br>
              <a:rPr lang="en-US" sz="20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2000" i="1" dirty="0">
                <a:solidFill>
                  <a:srgbClr val="FF0000"/>
                </a:solidFill>
              </a:rPr>
              <a:t>NO collision avoidance mechanism!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3C1D56-C5C0-46DE-E9A5-3F289AFD366C}"/>
              </a:ext>
            </a:extLst>
          </p:cNvPr>
          <p:cNvSpPr/>
          <p:nvPr/>
        </p:nvSpPr>
        <p:spPr>
          <a:xfrm>
            <a:off x="6976907" y="1400238"/>
            <a:ext cx="4680395" cy="1816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Increased packet loss*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Increased retransmissions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Rapid battery depletion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Excessive network latencies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Degraded throughput*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2D83F28-9987-8E29-6BA1-7946639B4339}"/>
              </a:ext>
            </a:extLst>
          </p:cNvPr>
          <p:cNvSpPr/>
          <p:nvPr/>
        </p:nvSpPr>
        <p:spPr>
          <a:xfrm>
            <a:off x="5358950" y="2308289"/>
            <a:ext cx="1624707" cy="344245"/>
          </a:xfrm>
          <a:prstGeom prst="rightArrow">
            <a:avLst/>
          </a:prstGeom>
          <a:solidFill>
            <a:schemeClr val="bg2">
              <a:lumMod val="2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Limited Logical Channel Coverage">
            <a:extLst>
              <a:ext uri="{FF2B5EF4-FFF2-40B4-BE49-F238E27FC236}">
                <a16:creationId xmlns:a16="http://schemas.microsoft.com/office/drawing/2014/main" id="{11446D84-EE8F-A260-F734-A3A37E33099D}"/>
              </a:ext>
            </a:extLst>
          </p:cNvPr>
          <p:cNvSpPr txBox="1">
            <a:spLocks/>
          </p:cNvSpPr>
          <p:nvPr/>
        </p:nvSpPr>
        <p:spPr>
          <a:xfrm>
            <a:off x="1235695" y="472565"/>
            <a:ext cx="9720610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0" marR="0" indent="0" algn="ctr" defTabSz="1219169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rgbClr val="FFFFFF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r>
              <a:rPr lang="en-US" sz="3600" b="1" dirty="0">
                <a:solidFill>
                  <a:schemeClr val="bg1"/>
                </a:solidFill>
              </a:rPr>
              <a:t>Why is it necessary to handle Burst Traffic?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016A8-88C5-C2E9-8788-E8C5A640C59C}"/>
              </a:ext>
            </a:extLst>
          </p:cNvPr>
          <p:cNvSpPr txBox="1"/>
          <p:nvPr/>
        </p:nvSpPr>
        <p:spPr>
          <a:xfrm>
            <a:off x="7776619" y="6190211"/>
            <a:ext cx="3246081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Fig: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Packet Reception Rate for 5 nodes</a:t>
            </a:r>
          </a:p>
        </p:txBody>
      </p:sp>
      <p:pic>
        <p:nvPicPr>
          <p:cNvPr id="3" name="Picture 2" descr="A graph with a line and a dotted line&#10;&#10;Description automatically generated with medium confidence">
            <a:extLst>
              <a:ext uri="{FF2B5EF4-FFF2-40B4-BE49-F238E27FC236}">
                <a16:creationId xmlns:a16="http://schemas.microsoft.com/office/drawing/2014/main" id="{2C61FECE-7FC3-0F97-79C3-D72BA6DB4D4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154" r="7963"/>
          <a:stretch/>
        </p:blipFill>
        <p:spPr>
          <a:xfrm>
            <a:off x="7319151" y="3375689"/>
            <a:ext cx="3852449" cy="28205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AA4B754-7DE9-72D9-A6D0-00B5A00AE185}"/>
              </a:ext>
            </a:extLst>
          </p:cNvPr>
          <p:cNvSpPr/>
          <p:nvPr/>
        </p:nvSpPr>
        <p:spPr>
          <a:xfrm>
            <a:off x="0" y="1145894"/>
            <a:ext cx="12192000" cy="5712106"/>
          </a:xfrm>
          <a:prstGeom prst="rect">
            <a:avLst/>
          </a:prstGeom>
          <a:solidFill>
            <a:schemeClr val="bg1">
              <a:lumMod val="50000"/>
              <a:alpha val="5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AC1CD-65D1-89A0-0A98-7C745C0BB915}"/>
              </a:ext>
            </a:extLst>
          </p:cNvPr>
          <p:cNvSpPr txBox="1"/>
          <p:nvPr/>
        </p:nvSpPr>
        <p:spPr>
          <a:xfrm>
            <a:off x="0" y="3421843"/>
            <a:ext cx="12192000" cy="1210588"/>
          </a:xfrm>
          <a:prstGeom prst="rect">
            <a:avLst/>
          </a:prstGeom>
          <a:solidFill>
            <a:srgbClr val="C00000">
              <a:alpha val="83000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endParaRPr lang="en-US" b="1" dirty="0">
              <a:solidFill>
                <a:schemeClr val="bg1"/>
              </a:solidFill>
              <a:latin typeface="+mn-lt"/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Ensuring successful transmission of this traffic without loss is critical</a:t>
            </a:r>
            <a:br>
              <a:rPr lang="en-US" b="1" dirty="0">
                <a:solidFill>
                  <a:schemeClr val="bg1"/>
                </a:solidFill>
                <a:latin typeface="+mn-lt"/>
              </a:rPr>
            </a:b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87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3C6A-115D-CB61-E5A0-1DB04014F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238" y="2533849"/>
            <a:ext cx="6422456" cy="4128006"/>
          </a:xfrm>
        </p:spPr>
        <p:txBody>
          <a:bodyPr>
            <a:normAutofit/>
          </a:bodyPr>
          <a:lstStyle/>
          <a:p>
            <a:r>
              <a:rPr lang="en-US" b="1" dirty="0"/>
              <a:t>Semi-Distributed </a:t>
            </a:r>
            <a:r>
              <a:rPr lang="en-US" dirty="0"/>
              <a:t>Scheduling Mechanism.</a:t>
            </a:r>
          </a:p>
          <a:p>
            <a:pPr lvl="2">
              <a:spcBef>
                <a:spcPts val="1050"/>
              </a:spcBef>
            </a:pPr>
            <a:r>
              <a:rPr lang="en-US" sz="2000" dirty="0"/>
              <a:t>Nodes compute their Tx slots individually.</a:t>
            </a:r>
          </a:p>
          <a:p>
            <a:pPr lvl="2">
              <a:spcBef>
                <a:spcPts val="1050"/>
              </a:spcBef>
            </a:pPr>
            <a:r>
              <a:rPr lang="en-US" sz="2000" dirty="0"/>
              <a:t>Eliminates the need of centralized slot distribution.</a:t>
            </a:r>
            <a:endParaRPr lang="en-US" dirty="0"/>
          </a:p>
          <a:p>
            <a:pPr marL="403860" indent="-342900"/>
            <a:r>
              <a:rPr lang="en-US" dirty="0"/>
              <a:t>Devices switch to Burst-MAC only when burst is detected.</a:t>
            </a:r>
          </a:p>
          <a:p>
            <a:pPr marL="952500" lvl="2" indent="-342900">
              <a:spcBef>
                <a:spcPts val="1050"/>
              </a:spcBef>
            </a:pPr>
            <a:r>
              <a:rPr lang="en-US" sz="2000" dirty="0"/>
              <a:t>Work in </a:t>
            </a:r>
            <a:r>
              <a:rPr lang="en-US" sz="2000" dirty="0" err="1"/>
              <a:t>LoRaWAN</a:t>
            </a:r>
            <a:r>
              <a:rPr lang="en-US" sz="2000" dirty="0"/>
              <a:t> mode otherwise.</a:t>
            </a:r>
          </a:p>
          <a:p>
            <a:pPr marL="952500" lvl="2" indent="-342900">
              <a:spcBef>
                <a:spcPts val="1050"/>
              </a:spcBef>
            </a:pPr>
            <a:r>
              <a:rPr lang="en-US" sz="2000" dirty="0"/>
              <a:t>No time synchronization required during non-burst periods!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BDA53-825B-A4D7-CBA1-EF768471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BC910-663A-60BE-6B4F-1D89C28D4457}"/>
              </a:ext>
            </a:extLst>
          </p:cNvPr>
          <p:cNvSpPr txBox="1"/>
          <p:nvPr/>
        </p:nvSpPr>
        <p:spPr>
          <a:xfrm>
            <a:off x="2233448" y="529458"/>
            <a:ext cx="772510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Burst-MAC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A8630C-246E-F04F-E216-AAF31C591DD9}"/>
              </a:ext>
            </a:extLst>
          </p:cNvPr>
          <p:cNvSpPr txBox="1">
            <a:spLocks/>
          </p:cNvSpPr>
          <p:nvPr/>
        </p:nvSpPr>
        <p:spPr>
          <a:xfrm>
            <a:off x="687238" y="1308987"/>
            <a:ext cx="10981945" cy="8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365760" marR="0" indent="-36576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✦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marL="0" indent="0" algn="ctr">
              <a:lnSpc>
                <a:spcPct val="120000"/>
              </a:lnSpc>
              <a:buFontTx/>
              <a:buNone/>
            </a:pPr>
            <a:r>
              <a:rPr lang="en-US" dirty="0"/>
              <a:t>We introduce </a:t>
            </a:r>
            <a:r>
              <a:rPr lang="en-US" b="1" i="1" dirty="0">
                <a:solidFill>
                  <a:srgbClr val="FF0000"/>
                </a:solidFill>
              </a:rPr>
              <a:t>Burst-MAC</a:t>
            </a:r>
            <a:r>
              <a:rPr lang="en-US" dirty="0"/>
              <a:t>, a low-overhead and bounded latency MAC protocol for LoRa networks to handle burst traffic.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Diagram of a wireless network&#10;&#10;Description automatically generated">
            <a:extLst>
              <a:ext uri="{FF2B5EF4-FFF2-40B4-BE49-F238E27FC236}">
                <a16:creationId xmlns:a16="http://schemas.microsoft.com/office/drawing/2014/main" id="{47139CD9-10F0-9893-8ADD-77EC1D099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90"/>
          <a:stretch/>
        </p:blipFill>
        <p:spPr>
          <a:xfrm>
            <a:off x="6757559" y="2265858"/>
            <a:ext cx="5121862" cy="36187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3ABB2B-8986-209D-19C0-000B8932D7BC}"/>
              </a:ext>
            </a:extLst>
          </p:cNvPr>
          <p:cNvSpPr txBox="1"/>
          <p:nvPr/>
        </p:nvSpPr>
        <p:spPr>
          <a:xfrm>
            <a:off x="7109694" y="5908093"/>
            <a:ext cx="4272117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effectLst/>
                <a:latin typeface="Helvetica Neue" panose="02000503000000020004" pitchFamily="2" charset="0"/>
              </a:rPr>
              <a:t>Fig: Nodes in the effected area undergo burst and switch to Burst-MAC. Nodes in non-effected areas work in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effectLst/>
                <a:latin typeface="Helvetica Neue" panose="02000503000000020004" pitchFamily="2" charset="0"/>
              </a:rPr>
              <a:t>LoRaWAN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effectLst/>
                <a:latin typeface="Helvetica Neue" panose="02000503000000020004" pitchFamily="2" charset="0"/>
              </a:rPr>
              <a:t> mode.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9286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"/>
          <p:cNvSpPr/>
          <p:nvPr/>
        </p:nvSpPr>
        <p:spPr>
          <a:xfrm>
            <a:off x="7727100" y="2368552"/>
            <a:ext cx="1451745" cy="9316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solidFill>
            <a:srgbClr val="8FB9D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55" name="Shape"/>
          <p:cNvSpPr/>
          <p:nvPr/>
        </p:nvSpPr>
        <p:spPr>
          <a:xfrm>
            <a:off x="6657961" y="2672878"/>
            <a:ext cx="749553" cy="6184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solidFill>
            <a:srgbClr val="103778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56" name="Shape"/>
          <p:cNvSpPr/>
          <p:nvPr/>
        </p:nvSpPr>
        <p:spPr>
          <a:xfrm>
            <a:off x="5790094" y="2938958"/>
            <a:ext cx="370011" cy="343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72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8627" y="0"/>
                </a:lnTo>
                <a:lnTo>
                  <a:pt x="2972" y="0"/>
                </a:lnTo>
                <a:close/>
              </a:path>
            </a:pathLst>
          </a:custGeom>
          <a:solidFill>
            <a:srgbClr val="6CA8B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57" name="LoRa provides diverse and flexible logical channels for"/>
          <p:cNvSpPr txBox="1">
            <a:spLocks noGrp="1"/>
          </p:cNvSpPr>
          <p:nvPr>
            <p:ph type="body" idx="1"/>
          </p:nvPr>
        </p:nvSpPr>
        <p:spPr>
          <a:xfrm>
            <a:off x="576885" y="1515132"/>
            <a:ext cx="11295721" cy="131839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dirty="0"/>
              <a:t>Exploits </a:t>
            </a:r>
            <a:r>
              <a:rPr lang="en-US" b="1" dirty="0"/>
              <a:t>parallel packet reception </a:t>
            </a:r>
            <a:r>
              <a:rPr lang="en-US" dirty="0"/>
              <a:t>capability of LoRa gateway by using </a:t>
            </a:r>
            <a:r>
              <a:rPr lang="en-US" i="1" dirty="0"/>
              <a:t>Orthogonal </a:t>
            </a:r>
            <a:r>
              <a:rPr lang="en-US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Virtual</a:t>
            </a:r>
            <a:r>
              <a:rPr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C</a:t>
            </a:r>
            <a:r>
              <a:rPr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hannels</a:t>
            </a:r>
            <a:r>
              <a:rPr lang="en-US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(VC).</a:t>
            </a:r>
          </a:p>
        </p:txBody>
      </p:sp>
      <p:sp>
        <p:nvSpPr>
          <p:cNvPr id="160" name="Logical Channel"/>
          <p:cNvSpPr txBox="1">
            <a:spLocks noGrp="1"/>
          </p:cNvSpPr>
          <p:nvPr>
            <p:ph type="body" sz="quarter" idx="22"/>
          </p:nvPr>
        </p:nvSpPr>
        <p:spPr>
          <a:xfrm>
            <a:off x="4839246" y="468991"/>
            <a:ext cx="2513510" cy="65659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Burst-MAC</a:t>
            </a:r>
          </a:p>
        </p:txBody>
      </p:sp>
      <p:sp>
        <p:nvSpPr>
          <p:cNvPr id="161" name="Line"/>
          <p:cNvSpPr/>
          <p:nvPr/>
        </p:nvSpPr>
        <p:spPr>
          <a:xfrm>
            <a:off x="4981377" y="3277004"/>
            <a:ext cx="425948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1200"/>
          </a:p>
        </p:txBody>
      </p:sp>
      <p:sp>
        <p:nvSpPr>
          <p:cNvPr id="162" name="frequency"/>
          <p:cNvSpPr txBox="1"/>
          <p:nvPr/>
        </p:nvSpPr>
        <p:spPr>
          <a:xfrm>
            <a:off x="9122621" y="3078627"/>
            <a:ext cx="997518" cy="389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defRPr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600" dirty="0"/>
              <a:t>frequency</a:t>
            </a:r>
          </a:p>
        </p:txBody>
      </p:sp>
      <p:sp>
        <p:nvSpPr>
          <p:cNvPr id="163" name="125"/>
          <p:cNvSpPr txBox="1"/>
          <p:nvPr/>
        </p:nvSpPr>
        <p:spPr>
          <a:xfrm>
            <a:off x="5594168" y="2611122"/>
            <a:ext cx="749554" cy="25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defRPr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600" dirty="0"/>
              <a:t>125</a:t>
            </a:r>
          </a:p>
        </p:txBody>
      </p:sp>
      <p:sp>
        <p:nvSpPr>
          <p:cNvPr id="164" name="250"/>
          <p:cNvSpPr txBox="1"/>
          <p:nvPr/>
        </p:nvSpPr>
        <p:spPr>
          <a:xfrm>
            <a:off x="6715537" y="2382017"/>
            <a:ext cx="749553" cy="25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defRPr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600" dirty="0"/>
              <a:t>250</a:t>
            </a:r>
          </a:p>
        </p:txBody>
      </p:sp>
      <p:sp>
        <p:nvSpPr>
          <p:cNvPr id="165" name="500 kHz"/>
          <p:cNvSpPr txBox="1"/>
          <p:nvPr/>
        </p:nvSpPr>
        <p:spPr>
          <a:xfrm>
            <a:off x="8027883" y="2097165"/>
            <a:ext cx="890496" cy="25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defRPr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1600" dirty="0"/>
              <a:t>500 kHz</a:t>
            </a:r>
          </a:p>
        </p:txBody>
      </p:sp>
      <p:sp>
        <p:nvSpPr>
          <p:cNvPr id="166" name="Line"/>
          <p:cNvSpPr/>
          <p:nvPr/>
        </p:nvSpPr>
        <p:spPr>
          <a:xfrm>
            <a:off x="5837165" y="2889265"/>
            <a:ext cx="2799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25400" tIns="25400" rIns="25400" bIns="25400" anchor="ctr"/>
          <a:lstStyle/>
          <a:p>
            <a:endParaRPr sz="1200"/>
          </a:p>
        </p:txBody>
      </p:sp>
      <p:sp>
        <p:nvSpPr>
          <p:cNvPr id="167" name="Line"/>
          <p:cNvSpPr/>
          <p:nvPr/>
        </p:nvSpPr>
        <p:spPr>
          <a:xfrm>
            <a:off x="6809351" y="2645801"/>
            <a:ext cx="52078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25400" tIns="25400" rIns="25400" bIns="25400" anchor="ctr"/>
          <a:lstStyle/>
          <a:p>
            <a:endParaRPr sz="1200"/>
          </a:p>
        </p:txBody>
      </p:sp>
      <p:sp>
        <p:nvSpPr>
          <p:cNvPr id="168" name="Line"/>
          <p:cNvSpPr/>
          <p:nvPr/>
        </p:nvSpPr>
        <p:spPr>
          <a:xfrm>
            <a:off x="7933980" y="2357715"/>
            <a:ext cx="106571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25400" tIns="25400" rIns="25400" bIns="25400" anchor="ctr"/>
          <a:lstStyle/>
          <a:p>
            <a:endParaRPr sz="1200"/>
          </a:p>
        </p:txBody>
      </p:sp>
      <p:grpSp>
        <p:nvGrpSpPr>
          <p:cNvPr id="171" name="Group"/>
          <p:cNvGrpSpPr/>
          <p:nvPr/>
        </p:nvGrpSpPr>
        <p:grpSpPr>
          <a:xfrm>
            <a:off x="2100869" y="2766727"/>
            <a:ext cx="2363056" cy="843122"/>
            <a:chOff x="0" y="0"/>
            <a:chExt cx="4200770" cy="1685373"/>
          </a:xfrm>
        </p:grpSpPr>
        <p:sp>
          <p:nvSpPr>
            <p:cNvPr id="169" name="Bandwidth…"/>
            <p:cNvSpPr txBox="1"/>
            <p:nvPr/>
          </p:nvSpPr>
          <p:spPr>
            <a:xfrm>
              <a:off x="85302" y="209668"/>
              <a:ext cx="4030165" cy="1266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/>
            <a:p>
              <a:pPr>
                <a:defRPr sz="4000" b="1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/>
                <a:t>Bandwidth</a:t>
              </a:r>
            </a:p>
            <a:p>
              <a:pPr>
                <a:defRPr sz="4000" b="1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/>
                <a:t>(BW)</a:t>
              </a:r>
            </a:p>
          </p:txBody>
        </p:sp>
        <p:sp>
          <p:nvSpPr>
            <p:cNvPr id="170" name="Rounded Rectangle"/>
            <p:cNvSpPr/>
            <p:nvPr/>
          </p:nvSpPr>
          <p:spPr>
            <a:xfrm>
              <a:off x="0" y="0"/>
              <a:ext cx="4200770" cy="1685373"/>
            </a:xfrm>
            <a:prstGeom prst="roundRect">
              <a:avLst>
                <a:gd name="adj" fmla="val 15000"/>
              </a:avLst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174" name="Group"/>
          <p:cNvGrpSpPr/>
          <p:nvPr/>
        </p:nvGrpSpPr>
        <p:grpSpPr>
          <a:xfrm>
            <a:off x="2114369" y="3863060"/>
            <a:ext cx="2337866" cy="924228"/>
            <a:chOff x="0" y="0"/>
            <a:chExt cx="4200768" cy="1685371"/>
          </a:xfrm>
        </p:grpSpPr>
        <p:sp>
          <p:nvSpPr>
            <p:cNvPr id="172" name="Spreading Factor (SF)"/>
            <p:cNvSpPr txBox="1"/>
            <p:nvPr/>
          </p:nvSpPr>
          <p:spPr>
            <a:xfrm>
              <a:off x="48775" y="209668"/>
              <a:ext cx="4103219" cy="1266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 b="1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000"/>
                <a:t>Spreading Factor (SF)</a:t>
              </a:r>
            </a:p>
          </p:txBody>
        </p:sp>
        <p:sp>
          <p:nvSpPr>
            <p:cNvPr id="173" name="Rounded Rectangle"/>
            <p:cNvSpPr/>
            <p:nvPr/>
          </p:nvSpPr>
          <p:spPr>
            <a:xfrm>
              <a:off x="0" y="0"/>
              <a:ext cx="4200769" cy="1685372"/>
            </a:xfrm>
            <a:prstGeom prst="roundRect">
              <a:avLst>
                <a:gd name="adj" fmla="val 15000"/>
              </a:avLst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193" name="Group"/>
          <p:cNvGrpSpPr/>
          <p:nvPr/>
        </p:nvGrpSpPr>
        <p:grpSpPr>
          <a:xfrm>
            <a:off x="7352756" y="3429000"/>
            <a:ext cx="3157661" cy="1826620"/>
            <a:chOff x="0" y="0"/>
            <a:chExt cx="5673809" cy="3330921"/>
          </a:xfrm>
        </p:grpSpPr>
        <p:sp>
          <p:nvSpPr>
            <p:cNvPr id="176" name="Line"/>
            <p:cNvSpPr/>
            <p:nvPr/>
          </p:nvSpPr>
          <p:spPr>
            <a:xfrm flipV="1">
              <a:off x="15944" y="559903"/>
              <a:ext cx="1" cy="202901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grpSp>
          <p:nvGrpSpPr>
            <p:cNvPr id="192" name="Group"/>
            <p:cNvGrpSpPr/>
            <p:nvPr/>
          </p:nvGrpSpPr>
          <p:grpSpPr>
            <a:xfrm>
              <a:off x="-1" y="0"/>
              <a:ext cx="5673811" cy="3330922"/>
              <a:chOff x="0" y="0"/>
              <a:chExt cx="5673809" cy="3330921"/>
            </a:xfrm>
          </p:grpSpPr>
          <p:sp>
            <p:nvSpPr>
              <p:cNvPr id="177" name="Line"/>
              <p:cNvSpPr/>
              <p:nvPr/>
            </p:nvSpPr>
            <p:spPr>
              <a:xfrm flipV="1">
                <a:off x="76911" y="957079"/>
                <a:ext cx="3984402" cy="1605277"/>
              </a:xfrm>
              <a:prstGeom prst="line">
                <a:avLst/>
              </a:prstGeom>
              <a:noFill/>
              <a:ln w="63500" cap="flat">
                <a:solidFill>
                  <a:srgbClr val="5E5E5E"/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78" name="time"/>
              <p:cNvSpPr txBox="1"/>
              <p:nvPr/>
            </p:nvSpPr>
            <p:spPr>
              <a:xfrm>
                <a:off x="3482567" y="2396142"/>
                <a:ext cx="2191243" cy="9347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5400" tIns="25400" rIns="25400" bIns="25400" numCol="1" anchor="ctr">
                <a:noAutofit/>
              </a:bodyPr>
              <a:lstStyle>
                <a:lvl1pPr>
                  <a:defRPr sz="40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rPr sz="2000"/>
                  <a:t>time</a:t>
                </a:r>
              </a:p>
            </p:txBody>
          </p:sp>
          <p:sp>
            <p:nvSpPr>
              <p:cNvPr id="179" name="frequency"/>
              <p:cNvSpPr txBox="1"/>
              <p:nvPr/>
            </p:nvSpPr>
            <p:spPr>
              <a:xfrm>
                <a:off x="158301" y="0"/>
                <a:ext cx="2191243" cy="9347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25400" tIns="25400" rIns="25400" bIns="25400" numCol="1" anchor="ctr">
                <a:noAutofit/>
              </a:bodyPr>
              <a:lstStyle>
                <a:lvl1pPr>
                  <a:defRPr sz="40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rPr sz="2000"/>
                  <a:t>frequency</a:t>
                </a:r>
              </a:p>
            </p:txBody>
          </p:sp>
          <p:sp>
            <p:nvSpPr>
              <p:cNvPr id="180" name="Line"/>
              <p:cNvSpPr/>
              <p:nvPr/>
            </p:nvSpPr>
            <p:spPr>
              <a:xfrm flipV="1">
                <a:off x="1074912" y="890072"/>
                <a:ext cx="1" cy="1698850"/>
              </a:xfrm>
              <a:prstGeom prst="line">
                <a:avLst/>
              </a:prstGeom>
              <a:noFill/>
              <a:ln w="38100" cap="flat">
                <a:solidFill>
                  <a:srgbClr val="D5D5D5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1" name="Line"/>
              <p:cNvSpPr/>
              <p:nvPr/>
            </p:nvSpPr>
            <p:spPr>
              <a:xfrm flipV="1">
                <a:off x="2069112" y="890072"/>
                <a:ext cx="1" cy="1698850"/>
              </a:xfrm>
              <a:prstGeom prst="line">
                <a:avLst/>
              </a:prstGeom>
              <a:noFill/>
              <a:ln w="38100" cap="flat">
                <a:solidFill>
                  <a:srgbClr val="D5D5D5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2" name="Line"/>
              <p:cNvSpPr/>
              <p:nvPr/>
            </p:nvSpPr>
            <p:spPr>
              <a:xfrm flipV="1">
                <a:off x="3063310" y="890072"/>
                <a:ext cx="1" cy="1698850"/>
              </a:xfrm>
              <a:prstGeom prst="line">
                <a:avLst/>
              </a:prstGeom>
              <a:noFill/>
              <a:ln w="38100" cap="flat">
                <a:solidFill>
                  <a:srgbClr val="D5D5D5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3" name="Line"/>
              <p:cNvSpPr/>
              <p:nvPr/>
            </p:nvSpPr>
            <p:spPr>
              <a:xfrm flipV="1">
                <a:off x="4057510" y="890072"/>
                <a:ext cx="1" cy="1698850"/>
              </a:xfrm>
              <a:prstGeom prst="line">
                <a:avLst/>
              </a:prstGeom>
              <a:noFill/>
              <a:ln w="38100" cap="flat">
                <a:solidFill>
                  <a:srgbClr val="D5D5D5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4" name="Line"/>
              <p:cNvSpPr/>
              <p:nvPr/>
            </p:nvSpPr>
            <p:spPr>
              <a:xfrm>
                <a:off x="0" y="2579112"/>
                <a:ext cx="4684956" cy="1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5" name="Line"/>
              <p:cNvSpPr/>
              <p:nvPr/>
            </p:nvSpPr>
            <p:spPr>
              <a:xfrm>
                <a:off x="80714" y="914113"/>
                <a:ext cx="3976797" cy="1"/>
              </a:xfrm>
              <a:prstGeom prst="line">
                <a:avLst/>
              </a:prstGeom>
              <a:noFill/>
              <a:ln w="38100" cap="flat">
                <a:solidFill>
                  <a:srgbClr val="D5D5D5"/>
                </a:solidFill>
                <a:custDash>
                  <a:ds d="200000" sp="200000"/>
                </a:custDash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6" name="Line"/>
              <p:cNvSpPr/>
              <p:nvPr/>
            </p:nvSpPr>
            <p:spPr>
              <a:xfrm flipV="1">
                <a:off x="34183" y="914128"/>
                <a:ext cx="1007063" cy="1650738"/>
              </a:xfrm>
              <a:prstGeom prst="line">
                <a:avLst/>
              </a:prstGeom>
              <a:noFill/>
              <a:ln w="63500" cap="flat">
                <a:solidFill>
                  <a:srgbClr val="0000F5"/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7" name="Line"/>
              <p:cNvSpPr/>
              <p:nvPr/>
            </p:nvSpPr>
            <p:spPr>
              <a:xfrm flipV="1">
                <a:off x="1079395" y="914128"/>
                <a:ext cx="1007063" cy="1650738"/>
              </a:xfrm>
              <a:prstGeom prst="line">
                <a:avLst/>
              </a:prstGeom>
              <a:noFill/>
              <a:ln w="63500" cap="flat">
                <a:solidFill>
                  <a:srgbClr val="0000F5"/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8" name="Line"/>
              <p:cNvSpPr/>
              <p:nvPr/>
            </p:nvSpPr>
            <p:spPr>
              <a:xfrm flipV="1">
                <a:off x="2054545" y="934348"/>
                <a:ext cx="1007063" cy="1650739"/>
              </a:xfrm>
              <a:prstGeom prst="line">
                <a:avLst/>
              </a:prstGeom>
              <a:noFill/>
              <a:ln w="63500" cap="flat">
                <a:solidFill>
                  <a:srgbClr val="0000F5"/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89" name="Line"/>
              <p:cNvSpPr/>
              <p:nvPr/>
            </p:nvSpPr>
            <p:spPr>
              <a:xfrm flipV="1">
                <a:off x="3061443" y="914128"/>
                <a:ext cx="1007063" cy="1650738"/>
              </a:xfrm>
              <a:prstGeom prst="line">
                <a:avLst/>
              </a:prstGeom>
              <a:noFill/>
              <a:ln w="63500" cap="flat">
                <a:solidFill>
                  <a:srgbClr val="0000F5"/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90" name="Line"/>
              <p:cNvSpPr/>
              <p:nvPr/>
            </p:nvSpPr>
            <p:spPr>
              <a:xfrm flipV="1">
                <a:off x="39218" y="937187"/>
                <a:ext cx="2020591" cy="1630019"/>
              </a:xfrm>
              <a:prstGeom prst="line">
                <a:avLst/>
              </a:prstGeom>
              <a:noFill/>
              <a:ln w="635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191" name="Line"/>
              <p:cNvSpPr/>
              <p:nvPr/>
            </p:nvSpPr>
            <p:spPr>
              <a:xfrm flipV="1">
                <a:off x="2047375" y="944708"/>
                <a:ext cx="2020591" cy="1630019"/>
              </a:xfrm>
              <a:prstGeom prst="line">
                <a:avLst/>
              </a:prstGeom>
              <a:noFill/>
              <a:ln w="635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endParaRPr sz="1200"/>
              </a:p>
            </p:txBody>
          </p:sp>
        </p:grpSp>
      </p:grpSp>
      <p:grpSp>
        <p:nvGrpSpPr>
          <p:cNvPr id="202" name="Group"/>
          <p:cNvGrpSpPr/>
          <p:nvPr/>
        </p:nvGrpSpPr>
        <p:grpSpPr>
          <a:xfrm>
            <a:off x="5583549" y="3575479"/>
            <a:ext cx="1649585" cy="1511673"/>
            <a:chOff x="0" y="0"/>
            <a:chExt cx="2964038" cy="2756603"/>
          </a:xfrm>
        </p:grpSpPr>
        <p:sp>
          <p:nvSpPr>
            <p:cNvPr id="194" name="Rectangle"/>
            <p:cNvSpPr/>
            <p:nvPr/>
          </p:nvSpPr>
          <p:spPr>
            <a:xfrm>
              <a:off x="0" y="111701"/>
              <a:ext cx="2824679" cy="2644903"/>
            </a:xfrm>
            <a:prstGeom prst="roundRect">
              <a:avLst>
                <a:gd name="adj" fmla="val 0"/>
              </a:avLst>
            </a:prstGeom>
            <a:solidFill>
              <a:srgbClr val="D5D5D5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1200"/>
            </a:p>
          </p:txBody>
        </p:sp>
        <p:sp>
          <p:nvSpPr>
            <p:cNvPr id="195" name="Line"/>
            <p:cNvSpPr/>
            <p:nvPr/>
          </p:nvSpPr>
          <p:spPr>
            <a:xfrm>
              <a:off x="388765" y="500515"/>
              <a:ext cx="615028" cy="1"/>
            </a:xfrm>
            <a:prstGeom prst="line">
              <a:avLst/>
            </a:prstGeom>
            <a:noFill/>
            <a:ln w="63500" cap="flat">
              <a:solidFill>
                <a:srgbClr val="0000F5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196" name="Line"/>
            <p:cNvSpPr/>
            <p:nvPr/>
          </p:nvSpPr>
          <p:spPr>
            <a:xfrm>
              <a:off x="388765" y="1108651"/>
              <a:ext cx="615028" cy="1"/>
            </a:xfrm>
            <a:prstGeom prst="line">
              <a:avLst/>
            </a:prstGeom>
            <a:noFill/>
            <a:ln w="63500" cap="flat">
              <a:solidFill>
                <a:schemeClr val="accent5">
                  <a:lumOff val="-29866"/>
                </a:schemeClr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197" name="Line"/>
            <p:cNvSpPr/>
            <p:nvPr/>
          </p:nvSpPr>
          <p:spPr>
            <a:xfrm>
              <a:off x="388765" y="1781175"/>
              <a:ext cx="615028" cy="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198" name="SF6"/>
            <p:cNvSpPr txBox="1"/>
            <p:nvPr/>
          </p:nvSpPr>
          <p:spPr>
            <a:xfrm>
              <a:off x="772796" y="0"/>
              <a:ext cx="2191243" cy="9347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2000" dirty="0"/>
                <a:t>SF</a:t>
              </a:r>
              <a:r>
                <a:rPr lang="en-US" sz="2000" dirty="0"/>
                <a:t>7</a:t>
              </a:r>
              <a:endParaRPr sz="2000" dirty="0"/>
            </a:p>
          </p:txBody>
        </p:sp>
        <p:sp>
          <p:nvSpPr>
            <p:cNvPr id="199" name="SF7"/>
            <p:cNvSpPr txBox="1"/>
            <p:nvPr/>
          </p:nvSpPr>
          <p:spPr>
            <a:xfrm>
              <a:off x="772796" y="673455"/>
              <a:ext cx="2191243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2000" dirty="0"/>
                <a:t>SF</a:t>
              </a:r>
              <a:r>
                <a:rPr lang="en-US" sz="2000" dirty="0"/>
                <a:t>8</a:t>
              </a:r>
              <a:endParaRPr sz="2000" dirty="0"/>
            </a:p>
          </p:txBody>
        </p:sp>
        <p:sp>
          <p:nvSpPr>
            <p:cNvPr id="200" name="SF8"/>
            <p:cNvSpPr txBox="1"/>
            <p:nvPr/>
          </p:nvSpPr>
          <p:spPr>
            <a:xfrm>
              <a:off x="772796" y="1313786"/>
              <a:ext cx="2191243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2000" dirty="0"/>
                <a:t>SF</a:t>
              </a:r>
              <a:r>
                <a:rPr lang="en-US" sz="2000" dirty="0"/>
                <a:t>9</a:t>
              </a:r>
              <a:endParaRPr sz="2000" dirty="0"/>
            </a:p>
          </p:txBody>
        </p:sp>
        <p:sp>
          <p:nvSpPr>
            <p:cNvPr id="201" name="…"/>
            <p:cNvSpPr txBox="1"/>
            <p:nvPr/>
          </p:nvSpPr>
          <p:spPr>
            <a:xfrm>
              <a:off x="316717" y="1812925"/>
              <a:ext cx="2191243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200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&lt;Central Frequency, Bandwidth, Spreading Factor&gt;   logical channel"/>
              <p:cNvSpPr txBox="1"/>
              <p:nvPr/>
            </p:nvSpPr>
            <p:spPr>
              <a:xfrm>
                <a:off x="1591491" y="5215590"/>
                <a:ext cx="11540275" cy="4673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22860" rIns="22860">
                <a:noAutofit/>
              </a:bodyPr>
              <a:lstStyle/>
              <a:p>
                <a:pPr algn="l" defTabSz="412750">
                  <a:defRPr sz="48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1800" dirty="0"/>
                  <a:t>&lt;</a:t>
                </a:r>
                <a:r>
                  <a:rPr lang="en-US" sz="1800" dirty="0"/>
                  <a:t>Physical Channel (</a:t>
                </a:r>
                <a:r>
                  <a:rPr sz="1800" dirty="0"/>
                  <a:t>Central Frequency, Bandwidth</a:t>
                </a:r>
                <a:r>
                  <a:rPr lang="en-US" sz="1800" dirty="0"/>
                  <a:t>),</a:t>
                </a:r>
                <a:r>
                  <a:rPr sz="1800" dirty="0"/>
                  <a:t> Spreading Factor&gt; </a:t>
                </a:r>
                <a14:m>
                  <m:oMath xmlns:m="http://schemas.openxmlformats.org/officeDocument/2006/math">
                    <m:r>
                      <a:rPr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800" dirty="0"/>
                  <a:t> </a:t>
                </a:r>
                <a:r>
                  <a:rPr lang="en-US" sz="1800" dirty="0"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rPr>
                  <a:t>Virtual</a:t>
                </a:r>
                <a:r>
                  <a:rPr sz="1800" dirty="0"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rPr>
                  <a:t> channel</a:t>
                </a:r>
              </a:p>
            </p:txBody>
          </p:sp>
        </mc:Choice>
        <mc:Fallback xmlns="">
          <p:sp>
            <p:nvSpPr>
              <p:cNvPr id="204" name="&lt;Central Frequency, Bandwidth, Spreading Factor&gt;   logical channe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491" y="5215590"/>
                <a:ext cx="11540275" cy="467390"/>
              </a:xfrm>
              <a:prstGeom prst="rect">
                <a:avLst/>
              </a:prstGeom>
              <a:blipFill>
                <a:blip r:embed="rId3"/>
                <a:stretch>
                  <a:fillRect l="-1100" t="-526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B60692-A3CF-7FA3-5544-62C57167D50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A124B-23E3-55E3-5857-3F5F26A8E6C2}"/>
              </a:ext>
            </a:extLst>
          </p:cNvPr>
          <p:cNvSpPr txBox="1"/>
          <p:nvPr/>
        </p:nvSpPr>
        <p:spPr>
          <a:xfrm>
            <a:off x="4645282" y="5528254"/>
            <a:ext cx="290143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e.g., &lt;Ch 1, SF 7&gt; -&gt; VC 1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        &lt;Ch 1, SF 8&gt; -&gt; VC 2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&lt;C</a:t>
            </a:r>
            <a:r>
              <a:rPr lang="en-US" sz="1800" dirty="0"/>
              <a:t>h 4, SF 9&gt; -&gt; VC 3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Word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2647643" y="62003"/>
            <a:ext cx="6452087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Determining the Start of Burst Traffic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69999-2644-BE89-5FDA-7316E9D9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12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A2605-DF01-B25B-1C5E-576B5454FC68}"/>
              </a:ext>
            </a:extLst>
          </p:cNvPr>
          <p:cNvSpPr txBox="1"/>
          <p:nvPr/>
        </p:nvSpPr>
        <p:spPr>
          <a:xfrm>
            <a:off x="2042943" y="3480009"/>
            <a:ext cx="102657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" name="Radio Tower">
            <a:extLst>
              <a:ext uri="{FF2B5EF4-FFF2-40B4-BE49-F238E27FC236}">
                <a16:creationId xmlns:a16="http://schemas.microsoft.com/office/drawing/2014/main" id="{F42B2737-D57C-D291-2769-BD3EA90AD816}"/>
              </a:ext>
            </a:extLst>
          </p:cNvPr>
          <p:cNvSpPr/>
          <p:nvPr/>
        </p:nvSpPr>
        <p:spPr>
          <a:xfrm>
            <a:off x="5155360" y="2001267"/>
            <a:ext cx="1117197" cy="1362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9" y="0"/>
                </a:moveTo>
                <a:cubicBezTo>
                  <a:pt x="4844" y="0"/>
                  <a:pt x="0" y="3364"/>
                  <a:pt x="0" y="7498"/>
                </a:cubicBezTo>
                <a:cubicBezTo>
                  <a:pt x="0" y="10532"/>
                  <a:pt x="2679" y="13248"/>
                  <a:pt x="6711" y="14418"/>
                </a:cubicBezTo>
                <a:lnTo>
                  <a:pt x="6905" y="13852"/>
                </a:lnTo>
                <a:cubicBezTo>
                  <a:pt x="3202" y="12777"/>
                  <a:pt x="881" y="10284"/>
                  <a:pt x="881" y="7498"/>
                </a:cubicBezTo>
                <a:cubicBezTo>
                  <a:pt x="881" y="3702"/>
                  <a:pt x="5330" y="613"/>
                  <a:pt x="10799" y="613"/>
                </a:cubicBezTo>
                <a:cubicBezTo>
                  <a:pt x="16267" y="613"/>
                  <a:pt x="20717" y="3702"/>
                  <a:pt x="20717" y="7498"/>
                </a:cubicBezTo>
                <a:cubicBezTo>
                  <a:pt x="20717" y="10294"/>
                  <a:pt x="18385" y="12790"/>
                  <a:pt x="14664" y="13860"/>
                </a:cubicBezTo>
                <a:lnTo>
                  <a:pt x="14855" y="14426"/>
                </a:lnTo>
                <a:cubicBezTo>
                  <a:pt x="18907" y="13261"/>
                  <a:pt x="21600" y="10542"/>
                  <a:pt x="21600" y="7498"/>
                </a:cubicBezTo>
                <a:cubicBezTo>
                  <a:pt x="21600" y="3364"/>
                  <a:pt x="16754" y="0"/>
                  <a:pt x="10799" y="0"/>
                </a:cubicBezTo>
                <a:close/>
                <a:moveTo>
                  <a:pt x="10782" y="2273"/>
                </a:moveTo>
                <a:cubicBezTo>
                  <a:pt x="6615" y="2273"/>
                  <a:pt x="3224" y="4625"/>
                  <a:pt x="3224" y="7518"/>
                </a:cubicBezTo>
                <a:cubicBezTo>
                  <a:pt x="3224" y="9596"/>
                  <a:pt x="4974" y="11397"/>
                  <a:pt x="7505" y="12246"/>
                </a:cubicBezTo>
                <a:lnTo>
                  <a:pt x="7730" y="11636"/>
                </a:lnTo>
                <a:cubicBezTo>
                  <a:pt x="5583" y="10866"/>
                  <a:pt x="4112" y="9308"/>
                  <a:pt x="4112" y="7518"/>
                </a:cubicBezTo>
                <a:cubicBezTo>
                  <a:pt x="4112" y="4965"/>
                  <a:pt x="7104" y="2890"/>
                  <a:pt x="10782" y="2890"/>
                </a:cubicBezTo>
                <a:cubicBezTo>
                  <a:pt x="14459" y="2890"/>
                  <a:pt x="17452" y="4965"/>
                  <a:pt x="17452" y="7518"/>
                </a:cubicBezTo>
                <a:cubicBezTo>
                  <a:pt x="17452" y="9308"/>
                  <a:pt x="15979" y="10866"/>
                  <a:pt x="13831" y="11636"/>
                </a:cubicBezTo>
                <a:lnTo>
                  <a:pt x="14059" y="12246"/>
                </a:lnTo>
                <a:cubicBezTo>
                  <a:pt x="16590" y="11397"/>
                  <a:pt x="18340" y="9596"/>
                  <a:pt x="18340" y="7518"/>
                </a:cubicBezTo>
                <a:cubicBezTo>
                  <a:pt x="18340" y="4625"/>
                  <a:pt x="14949" y="2273"/>
                  <a:pt x="10782" y="2273"/>
                </a:cubicBezTo>
                <a:close/>
                <a:moveTo>
                  <a:pt x="10782" y="4513"/>
                </a:moveTo>
                <a:cubicBezTo>
                  <a:pt x="8395" y="4513"/>
                  <a:pt x="6452" y="5861"/>
                  <a:pt x="6452" y="7518"/>
                </a:cubicBezTo>
                <a:cubicBezTo>
                  <a:pt x="6452" y="8546"/>
                  <a:pt x="7201" y="9456"/>
                  <a:pt x="8337" y="9998"/>
                </a:cubicBezTo>
                <a:lnTo>
                  <a:pt x="8575" y="9351"/>
                </a:lnTo>
                <a:cubicBezTo>
                  <a:pt x="7820" y="8912"/>
                  <a:pt x="7340" y="8253"/>
                  <a:pt x="7340" y="7518"/>
                </a:cubicBezTo>
                <a:cubicBezTo>
                  <a:pt x="7340" y="6201"/>
                  <a:pt x="8884" y="5129"/>
                  <a:pt x="10782" y="5129"/>
                </a:cubicBezTo>
                <a:cubicBezTo>
                  <a:pt x="12680" y="5129"/>
                  <a:pt x="14223" y="6201"/>
                  <a:pt x="14223" y="7518"/>
                </a:cubicBezTo>
                <a:cubicBezTo>
                  <a:pt x="14223" y="8253"/>
                  <a:pt x="13743" y="8912"/>
                  <a:pt x="12989" y="9351"/>
                </a:cubicBezTo>
                <a:lnTo>
                  <a:pt x="13226" y="9996"/>
                </a:lnTo>
                <a:cubicBezTo>
                  <a:pt x="14363" y="9454"/>
                  <a:pt x="15112" y="8546"/>
                  <a:pt x="15112" y="7518"/>
                </a:cubicBezTo>
                <a:cubicBezTo>
                  <a:pt x="15112" y="5861"/>
                  <a:pt x="13169" y="4513"/>
                  <a:pt x="10782" y="4513"/>
                </a:cubicBezTo>
                <a:close/>
                <a:moveTo>
                  <a:pt x="10782" y="6734"/>
                </a:moveTo>
                <a:cubicBezTo>
                  <a:pt x="10157" y="6734"/>
                  <a:pt x="9652" y="7085"/>
                  <a:pt x="9652" y="7518"/>
                </a:cubicBezTo>
                <a:cubicBezTo>
                  <a:pt x="9652" y="7780"/>
                  <a:pt x="9837" y="8012"/>
                  <a:pt x="10121" y="8155"/>
                </a:cubicBezTo>
                <a:lnTo>
                  <a:pt x="5153" y="21600"/>
                </a:lnTo>
                <a:lnTo>
                  <a:pt x="6317" y="21600"/>
                </a:lnTo>
                <a:lnTo>
                  <a:pt x="10782" y="19994"/>
                </a:lnTo>
                <a:lnTo>
                  <a:pt x="15247" y="21600"/>
                </a:lnTo>
                <a:lnTo>
                  <a:pt x="16411" y="21600"/>
                </a:lnTo>
                <a:lnTo>
                  <a:pt x="11443" y="8155"/>
                </a:lnTo>
                <a:cubicBezTo>
                  <a:pt x="11727" y="8012"/>
                  <a:pt x="11912" y="7780"/>
                  <a:pt x="11912" y="7518"/>
                </a:cubicBezTo>
                <a:cubicBezTo>
                  <a:pt x="11912" y="7085"/>
                  <a:pt x="11406" y="6734"/>
                  <a:pt x="10782" y="6734"/>
                </a:cubicBezTo>
                <a:close/>
                <a:moveTo>
                  <a:pt x="10782" y="9574"/>
                </a:moveTo>
                <a:lnTo>
                  <a:pt x="11648" y="11920"/>
                </a:lnTo>
                <a:lnTo>
                  <a:pt x="9915" y="11920"/>
                </a:lnTo>
                <a:lnTo>
                  <a:pt x="10782" y="9574"/>
                </a:lnTo>
                <a:close/>
                <a:moveTo>
                  <a:pt x="10029" y="12215"/>
                </a:moveTo>
                <a:lnTo>
                  <a:pt x="11532" y="12215"/>
                </a:lnTo>
                <a:lnTo>
                  <a:pt x="10782" y="12891"/>
                </a:lnTo>
                <a:lnTo>
                  <a:pt x="10029" y="12215"/>
                </a:lnTo>
                <a:close/>
                <a:moveTo>
                  <a:pt x="9729" y="12427"/>
                </a:moveTo>
                <a:lnTo>
                  <a:pt x="10513" y="13133"/>
                </a:lnTo>
                <a:lnTo>
                  <a:pt x="8947" y="14541"/>
                </a:lnTo>
                <a:lnTo>
                  <a:pt x="9729" y="12427"/>
                </a:lnTo>
                <a:close/>
                <a:moveTo>
                  <a:pt x="11835" y="12427"/>
                </a:moveTo>
                <a:lnTo>
                  <a:pt x="12616" y="14541"/>
                </a:lnTo>
                <a:lnTo>
                  <a:pt x="11050" y="13133"/>
                </a:lnTo>
                <a:lnTo>
                  <a:pt x="11835" y="12427"/>
                </a:lnTo>
                <a:close/>
                <a:moveTo>
                  <a:pt x="10782" y="13375"/>
                </a:moveTo>
                <a:lnTo>
                  <a:pt x="12568" y="14979"/>
                </a:lnTo>
                <a:lnTo>
                  <a:pt x="8996" y="14979"/>
                </a:lnTo>
                <a:lnTo>
                  <a:pt x="10782" y="13375"/>
                </a:lnTo>
                <a:close/>
                <a:moveTo>
                  <a:pt x="9003" y="15275"/>
                </a:moveTo>
                <a:lnTo>
                  <a:pt x="12561" y="15275"/>
                </a:lnTo>
                <a:lnTo>
                  <a:pt x="10782" y="16237"/>
                </a:lnTo>
                <a:lnTo>
                  <a:pt x="9003" y="15275"/>
                </a:lnTo>
                <a:close/>
                <a:moveTo>
                  <a:pt x="8613" y="15439"/>
                </a:moveTo>
                <a:lnTo>
                  <a:pt x="10436" y="16426"/>
                </a:lnTo>
                <a:lnTo>
                  <a:pt x="7703" y="17904"/>
                </a:lnTo>
                <a:lnTo>
                  <a:pt x="8613" y="15439"/>
                </a:lnTo>
                <a:close/>
                <a:moveTo>
                  <a:pt x="12948" y="15439"/>
                </a:moveTo>
                <a:lnTo>
                  <a:pt x="13860" y="17904"/>
                </a:lnTo>
                <a:lnTo>
                  <a:pt x="11128" y="16426"/>
                </a:lnTo>
                <a:lnTo>
                  <a:pt x="12948" y="15439"/>
                </a:lnTo>
                <a:close/>
                <a:moveTo>
                  <a:pt x="10782" y="16612"/>
                </a:moveTo>
                <a:lnTo>
                  <a:pt x="13785" y="18238"/>
                </a:lnTo>
                <a:lnTo>
                  <a:pt x="7778" y="18238"/>
                </a:lnTo>
                <a:lnTo>
                  <a:pt x="10782" y="16612"/>
                </a:lnTo>
                <a:close/>
                <a:moveTo>
                  <a:pt x="7643" y="18534"/>
                </a:moveTo>
                <a:lnTo>
                  <a:pt x="13921" y="18534"/>
                </a:lnTo>
                <a:lnTo>
                  <a:pt x="10782" y="19661"/>
                </a:lnTo>
                <a:lnTo>
                  <a:pt x="7643" y="18534"/>
                </a:lnTo>
                <a:close/>
                <a:moveTo>
                  <a:pt x="7382" y="18773"/>
                </a:moveTo>
                <a:lnTo>
                  <a:pt x="10320" y="19828"/>
                </a:lnTo>
                <a:lnTo>
                  <a:pt x="6484" y="21207"/>
                </a:lnTo>
                <a:lnTo>
                  <a:pt x="7382" y="18773"/>
                </a:lnTo>
                <a:close/>
                <a:moveTo>
                  <a:pt x="14180" y="18773"/>
                </a:moveTo>
                <a:lnTo>
                  <a:pt x="15080" y="21207"/>
                </a:lnTo>
                <a:lnTo>
                  <a:pt x="11244" y="19828"/>
                </a:lnTo>
                <a:lnTo>
                  <a:pt x="14180" y="18773"/>
                </a:lnTo>
                <a:close/>
              </a:path>
            </a:pathLst>
          </a:custGeom>
          <a:solidFill>
            <a:srgbClr val="B22222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/>
          </a:p>
        </p:txBody>
      </p:sp>
      <p:pic>
        <p:nvPicPr>
          <p:cNvPr id="13" name="图形 9" descr="图形 9">
            <a:extLst>
              <a:ext uri="{FF2B5EF4-FFF2-40B4-BE49-F238E27FC236}">
                <a16:creationId xmlns:a16="http://schemas.microsoft.com/office/drawing/2014/main" id="{CD729055-E1EF-772F-CF2A-6A7851BFB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876" y="4386943"/>
            <a:ext cx="659565" cy="55842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4" name="图形 9" descr="图形 9">
            <a:extLst>
              <a:ext uri="{FF2B5EF4-FFF2-40B4-BE49-F238E27FC236}">
                <a16:creationId xmlns:a16="http://schemas.microsoft.com/office/drawing/2014/main" id="{5ADFEA31-B847-4ACE-9096-4276578D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840" y="4382647"/>
            <a:ext cx="659564" cy="55842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7" name="图形 9" descr="图形 9">
            <a:extLst>
              <a:ext uri="{FF2B5EF4-FFF2-40B4-BE49-F238E27FC236}">
                <a16:creationId xmlns:a16="http://schemas.microsoft.com/office/drawing/2014/main" id="{228860BA-F855-DE36-BC36-3C5FE1E06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004" y="4386943"/>
            <a:ext cx="659565" cy="55842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22" name="图形 9" descr="图形 9">
            <a:extLst>
              <a:ext uri="{FF2B5EF4-FFF2-40B4-BE49-F238E27FC236}">
                <a16:creationId xmlns:a16="http://schemas.microsoft.com/office/drawing/2014/main" id="{64C28B14-C14D-E1F9-781F-1A1365C18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966" y="4386511"/>
            <a:ext cx="659565" cy="55842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25" name="图形 26" descr="图形 26">
            <a:extLst>
              <a:ext uri="{FF2B5EF4-FFF2-40B4-BE49-F238E27FC236}">
                <a16:creationId xmlns:a16="http://schemas.microsoft.com/office/drawing/2014/main" id="{58929546-400C-4573-1FE7-7BA6C71C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38" y="3315846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形 26" descr="图形 26">
            <a:extLst>
              <a:ext uri="{FF2B5EF4-FFF2-40B4-BE49-F238E27FC236}">
                <a16:creationId xmlns:a16="http://schemas.microsoft.com/office/drawing/2014/main" id="{CB7D0C1F-E611-6064-D5EA-6FF3D6D1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625" y="372801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形 26" descr="图形 26">
            <a:extLst>
              <a:ext uri="{FF2B5EF4-FFF2-40B4-BE49-F238E27FC236}">
                <a16:creationId xmlns:a16="http://schemas.microsoft.com/office/drawing/2014/main" id="{C293B51C-591D-E141-A3C7-1715653A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79" y="3468246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形 26" descr="图形 26">
            <a:extLst>
              <a:ext uri="{FF2B5EF4-FFF2-40B4-BE49-F238E27FC236}">
                <a16:creationId xmlns:a16="http://schemas.microsoft.com/office/drawing/2014/main" id="{1774BA0B-3F08-A6B7-F181-F4EE6FF19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253" y="3552323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形 26" descr="图形 26">
            <a:extLst>
              <a:ext uri="{FF2B5EF4-FFF2-40B4-BE49-F238E27FC236}">
                <a16:creationId xmlns:a16="http://schemas.microsoft.com/office/drawing/2014/main" id="{9C6CFC2F-9188-1F06-B7A3-A6C2AE022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200" y="340500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形 26" descr="图形 26">
            <a:extLst>
              <a:ext uri="{FF2B5EF4-FFF2-40B4-BE49-F238E27FC236}">
                <a16:creationId xmlns:a16="http://schemas.microsoft.com/office/drawing/2014/main" id="{AA3509F6-4D5D-3880-0CB2-F1C29D0F8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046" y="4936410"/>
            <a:ext cx="540004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Line">
            <a:extLst>
              <a:ext uri="{FF2B5EF4-FFF2-40B4-BE49-F238E27FC236}">
                <a16:creationId xmlns:a16="http://schemas.microsoft.com/office/drawing/2014/main" id="{0DB514AB-99AE-A8D0-E3AB-F4FF89885C94}"/>
              </a:ext>
            </a:extLst>
          </p:cNvPr>
          <p:cNvSpPr/>
          <p:nvPr/>
        </p:nvSpPr>
        <p:spPr>
          <a:xfrm flipV="1">
            <a:off x="4345035" y="3294357"/>
            <a:ext cx="1117197" cy="1175356"/>
          </a:xfrm>
          <a:prstGeom prst="line">
            <a:avLst/>
          </a:prstGeom>
          <a:noFill/>
          <a:ln w="50800" cap="flat">
            <a:solidFill>
              <a:srgbClr val="B22222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1200"/>
          </a:p>
        </p:txBody>
      </p:sp>
      <p:sp>
        <p:nvSpPr>
          <p:cNvPr id="77" name="Line">
            <a:extLst>
              <a:ext uri="{FF2B5EF4-FFF2-40B4-BE49-F238E27FC236}">
                <a16:creationId xmlns:a16="http://schemas.microsoft.com/office/drawing/2014/main" id="{089F92D8-8DA0-2AC9-4A1A-F74C3BA0FFF0}"/>
              </a:ext>
            </a:extLst>
          </p:cNvPr>
          <p:cNvSpPr/>
          <p:nvPr/>
        </p:nvSpPr>
        <p:spPr>
          <a:xfrm flipH="1" flipV="1">
            <a:off x="5693764" y="3401742"/>
            <a:ext cx="479970" cy="1049428"/>
          </a:xfrm>
          <a:prstGeom prst="line">
            <a:avLst/>
          </a:prstGeom>
          <a:noFill/>
          <a:ln w="50800" cap="flat">
            <a:solidFill>
              <a:srgbClr val="B22222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1200"/>
          </a:p>
        </p:txBody>
      </p:sp>
      <p:sp>
        <p:nvSpPr>
          <p:cNvPr id="78" name="Line">
            <a:extLst>
              <a:ext uri="{FF2B5EF4-FFF2-40B4-BE49-F238E27FC236}">
                <a16:creationId xmlns:a16="http://schemas.microsoft.com/office/drawing/2014/main" id="{0E446B27-67F4-73CC-BBB0-04A78B9CBA56}"/>
              </a:ext>
            </a:extLst>
          </p:cNvPr>
          <p:cNvSpPr/>
          <p:nvPr/>
        </p:nvSpPr>
        <p:spPr>
          <a:xfrm>
            <a:off x="6318129" y="3282013"/>
            <a:ext cx="1189016" cy="1210282"/>
          </a:xfrm>
          <a:prstGeom prst="line">
            <a:avLst/>
          </a:prstGeom>
          <a:noFill/>
          <a:ln w="50800" cap="flat">
            <a:solidFill>
              <a:srgbClr val="B22222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5BD6AB-121A-C0D6-EBC1-FC83A6058963}"/>
              </a:ext>
            </a:extLst>
          </p:cNvPr>
          <p:cNvSpPr txBox="1"/>
          <p:nvPr/>
        </p:nvSpPr>
        <p:spPr>
          <a:xfrm>
            <a:off x="3309731" y="6016296"/>
            <a:ext cx="5193729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packet generation exceeded threshold?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FF0000"/>
                </a:solidFill>
              </a:rPr>
              <a:t>Burst!</a:t>
            </a: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6" name="图形 26" descr="图形 26">
            <a:extLst>
              <a:ext uri="{FF2B5EF4-FFF2-40B4-BE49-F238E27FC236}">
                <a16:creationId xmlns:a16="http://schemas.microsoft.com/office/drawing/2014/main" id="{BD46A50F-6CD0-F140-8AE5-E3E2F1CD9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143" y="49494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图形 26" descr="图形 26">
            <a:extLst>
              <a:ext uri="{FF2B5EF4-FFF2-40B4-BE49-F238E27FC236}">
                <a16:creationId xmlns:a16="http://schemas.microsoft.com/office/drawing/2014/main" id="{7AFC7CA8-543B-2DD1-1A05-A5BF09FD8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44" y="51018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图形 26" descr="图形 26">
            <a:extLst>
              <a:ext uri="{FF2B5EF4-FFF2-40B4-BE49-F238E27FC236}">
                <a16:creationId xmlns:a16="http://schemas.microsoft.com/office/drawing/2014/main" id="{05E495DC-0FDE-0039-5076-7F47355E7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145" y="52542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形 26" descr="图形 26">
            <a:extLst>
              <a:ext uri="{FF2B5EF4-FFF2-40B4-BE49-F238E27FC236}">
                <a16:creationId xmlns:a16="http://schemas.microsoft.com/office/drawing/2014/main" id="{251451FA-17CE-A3FB-41C9-D59256B00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695" y="5174457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形 26" descr="图形 26">
            <a:extLst>
              <a:ext uri="{FF2B5EF4-FFF2-40B4-BE49-F238E27FC236}">
                <a16:creationId xmlns:a16="http://schemas.microsoft.com/office/drawing/2014/main" id="{1F07A61C-4470-9443-1B50-D9ECD1AB6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58" y="3578279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形 26" descr="图形 26">
            <a:extLst>
              <a:ext uri="{FF2B5EF4-FFF2-40B4-BE49-F238E27FC236}">
                <a16:creationId xmlns:a16="http://schemas.microsoft.com/office/drawing/2014/main" id="{8CE4A212-336B-FBB1-2D71-800B453E6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92" y="49494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形 26" descr="图形 26">
            <a:extLst>
              <a:ext uri="{FF2B5EF4-FFF2-40B4-BE49-F238E27FC236}">
                <a16:creationId xmlns:a16="http://schemas.microsoft.com/office/drawing/2014/main" id="{CA68F7B7-0850-D7F0-E622-9B56582B2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593" y="51018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形 26" descr="图形 26">
            <a:extLst>
              <a:ext uri="{FF2B5EF4-FFF2-40B4-BE49-F238E27FC236}">
                <a16:creationId xmlns:a16="http://schemas.microsoft.com/office/drawing/2014/main" id="{DA768AA9-5A5B-D811-4E4B-3388C46CF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594" y="52542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形 26" descr="图形 26">
            <a:extLst>
              <a:ext uri="{FF2B5EF4-FFF2-40B4-BE49-F238E27FC236}">
                <a16:creationId xmlns:a16="http://schemas.microsoft.com/office/drawing/2014/main" id="{465F884A-97C2-4EAF-8CD6-552699E5F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4" y="536320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形 26" descr="图形 26">
            <a:extLst>
              <a:ext uri="{FF2B5EF4-FFF2-40B4-BE49-F238E27FC236}">
                <a16:creationId xmlns:a16="http://schemas.microsoft.com/office/drawing/2014/main" id="{FE442B89-B9B8-6005-ACFE-D6CB907D8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149" y="5511066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图形 26" descr="图形 26">
            <a:extLst>
              <a:ext uri="{FF2B5EF4-FFF2-40B4-BE49-F238E27FC236}">
                <a16:creationId xmlns:a16="http://schemas.microsoft.com/office/drawing/2014/main" id="{A6759877-32DD-9AE0-4DB7-3545D1319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47" y="50888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图形 26" descr="图形 26">
            <a:extLst>
              <a:ext uri="{FF2B5EF4-FFF2-40B4-BE49-F238E27FC236}">
                <a16:creationId xmlns:a16="http://schemas.microsoft.com/office/drawing/2014/main" id="{D68E340E-D150-9A96-9AEE-0FD28988D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048" y="52412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形 26" descr="图形 26">
            <a:extLst>
              <a:ext uri="{FF2B5EF4-FFF2-40B4-BE49-F238E27FC236}">
                <a16:creationId xmlns:a16="http://schemas.microsoft.com/office/drawing/2014/main" id="{FDE53D2E-6D07-D760-0EE9-ECE929CC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49" y="53936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形 26" descr="图形 26">
            <a:extLst>
              <a:ext uri="{FF2B5EF4-FFF2-40B4-BE49-F238E27FC236}">
                <a16:creationId xmlns:a16="http://schemas.microsoft.com/office/drawing/2014/main" id="{29FC6DBC-B33A-2509-268E-00465DFFB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050" y="55460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形 26" descr="图形 26">
            <a:extLst>
              <a:ext uri="{FF2B5EF4-FFF2-40B4-BE49-F238E27FC236}">
                <a16:creationId xmlns:a16="http://schemas.microsoft.com/office/drawing/2014/main" id="{6BDCB682-EF59-12AD-FEEE-990558EAC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798" y="5417033"/>
            <a:ext cx="540004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8A8E76-FF93-5B15-4C93-56D7D285C637}"/>
              </a:ext>
            </a:extLst>
          </p:cNvPr>
          <p:cNvSpPr txBox="1"/>
          <p:nvPr/>
        </p:nvSpPr>
        <p:spPr>
          <a:xfrm>
            <a:off x="2766667" y="1191181"/>
            <a:ext cx="6099858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+ Collisions exceeded threshold?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FF0000"/>
                </a:solidFill>
              </a:rPr>
              <a:t>Burst Detected!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7" name="图形 26" descr="图形 26">
            <a:extLst>
              <a:ext uri="{FF2B5EF4-FFF2-40B4-BE49-F238E27FC236}">
                <a16:creationId xmlns:a16="http://schemas.microsoft.com/office/drawing/2014/main" id="{5E3ECD30-783C-330D-67B3-D589897C6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696" y="5294418"/>
            <a:ext cx="540004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FA85C0-D1EF-E96C-50FD-B0FE47D90D85}"/>
              </a:ext>
            </a:extLst>
          </p:cNvPr>
          <p:cNvSpPr txBox="1"/>
          <p:nvPr/>
        </p:nvSpPr>
        <p:spPr>
          <a:xfrm>
            <a:off x="2042943" y="3480009"/>
            <a:ext cx="102657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AABE27-28CC-B4C4-6424-B0350293C8A0}"/>
              </a:ext>
            </a:extLst>
          </p:cNvPr>
          <p:cNvCxnSpPr/>
          <p:nvPr/>
        </p:nvCxnSpPr>
        <p:spPr>
          <a:xfrm flipV="1">
            <a:off x="2787444" y="3141406"/>
            <a:ext cx="0" cy="2732828"/>
          </a:xfrm>
          <a:prstGeom prst="straightConnector1">
            <a:avLst/>
          </a:prstGeom>
          <a:ln w="41275">
            <a:prstDash val="sysDash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4D5877A-C88F-81ED-FE98-97C6B9E65DF8}"/>
              </a:ext>
            </a:extLst>
          </p:cNvPr>
          <p:cNvSpPr txBox="1"/>
          <p:nvPr/>
        </p:nvSpPr>
        <p:spPr>
          <a:xfrm rot="16200000">
            <a:off x="728317" y="4297991"/>
            <a:ext cx="3642023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Explicit Feedback- Nodes under burst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D5221-0A1A-03D6-2E52-CB6DF879F80E}"/>
              </a:ext>
            </a:extLst>
          </p:cNvPr>
          <p:cNvSpPr txBox="1"/>
          <p:nvPr/>
        </p:nvSpPr>
        <p:spPr>
          <a:xfrm rot="16200000">
            <a:off x="2615404" y="4440881"/>
            <a:ext cx="64761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uplink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928AC3-A866-2154-C71F-CE834CF113F8}"/>
              </a:ext>
            </a:extLst>
          </p:cNvPr>
          <p:cNvCxnSpPr/>
          <p:nvPr/>
        </p:nvCxnSpPr>
        <p:spPr>
          <a:xfrm>
            <a:off x="9134464" y="2998951"/>
            <a:ext cx="0" cy="2909808"/>
          </a:xfrm>
          <a:prstGeom prst="straightConnector1">
            <a:avLst/>
          </a:prstGeom>
          <a:ln w="41275">
            <a:prstDash val="sys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3E0F48-4BAC-B97C-95A1-8EC5454BB5AA}"/>
              </a:ext>
            </a:extLst>
          </p:cNvPr>
          <p:cNvSpPr txBox="1"/>
          <p:nvPr/>
        </p:nvSpPr>
        <p:spPr>
          <a:xfrm rot="5400000">
            <a:off x="8337527" y="4300802"/>
            <a:ext cx="2050240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Switch to Burst-MAC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DF7E8-6DD4-090C-498D-C4AB453DC6AF}"/>
              </a:ext>
            </a:extLst>
          </p:cNvPr>
          <p:cNvSpPr txBox="1"/>
          <p:nvPr/>
        </p:nvSpPr>
        <p:spPr>
          <a:xfrm rot="5400000">
            <a:off x="8076238" y="4320574"/>
            <a:ext cx="1772922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Piggybacked ACK</a:t>
            </a:r>
          </a:p>
        </p:txBody>
      </p:sp>
    </p:spTree>
    <p:extLst>
      <p:ext uri="{BB962C8B-B14F-4D97-AF65-F5344CB8AC3E}">
        <p14:creationId xmlns:p14="http://schemas.microsoft.com/office/powerpoint/2010/main" val="1385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09E3-6E12-1444-C5BA-82FECBE9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503" y="1967513"/>
            <a:ext cx="4684457" cy="3895222"/>
          </a:xfrm>
        </p:spPr>
        <p:txBody>
          <a:bodyPr>
            <a:normAutofit/>
          </a:bodyPr>
          <a:lstStyle/>
          <a:p>
            <a:pPr algn="just">
              <a:spcBef>
                <a:spcPts val="105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Gateway groups the nodes based on  their VC.</a:t>
            </a:r>
          </a:p>
          <a:p>
            <a:pPr lvl="2" algn="just">
              <a:spcBef>
                <a:spcPts val="105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sym typeface="Helvetica Neue"/>
              </a:rPr>
              <a:t>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nly a few nodes per group.</a:t>
            </a:r>
          </a:p>
          <a:p>
            <a:pPr algn="just">
              <a:spcBef>
                <a:spcPts val="1050"/>
              </a:spcBef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Each VC is a unique group.</a:t>
            </a:r>
          </a:p>
          <a:p>
            <a:pPr lvl="2" algn="just">
              <a:spcBef>
                <a:spcPts val="105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Collisions confined within groups.</a:t>
            </a:r>
          </a:p>
          <a:p>
            <a:pPr lvl="2" algn="just">
              <a:spcBef>
                <a:spcPts val="105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Enables concurrent transmissions.</a:t>
            </a:r>
          </a:p>
          <a:p>
            <a:pPr lvl="2" algn="just">
              <a:spcBef>
                <a:spcPts val="1050"/>
              </a:spcBef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Now collisions need to resolved only inside each VC, which can be done using a transmission scheduling policy.</a:t>
            </a:r>
          </a:p>
          <a:p>
            <a:pPr algn="just">
              <a:spcBef>
                <a:spcPts val="1050"/>
              </a:spcBef>
            </a:pPr>
            <a:endParaRPr lang="en-US" sz="1800" dirty="0"/>
          </a:p>
          <a:p>
            <a:pPr algn="just">
              <a:spcBef>
                <a:spcPts val="1050"/>
              </a:spcBef>
            </a:pPr>
            <a:endParaRPr lang="en-US" sz="1800" dirty="0"/>
          </a:p>
          <a:p>
            <a:pPr algn="just">
              <a:spcBef>
                <a:spcPts val="1050"/>
              </a:spcBef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algn="just"/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2136285" y="62003"/>
            <a:ext cx="7474803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Grouping Nodes based on Virtual Channels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LoRa works in unlicensed ISM band (e.g., US902-928, BW 125kHz, SF7-12)">
            <a:extLst>
              <a:ext uri="{FF2B5EF4-FFF2-40B4-BE49-F238E27FC236}">
                <a16:creationId xmlns:a16="http://schemas.microsoft.com/office/drawing/2014/main" id="{B790BCEE-6091-6885-E8EC-08712AD209D6}"/>
              </a:ext>
            </a:extLst>
          </p:cNvPr>
          <p:cNvSpPr txBox="1">
            <a:spLocks/>
          </p:cNvSpPr>
          <p:nvPr/>
        </p:nvSpPr>
        <p:spPr>
          <a:xfrm>
            <a:off x="874102" y="1599864"/>
            <a:ext cx="4966780" cy="1630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365760" marR="0" indent="-36576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✦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609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2pPr>
            <a:lvl3pPr marL="914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3pPr>
            <a:lvl4pPr marL="1219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4pPr>
            <a:lvl5pPr marL="15240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5pPr>
            <a:lvl6pPr marL="18288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21336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24384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2743200" marR="0" indent="-304800" algn="l" defTabSz="1219169" eaLnBrk="1" latinLnBrk="0" hangingPunct="1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marL="0" indent="0" algn="just">
              <a:buNone/>
            </a:pPr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LoRa in the US, </a:t>
            </a:r>
            <a:r>
              <a:rPr lang="en-US" sz="2200" i="1" dirty="0" err="1"/>
              <a:t>m</a:t>
            </a:r>
            <a:r>
              <a:rPr lang="en-US" sz="2200" i="1" baseline="-25000" dirty="0" err="1"/>
              <a:t>up</a:t>
            </a:r>
            <a:r>
              <a:rPr lang="en-US" sz="2200" i="1" dirty="0"/>
              <a:t> </a:t>
            </a:r>
            <a:r>
              <a:rPr lang="en-US" sz="2200" dirty="0"/>
              <a:t>uplink channels and </a:t>
            </a:r>
            <a:r>
              <a:rPr lang="en-US" sz="2200" i="1" dirty="0"/>
              <a:t>s </a:t>
            </a:r>
            <a:r>
              <a:rPr lang="en-US" sz="2200" dirty="0"/>
              <a:t>total number of SF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algn="just"/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6" name="Group">
            <a:extLst>
              <a:ext uri="{FF2B5EF4-FFF2-40B4-BE49-F238E27FC236}">
                <a16:creationId xmlns:a16="http://schemas.microsoft.com/office/drawing/2014/main" id="{09DA0B41-C756-4A86-9BAD-346BF51CA6F0}"/>
              </a:ext>
            </a:extLst>
          </p:cNvPr>
          <p:cNvGrpSpPr/>
          <p:nvPr/>
        </p:nvGrpSpPr>
        <p:grpSpPr>
          <a:xfrm>
            <a:off x="694962" y="2576765"/>
            <a:ext cx="5401038" cy="1630327"/>
            <a:chOff x="0" y="-1"/>
            <a:chExt cx="12840194" cy="1745637"/>
          </a:xfrm>
        </p:grpSpPr>
        <p:sp>
          <p:nvSpPr>
            <p:cNvPr id="7" name="Line">
              <a:extLst>
                <a:ext uri="{FF2B5EF4-FFF2-40B4-BE49-F238E27FC236}">
                  <a16:creationId xmlns:a16="http://schemas.microsoft.com/office/drawing/2014/main" id="{8DE9B8E5-F7E7-D6D2-2113-FE2DA7680C9A}"/>
                </a:ext>
              </a:extLst>
            </p:cNvPr>
            <p:cNvSpPr/>
            <p:nvPr/>
          </p:nvSpPr>
          <p:spPr>
            <a:xfrm>
              <a:off x="790020" y="642945"/>
              <a:ext cx="6854989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8" name="Line">
              <a:extLst>
                <a:ext uri="{FF2B5EF4-FFF2-40B4-BE49-F238E27FC236}">
                  <a16:creationId xmlns:a16="http://schemas.microsoft.com/office/drawing/2014/main" id="{0045CB19-CF45-6E79-643F-E3D549E3FB6F}"/>
                </a:ext>
              </a:extLst>
            </p:cNvPr>
            <p:cNvSpPr/>
            <p:nvPr/>
          </p:nvSpPr>
          <p:spPr>
            <a:xfrm flipV="1">
              <a:off x="944881" y="652008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64D1BB27-9078-1B44-6D85-3A0AADAFB06F}"/>
                </a:ext>
              </a:extLst>
            </p:cNvPr>
            <p:cNvSpPr/>
            <p:nvPr/>
          </p:nvSpPr>
          <p:spPr>
            <a:xfrm flipV="1">
              <a:off x="6925432" y="624716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7E236395-BF44-A5D9-8FDD-B9FB4D8EDDD6}"/>
                </a:ext>
              </a:extLst>
            </p:cNvPr>
            <p:cNvSpPr/>
            <p:nvPr/>
          </p:nvSpPr>
          <p:spPr>
            <a:xfrm flipV="1">
              <a:off x="11895310" y="652008"/>
              <a:ext cx="1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11" name="902">
              <a:extLst>
                <a:ext uri="{FF2B5EF4-FFF2-40B4-BE49-F238E27FC236}">
                  <a16:creationId xmlns:a16="http://schemas.microsoft.com/office/drawing/2014/main" id="{E718C2C0-C51A-EF49-72F9-56D3471315A9}"/>
                </a:ext>
              </a:extLst>
            </p:cNvPr>
            <p:cNvSpPr txBox="1"/>
            <p:nvPr/>
          </p:nvSpPr>
          <p:spPr>
            <a:xfrm>
              <a:off x="0" y="813183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902</a:t>
              </a:r>
            </a:p>
          </p:txBody>
        </p:sp>
        <p:sp>
          <p:nvSpPr>
            <p:cNvPr id="12" name="904">
              <a:extLst>
                <a:ext uri="{FF2B5EF4-FFF2-40B4-BE49-F238E27FC236}">
                  <a16:creationId xmlns:a16="http://schemas.microsoft.com/office/drawing/2014/main" id="{FBDA90E4-E11F-BC3E-CCA3-21A9FCD8C8DD}"/>
                </a:ext>
              </a:extLst>
            </p:cNvPr>
            <p:cNvSpPr txBox="1"/>
            <p:nvPr/>
          </p:nvSpPr>
          <p:spPr>
            <a:xfrm>
              <a:off x="6263634" y="785891"/>
              <a:ext cx="1323598" cy="9324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904</a:t>
              </a:r>
            </a:p>
          </p:txBody>
        </p:sp>
        <p:sp>
          <p:nvSpPr>
            <p:cNvPr id="13" name="928">
              <a:extLst>
                <a:ext uri="{FF2B5EF4-FFF2-40B4-BE49-F238E27FC236}">
                  <a16:creationId xmlns:a16="http://schemas.microsoft.com/office/drawing/2014/main" id="{113FEA46-DB98-EA7D-6D56-0BE9921D2E06}"/>
                </a:ext>
              </a:extLst>
            </p:cNvPr>
            <p:cNvSpPr txBox="1"/>
            <p:nvPr/>
          </p:nvSpPr>
          <p:spPr>
            <a:xfrm>
              <a:off x="10950430" y="813183"/>
              <a:ext cx="1889764" cy="9324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 dirty="0"/>
                <a:t>928</a:t>
              </a:r>
            </a:p>
          </p:txBody>
        </p:sp>
        <p:sp>
          <p:nvSpPr>
            <p:cNvPr id="14" name="Frequency (MHz)">
              <a:extLst>
                <a:ext uri="{FF2B5EF4-FFF2-40B4-BE49-F238E27FC236}">
                  <a16:creationId xmlns:a16="http://schemas.microsoft.com/office/drawing/2014/main" id="{0C855D1A-311A-116A-2626-883BA331A20F}"/>
                </a:ext>
              </a:extLst>
            </p:cNvPr>
            <p:cNvSpPr txBox="1"/>
            <p:nvPr/>
          </p:nvSpPr>
          <p:spPr>
            <a:xfrm>
              <a:off x="8233721" y="702787"/>
              <a:ext cx="4345175" cy="5612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1200" dirty="0"/>
                <a:t>Frequency</a:t>
              </a:r>
              <a:br>
                <a:rPr lang="en-US" sz="1200" dirty="0"/>
              </a:br>
              <a:r>
                <a:rPr sz="1200" dirty="0"/>
                <a:t>(MHz)</a:t>
              </a:r>
            </a:p>
          </p:txBody>
        </p:sp>
        <p:grpSp>
          <p:nvGrpSpPr>
            <p:cNvPr id="15" name="Group">
              <a:extLst>
                <a:ext uri="{FF2B5EF4-FFF2-40B4-BE49-F238E27FC236}">
                  <a16:creationId xmlns:a16="http://schemas.microsoft.com/office/drawing/2014/main" id="{2658C90B-6BEA-4C8B-850F-DAF98B3D8F2D}"/>
                </a:ext>
              </a:extLst>
            </p:cNvPr>
            <p:cNvGrpSpPr/>
            <p:nvPr/>
          </p:nvGrpSpPr>
          <p:grpSpPr>
            <a:xfrm>
              <a:off x="934482" y="-1"/>
              <a:ext cx="3003113" cy="622302"/>
              <a:chOff x="0" y="-1"/>
              <a:chExt cx="3003111" cy="622301"/>
            </a:xfrm>
          </p:grpSpPr>
          <p:sp>
            <p:nvSpPr>
              <p:cNvPr id="49" name="Shape">
                <a:extLst>
                  <a:ext uri="{FF2B5EF4-FFF2-40B4-BE49-F238E27FC236}">
                    <a16:creationId xmlns:a16="http://schemas.microsoft.com/office/drawing/2014/main" id="{D3958CF7-6C58-E3A9-698A-1FEDCAE0A454}"/>
                  </a:ext>
                </a:extLst>
              </p:cNvPr>
              <p:cNvSpPr/>
              <p:nvPr/>
            </p:nvSpPr>
            <p:spPr>
              <a:xfrm>
                <a:off x="2497260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0" name="Shape">
                <a:extLst>
                  <a:ext uri="{FF2B5EF4-FFF2-40B4-BE49-F238E27FC236}">
                    <a16:creationId xmlns:a16="http://schemas.microsoft.com/office/drawing/2014/main" id="{DE828282-70D1-2774-DE75-2BAAF2F25A8E}"/>
                  </a:ext>
                </a:extLst>
              </p:cNvPr>
              <p:cNvSpPr/>
              <p:nvPr/>
            </p:nvSpPr>
            <p:spPr>
              <a:xfrm>
                <a:off x="2751452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1" name="Shape">
                <a:extLst>
                  <a:ext uri="{FF2B5EF4-FFF2-40B4-BE49-F238E27FC236}">
                    <a16:creationId xmlns:a16="http://schemas.microsoft.com/office/drawing/2014/main" id="{A1E1DB95-7D3E-5356-F897-2B89E145E816}"/>
                  </a:ext>
                </a:extLst>
              </p:cNvPr>
              <p:cNvSpPr/>
              <p:nvPr/>
            </p:nvSpPr>
            <p:spPr>
              <a:xfrm>
                <a:off x="1993001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2" name="Shape">
                <a:extLst>
                  <a:ext uri="{FF2B5EF4-FFF2-40B4-BE49-F238E27FC236}">
                    <a16:creationId xmlns:a16="http://schemas.microsoft.com/office/drawing/2014/main" id="{789B1428-7D6B-FF08-0CB0-08648224ABC3}"/>
                  </a:ext>
                </a:extLst>
              </p:cNvPr>
              <p:cNvSpPr/>
              <p:nvPr/>
            </p:nvSpPr>
            <p:spPr>
              <a:xfrm>
                <a:off x="2247194" y="0"/>
                <a:ext cx="251658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3" name="Shape">
                <a:extLst>
                  <a:ext uri="{FF2B5EF4-FFF2-40B4-BE49-F238E27FC236}">
                    <a16:creationId xmlns:a16="http://schemas.microsoft.com/office/drawing/2014/main" id="{865B56A9-E2B1-D03B-AF70-E7F79AE49A41}"/>
                  </a:ext>
                </a:extLst>
              </p:cNvPr>
              <p:cNvSpPr/>
              <p:nvPr/>
            </p:nvSpPr>
            <p:spPr>
              <a:xfrm>
                <a:off x="0" y="-1"/>
                <a:ext cx="251660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4" name="Shape">
                <a:extLst>
                  <a:ext uri="{FF2B5EF4-FFF2-40B4-BE49-F238E27FC236}">
                    <a16:creationId xmlns:a16="http://schemas.microsoft.com/office/drawing/2014/main" id="{00FF9912-7DD5-5130-42B8-2143481CEB20}"/>
                  </a:ext>
                </a:extLst>
              </p:cNvPr>
              <p:cNvSpPr/>
              <p:nvPr/>
            </p:nvSpPr>
            <p:spPr>
              <a:xfrm>
                <a:off x="245574" y="0"/>
                <a:ext cx="251658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5" name="Shape">
                <a:extLst>
                  <a:ext uri="{FF2B5EF4-FFF2-40B4-BE49-F238E27FC236}">
                    <a16:creationId xmlns:a16="http://schemas.microsoft.com/office/drawing/2014/main" id="{9778DE91-15D5-B3C2-D109-0429A0F877BF}"/>
                  </a:ext>
                </a:extLst>
              </p:cNvPr>
              <p:cNvSpPr/>
              <p:nvPr/>
            </p:nvSpPr>
            <p:spPr>
              <a:xfrm>
                <a:off x="992192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6" name="Shape">
                <a:extLst>
                  <a:ext uri="{FF2B5EF4-FFF2-40B4-BE49-F238E27FC236}">
                    <a16:creationId xmlns:a16="http://schemas.microsoft.com/office/drawing/2014/main" id="{75FD84A1-88F9-7122-FD70-E7E6D7EE36A9}"/>
                  </a:ext>
                </a:extLst>
              </p:cNvPr>
              <p:cNvSpPr/>
              <p:nvPr/>
            </p:nvSpPr>
            <p:spPr>
              <a:xfrm>
                <a:off x="1246383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7" name="Shape">
                <a:extLst>
                  <a:ext uri="{FF2B5EF4-FFF2-40B4-BE49-F238E27FC236}">
                    <a16:creationId xmlns:a16="http://schemas.microsoft.com/office/drawing/2014/main" id="{9CA88C9B-5545-6848-3B14-514F87EADB12}"/>
                  </a:ext>
                </a:extLst>
              </p:cNvPr>
              <p:cNvSpPr/>
              <p:nvPr/>
            </p:nvSpPr>
            <p:spPr>
              <a:xfrm>
                <a:off x="1493099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8" name="Shape">
                <a:extLst>
                  <a:ext uri="{FF2B5EF4-FFF2-40B4-BE49-F238E27FC236}">
                    <a16:creationId xmlns:a16="http://schemas.microsoft.com/office/drawing/2014/main" id="{64B6120D-ACD3-64A7-60F3-5383F897CFE7}"/>
                  </a:ext>
                </a:extLst>
              </p:cNvPr>
              <p:cNvSpPr/>
              <p:nvPr/>
            </p:nvSpPr>
            <p:spPr>
              <a:xfrm>
                <a:off x="1747291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9" name="Shape">
                <a:extLst>
                  <a:ext uri="{FF2B5EF4-FFF2-40B4-BE49-F238E27FC236}">
                    <a16:creationId xmlns:a16="http://schemas.microsoft.com/office/drawing/2014/main" id="{114D2D01-6E81-F682-4A9C-910B0B805832}"/>
                  </a:ext>
                </a:extLst>
              </p:cNvPr>
              <p:cNvSpPr/>
              <p:nvPr/>
            </p:nvSpPr>
            <p:spPr>
              <a:xfrm>
                <a:off x="488939" y="-1"/>
                <a:ext cx="251657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60" name="Shape">
                <a:extLst>
                  <a:ext uri="{FF2B5EF4-FFF2-40B4-BE49-F238E27FC236}">
                    <a16:creationId xmlns:a16="http://schemas.microsoft.com/office/drawing/2014/main" id="{98529729-9248-D08E-8D93-A612A874DCDE}"/>
                  </a:ext>
                </a:extLst>
              </p:cNvPr>
              <p:cNvSpPr/>
              <p:nvPr/>
            </p:nvSpPr>
            <p:spPr>
              <a:xfrm>
                <a:off x="743130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</p:grp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5E67F119-2126-C578-F497-DEB995833518}"/>
                </a:ext>
              </a:extLst>
            </p:cNvPr>
            <p:cNvSpPr/>
            <p:nvPr/>
          </p:nvSpPr>
          <p:spPr>
            <a:xfrm flipV="1">
              <a:off x="3924299" y="643696"/>
              <a:ext cx="1" cy="22911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17" name="903">
              <a:extLst>
                <a:ext uri="{FF2B5EF4-FFF2-40B4-BE49-F238E27FC236}">
                  <a16:creationId xmlns:a16="http://schemas.microsoft.com/office/drawing/2014/main" id="{DF31A366-FF2D-2513-AFBC-C48637C4C778}"/>
                </a:ext>
              </a:extLst>
            </p:cNvPr>
            <p:cNvSpPr txBox="1"/>
            <p:nvPr/>
          </p:nvSpPr>
          <p:spPr>
            <a:xfrm>
              <a:off x="2979417" y="804871"/>
              <a:ext cx="1889765" cy="9324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/>
                <a:t>903</a:t>
              </a:r>
            </a:p>
          </p:txBody>
        </p:sp>
        <p:grpSp>
          <p:nvGrpSpPr>
            <p:cNvPr id="18" name="Group">
              <a:extLst>
                <a:ext uri="{FF2B5EF4-FFF2-40B4-BE49-F238E27FC236}">
                  <a16:creationId xmlns:a16="http://schemas.microsoft.com/office/drawing/2014/main" id="{02107AA1-479F-B804-6309-FCC0AC82E74B}"/>
                </a:ext>
              </a:extLst>
            </p:cNvPr>
            <p:cNvGrpSpPr/>
            <p:nvPr/>
          </p:nvGrpSpPr>
          <p:grpSpPr>
            <a:xfrm>
              <a:off x="3933893" y="0"/>
              <a:ext cx="3003112" cy="622301"/>
              <a:chOff x="0" y="0"/>
              <a:chExt cx="3003110" cy="622300"/>
            </a:xfrm>
          </p:grpSpPr>
          <p:sp>
            <p:nvSpPr>
              <p:cNvPr id="37" name="Shape">
                <a:extLst>
                  <a:ext uri="{FF2B5EF4-FFF2-40B4-BE49-F238E27FC236}">
                    <a16:creationId xmlns:a16="http://schemas.microsoft.com/office/drawing/2014/main" id="{11E6E36B-482F-7AE7-7A41-71DC7ABBADEF}"/>
                  </a:ext>
                </a:extLst>
              </p:cNvPr>
              <p:cNvSpPr/>
              <p:nvPr/>
            </p:nvSpPr>
            <p:spPr>
              <a:xfrm>
                <a:off x="2497260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8" name="Shape">
                <a:extLst>
                  <a:ext uri="{FF2B5EF4-FFF2-40B4-BE49-F238E27FC236}">
                    <a16:creationId xmlns:a16="http://schemas.microsoft.com/office/drawing/2014/main" id="{898791A8-1E8F-F18A-F2FA-A73767FA53D3}"/>
                  </a:ext>
                </a:extLst>
              </p:cNvPr>
              <p:cNvSpPr/>
              <p:nvPr/>
            </p:nvSpPr>
            <p:spPr>
              <a:xfrm>
                <a:off x="2751452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9" name="Shape">
                <a:extLst>
                  <a:ext uri="{FF2B5EF4-FFF2-40B4-BE49-F238E27FC236}">
                    <a16:creationId xmlns:a16="http://schemas.microsoft.com/office/drawing/2014/main" id="{97944FFC-A507-984C-9763-F051008D0E4F}"/>
                  </a:ext>
                </a:extLst>
              </p:cNvPr>
              <p:cNvSpPr/>
              <p:nvPr/>
            </p:nvSpPr>
            <p:spPr>
              <a:xfrm>
                <a:off x="1993001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0" name="Shape">
                <a:extLst>
                  <a:ext uri="{FF2B5EF4-FFF2-40B4-BE49-F238E27FC236}">
                    <a16:creationId xmlns:a16="http://schemas.microsoft.com/office/drawing/2014/main" id="{58E09ECF-4AD2-9DB1-FBC9-999A42EF9A47}"/>
                  </a:ext>
                </a:extLst>
              </p:cNvPr>
              <p:cNvSpPr/>
              <p:nvPr/>
            </p:nvSpPr>
            <p:spPr>
              <a:xfrm>
                <a:off x="2247194" y="0"/>
                <a:ext cx="251658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1" name="Shape">
                <a:extLst>
                  <a:ext uri="{FF2B5EF4-FFF2-40B4-BE49-F238E27FC236}">
                    <a16:creationId xmlns:a16="http://schemas.microsoft.com/office/drawing/2014/main" id="{A0188746-55F1-6AA8-634F-5DC9FE9FA103}"/>
                  </a:ext>
                </a:extLst>
              </p:cNvPr>
              <p:cNvSpPr/>
              <p:nvPr/>
            </p:nvSpPr>
            <p:spPr>
              <a:xfrm>
                <a:off x="-1" y="-1"/>
                <a:ext cx="251659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2" name="Shape">
                <a:extLst>
                  <a:ext uri="{FF2B5EF4-FFF2-40B4-BE49-F238E27FC236}">
                    <a16:creationId xmlns:a16="http://schemas.microsoft.com/office/drawing/2014/main" id="{503CD579-8613-61EA-F3D8-5801B46FC59A}"/>
                  </a:ext>
                </a:extLst>
              </p:cNvPr>
              <p:cNvSpPr/>
              <p:nvPr/>
            </p:nvSpPr>
            <p:spPr>
              <a:xfrm>
                <a:off x="245574" y="0"/>
                <a:ext cx="251658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3" name="Shape">
                <a:extLst>
                  <a:ext uri="{FF2B5EF4-FFF2-40B4-BE49-F238E27FC236}">
                    <a16:creationId xmlns:a16="http://schemas.microsoft.com/office/drawing/2014/main" id="{593E4A13-AD63-F6E4-5B8B-54980AFB9E9D}"/>
                  </a:ext>
                </a:extLst>
              </p:cNvPr>
              <p:cNvSpPr/>
              <p:nvPr/>
            </p:nvSpPr>
            <p:spPr>
              <a:xfrm>
                <a:off x="992192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4" name="Shape">
                <a:extLst>
                  <a:ext uri="{FF2B5EF4-FFF2-40B4-BE49-F238E27FC236}">
                    <a16:creationId xmlns:a16="http://schemas.microsoft.com/office/drawing/2014/main" id="{096179A3-747A-849E-136B-E21E199A0FBF}"/>
                  </a:ext>
                </a:extLst>
              </p:cNvPr>
              <p:cNvSpPr/>
              <p:nvPr/>
            </p:nvSpPr>
            <p:spPr>
              <a:xfrm>
                <a:off x="1246383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5" name="Shape">
                <a:extLst>
                  <a:ext uri="{FF2B5EF4-FFF2-40B4-BE49-F238E27FC236}">
                    <a16:creationId xmlns:a16="http://schemas.microsoft.com/office/drawing/2014/main" id="{0F9A2C79-7775-C6BD-CBF3-BD7157A99C4B}"/>
                  </a:ext>
                </a:extLst>
              </p:cNvPr>
              <p:cNvSpPr/>
              <p:nvPr/>
            </p:nvSpPr>
            <p:spPr>
              <a:xfrm>
                <a:off x="1493099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6" name="Shape">
                <a:extLst>
                  <a:ext uri="{FF2B5EF4-FFF2-40B4-BE49-F238E27FC236}">
                    <a16:creationId xmlns:a16="http://schemas.microsoft.com/office/drawing/2014/main" id="{10D72F80-48A9-4C87-3F2D-E1A001F16CD1}"/>
                  </a:ext>
                </a:extLst>
              </p:cNvPr>
              <p:cNvSpPr/>
              <p:nvPr/>
            </p:nvSpPr>
            <p:spPr>
              <a:xfrm>
                <a:off x="1747291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7" name="Shape">
                <a:extLst>
                  <a:ext uri="{FF2B5EF4-FFF2-40B4-BE49-F238E27FC236}">
                    <a16:creationId xmlns:a16="http://schemas.microsoft.com/office/drawing/2014/main" id="{5FDDB158-9868-9BFE-527E-34426D131070}"/>
                  </a:ext>
                </a:extLst>
              </p:cNvPr>
              <p:cNvSpPr/>
              <p:nvPr/>
            </p:nvSpPr>
            <p:spPr>
              <a:xfrm>
                <a:off x="488938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8" name="Shape">
                <a:extLst>
                  <a:ext uri="{FF2B5EF4-FFF2-40B4-BE49-F238E27FC236}">
                    <a16:creationId xmlns:a16="http://schemas.microsoft.com/office/drawing/2014/main" id="{1B278A90-77A5-84C1-AAA6-2EB7D7D35285}"/>
                  </a:ext>
                </a:extLst>
              </p:cNvPr>
              <p:cNvSpPr/>
              <p:nvPr/>
            </p:nvSpPr>
            <p:spPr>
              <a:xfrm>
                <a:off x="743130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</p:grpSp>
        <p:grpSp>
          <p:nvGrpSpPr>
            <p:cNvPr id="19" name="Group">
              <a:extLst>
                <a:ext uri="{FF2B5EF4-FFF2-40B4-BE49-F238E27FC236}">
                  <a16:creationId xmlns:a16="http://schemas.microsoft.com/office/drawing/2014/main" id="{6AFEE203-9C55-1717-D2FB-491818D55F09}"/>
                </a:ext>
              </a:extLst>
            </p:cNvPr>
            <p:cNvGrpSpPr/>
            <p:nvPr/>
          </p:nvGrpSpPr>
          <p:grpSpPr>
            <a:xfrm>
              <a:off x="8883182" y="0"/>
              <a:ext cx="3003111" cy="622301"/>
              <a:chOff x="0" y="0"/>
              <a:chExt cx="3003110" cy="622300"/>
            </a:xfrm>
          </p:grpSpPr>
          <p:sp>
            <p:nvSpPr>
              <p:cNvPr id="25" name="Shape">
                <a:extLst>
                  <a:ext uri="{FF2B5EF4-FFF2-40B4-BE49-F238E27FC236}">
                    <a16:creationId xmlns:a16="http://schemas.microsoft.com/office/drawing/2014/main" id="{46C23C86-93BD-CCFF-9AF1-BD55C6C5E045}"/>
                  </a:ext>
                </a:extLst>
              </p:cNvPr>
              <p:cNvSpPr/>
              <p:nvPr/>
            </p:nvSpPr>
            <p:spPr>
              <a:xfrm>
                <a:off x="2497260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26" name="Shape">
                <a:extLst>
                  <a:ext uri="{FF2B5EF4-FFF2-40B4-BE49-F238E27FC236}">
                    <a16:creationId xmlns:a16="http://schemas.microsoft.com/office/drawing/2014/main" id="{1F994D4C-A149-23B8-AE9A-9C048A8AB80C}"/>
                  </a:ext>
                </a:extLst>
              </p:cNvPr>
              <p:cNvSpPr/>
              <p:nvPr/>
            </p:nvSpPr>
            <p:spPr>
              <a:xfrm>
                <a:off x="2751452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27" name="Shape">
                <a:extLst>
                  <a:ext uri="{FF2B5EF4-FFF2-40B4-BE49-F238E27FC236}">
                    <a16:creationId xmlns:a16="http://schemas.microsoft.com/office/drawing/2014/main" id="{92AA51BC-63F2-6E52-0373-FDADB7CBF76E}"/>
                  </a:ext>
                </a:extLst>
              </p:cNvPr>
              <p:cNvSpPr/>
              <p:nvPr/>
            </p:nvSpPr>
            <p:spPr>
              <a:xfrm>
                <a:off x="1993001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28" name="Shape">
                <a:extLst>
                  <a:ext uri="{FF2B5EF4-FFF2-40B4-BE49-F238E27FC236}">
                    <a16:creationId xmlns:a16="http://schemas.microsoft.com/office/drawing/2014/main" id="{A2FC8AC8-9AFA-F89E-DD25-CE8C18F99F09}"/>
                  </a:ext>
                </a:extLst>
              </p:cNvPr>
              <p:cNvSpPr/>
              <p:nvPr/>
            </p:nvSpPr>
            <p:spPr>
              <a:xfrm>
                <a:off x="2247194" y="0"/>
                <a:ext cx="251658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29" name="Shape">
                <a:extLst>
                  <a:ext uri="{FF2B5EF4-FFF2-40B4-BE49-F238E27FC236}">
                    <a16:creationId xmlns:a16="http://schemas.microsoft.com/office/drawing/2014/main" id="{D800D917-7587-A8F1-8032-7AD1745999FA}"/>
                  </a:ext>
                </a:extLst>
              </p:cNvPr>
              <p:cNvSpPr/>
              <p:nvPr/>
            </p:nvSpPr>
            <p:spPr>
              <a:xfrm>
                <a:off x="-1" y="-1"/>
                <a:ext cx="251659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0" name="Shape">
                <a:extLst>
                  <a:ext uri="{FF2B5EF4-FFF2-40B4-BE49-F238E27FC236}">
                    <a16:creationId xmlns:a16="http://schemas.microsoft.com/office/drawing/2014/main" id="{8BE05855-01BC-11B0-71B4-1F5604BA342E}"/>
                  </a:ext>
                </a:extLst>
              </p:cNvPr>
              <p:cNvSpPr/>
              <p:nvPr/>
            </p:nvSpPr>
            <p:spPr>
              <a:xfrm>
                <a:off x="245574" y="0"/>
                <a:ext cx="251658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1" name="Shape">
                <a:extLst>
                  <a:ext uri="{FF2B5EF4-FFF2-40B4-BE49-F238E27FC236}">
                    <a16:creationId xmlns:a16="http://schemas.microsoft.com/office/drawing/2014/main" id="{03991B43-D459-C00F-8483-EFE845E840B1}"/>
                  </a:ext>
                </a:extLst>
              </p:cNvPr>
              <p:cNvSpPr/>
              <p:nvPr/>
            </p:nvSpPr>
            <p:spPr>
              <a:xfrm>
                <a:off x="992192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FC1E9CFD-0A4B-5C37-9D94-8EC51A9334E7}"/>
                  </a:ext>
                </a:extLst>
              </p:cNvPr>
              <p:cNvSpPr/>
              <p:nvPr/>
            </p:nvSpPr>
            <p:spPr>
              <a:xfrm>
                <a:off x="1246383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3" name="Shape">
                <a:extLst>
                  <a:ext uri="{FF2B5EF4-FFF2-40B4-BE49-F238E27FC236}">
                    <a16:creationId xmlns:a16="http://schemas.microsoft.com/office/drawing/2014/main" id="{406018F0-90C3-63F0-3F8C-ABB09AED6941}"/>
                  </a:ext>
                </a:extLst>
              </p:cNvPr>
              <p:cNvSpPr/>
              <p:nvPr/>
            </p:nvSpPr>
            <p:spPr>
              <a:xfrm>
                <a:off x="1493099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4" name="Shape">
                <a:extLst>
                  <a:ext uri="{FF2B5EF4-FFF2-40B4-BE49-F238E27FC236}">
                    <a16:creationId xmlns:a16="http://schemas.microsoft.com/office/drawing/2014/main" id="{75C2FCF8-6090-4CCF-E431-D785692F7BB3}"/>
                  </a:ext>
                </a:extLst>
              </p:cNvPr>
              <p:cNvSpPr/>
              <p:nvPr/>
            </p:nvSpPr>
            <p:spPr>
              <a:xfrm>
                <a:off x="1747291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5" name="Shape">
                <a:extLst>
                  <a:ext uri="{FF2B5EF4-FFF2-40B4-BE49-F238E27FC236}">
                    <a16:creationId xmlns:a16="http://schemas.microsoft.com/office/drawing/2014/main" id="{544CA0A3-3298-E704-6DF0-762BDFF39BA6}"/>
                  </a:ext>
                </a:extLst>
              </p:cNvPr>
              <p:cNvSpPr/>
              <p:nvPr/>
            </p:nvSpPr>
            <p:spPr>
              <a:xfrm>
                <a:off x="488938" y="-1"/>
                <a:ext cx="251658" cy="6223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36" name="Shape">
                <a:extLst>
                  <a:ext uri="{FF2B5EF4-FFF2-40B4-BE49-F238E27FC236}">
                    <a16:creationId xmlns:a16="http://schemas.microsoft.com/office/drawing/2014/main" id="{D0A27A85-0565-5763-E36B-80FE323A7279}"/>
                  </a:ext>
                </a:extLst>
              </p:cNvPr>
              <p:cNvSpPr/>
              <p:nvPr/>
            </p:nvSpPr>
            <p:spPr>
              <a:xfrm>
                <a:off x="743130" y="0"/>
                <a:ext cx="251659" cy="622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72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8627" y="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</p:grp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9AAF668F-66B2-F391-5905-F5FBF8C71998}"/>
                </a:ext>
              </a:extLst>
            </p:cNvPr>
            <p:cNvSpPr/>
            <p:nvPr/>
          </p:nvSpPr>
          <p:spPr>
            <a:xfrm flipV="1">
              <a:off x="8917611" y="641804"/>
              <a:ext cx="1" cy="22911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21" name="927">
              <a:extLst>
                <a:ext uri="{FF2B5EF4-FFF2-40B4-BE49-F238E27FC236}">
                  <a16:creationId xmlns:a16="http://schemas.microsoft.com/office/drawing/2014/main" id="{9CA3122A-0735-A725-187C-E551518AF78F}"/>
                </a:ext>
              </a:extLst>
            </p:cNvPr>
            <p:cNvSpPr txBox="1"/>
            <p:nvPr/>
          </p:nvSpPr>
          <p:spPr>
            <a:xfrm>
              <a:off x="7972730" y="806904"/>
              <a:ext cx="1889765" cy="9324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4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000" dirty="0"/>
                <a:t>927</a:t>
              </a: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3ABC2C58-5B53-F9FD-2722-63C49D724ED4}"/>
                </a:ext>
              </a:extLst>
            </p:cNvPr>
            <p:cNvSpPr/>
            <p:nvPr/>
          </p:nvSpPr>
          <p:spPr>
            <a:xfrm>
              <a:off x="8012625" y="642945"/>
              <a:ext cx="4237733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23" name="Line">
              <a:extLst>
                <a:ext uri="{FF2B5EF4-FFF2-40B4-BE49-F238E27FC236}">
                  <a16:creationId xmlns:a16="http://schemas.microsoft.com/office/drawing/2014/main" id="{3B996205-3ED0-9D30-E038-10E7A0DBB661}"/>
                </a:ext>
              </a:extLst>
            </p:cNvPr>
            <p:cNvSpPr/>
            <p:nvPr/>
          </p:nvSpPr>
          <p:spPr>
            <a:xfrm flipV="1">
              <a:off x="7513783" y="528386"/>
              <a:ext cx="229119" cy="22911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  <p:sp>
          <p:nvSpPr>
            <p:cNvPr id="24" name="Line">
              <a:extLst>
                <a:ext uri="{FF2B5EF4-FFF2-40B4-BE49-F238E27FC236}">
                  <a16:creationId xmlns:a16="http://schemas.microsoft.com/office/drawing/2014/main" id="{41F8214A-F73F-7339-B0F7-AC649FD1B026}"/>
                </a:ext>
              </a:extLst>
            </p:cNvPr>
            <p:cNvSpPr/>
            <p:nvPr/>
          </p:nvSpPr>
          <p:spPr>
            <a:xfrm flipV="1">
              <a:off x="7860871" y="554225"/>
              <a:ext cx="229119" cy="22912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1200"/>
            </a:p>
          </p:txBody>
        </p:sp>
      </p:grpSp>
      <p:grpSp>
        <p:nvGrpSpPr>
          <p:cNvPr id="61" name="Group">
            <a:extLst>
              <a:ext uri="{FF2B5EF4-FFF2-40B4-BE49-F238E27FC236}">
                <a16:creationId xmlns:a16="http://schemas.microsoft.com/office/drawing/2014/main" id="{9B19255E-0782-7AEF-09C3-C846108024FC}"/>
              </a:ext>
            </a:extLst>
          </p:cNvPr>
          <p:cNvGrpSpPr/>
          <p:nvPr/>
        </p:nvGrpSpPr>
        <p:grpSpPr>
          <a:xfrm>
            <a:off x="923973" y="4057961"/>
            <a:ext cx="5062097" cy="835554"/>
            <a:chOff x="0" y="0"/>
            <a:chExt cx="17126506" cy="1685371"/>
          </a:xfrm>
        </p:grpSpPr>
        <p:sp>
          <p:nvSpPr>
            <p:cNvPr id="62" name="Physical Channel: 26MHz / 125kHz = 208">
              <a:extLst>
                <a:ext uri="{FF2B5EF4-FFF2-40B4-BE49-F238E27FC236}">
                  <a16:creationId xmlns:a16="http://schemas.microsoft.com/office/drawing/2014/main" id="{8236B5C8-BF5A-982F-76EE-11F38A59AD91}"/>
                </a:ext>
              </a:extLst>
            </p:cNvPr>
            <p:cNvSpPr txBox="1"/>
            <p:nvPr/>
          </p:nvSpPr>
          <p:spPr>
            <a:xfrm>
              <a:off x="2990036" y="209668"/>
              <a:ext cx="11146435" cy="1266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/>
            <a:p>
              <a:pPr>
                <a:defRPr sz="4000" b="1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2000" i="1" dirty="0"/>
                <a:t>s= </a:t>
              </a:r>
              <a:r>
                <a:rPr lang="en-US" sz="2000" i="1" dirty="0">
                  <a:solidFill>
                    <a:srgbClr val="FF0000"/>
                  </a:solidFill>
                </a:rPr>
                <a:t>6</a:t>
              </a:r>
              <a:r>
                <a:rPr lang="en-US" sz="2000" i="1" dirty="0"/>
                <a:t>, </a:t>
              </a:r>
              <a:r>
                <a:rPr lang="en-US" sz="2000" i="1" dirty="0" err="1"/>
                <a:t>m</a:t>
              </a:r>
              <a:r>
                <a:rPr lang="en-US" sz="2000" i="1" baseline="-25000" dirty="0" err="1"/>
                <a:t>up</a:t>
              </a:r>
              <a:r>
                <a:rPr sz="2000" dirty="0"/>
                <a:t> = </a:t>
              </a:r>
              <a:r>
                <a:rPr lang="en-US" sz="2000" dirty="0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64</a:t>
              </a:r>
              <a:endParaRPr sz="2000" dirty="0"/>
            </a:p>
          </p:txBody>
        </p:sp>
        <p:sp>
          <p:nvSpPr>
            <p:cNvPr id="63" name="Rounded Rectangle">
              <a:extLst>
                <a:ext uri="{FF2B5EF4-FFF2-40B4-BE49-F238E27FC236}">
                  <a16:creationId xmlns:a16="http://schemas.microsoft.com/office/drawing/2014/main" id="{9C752D84-4067-B84A-C86C-3F8786EEBDA2}"/>
                </a:ext>
              </a:extLst>
            </p:cNvPr>
            <p:cNvSpPr/>
            <p:nvPr/>
          </p:nvSpPr>
          <p:spPr>
            <a:xfrm>
              <a:off x="0" y="0"/>
              <a:ext cx="17126507" cy="1685372"/>
            </a:xfrm>
            <a:prstGeom prst="roundRect">
              <a:avLst>
                <a:gd name="adj" fmla="val 15000"/>
              </a:avLst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64" name="Group">
            <a:extLst>
              <a:ext uri="{FF2B5EF4-FFF2-40B4-BE49-F238E27FC236}">
                <a16:creationId xmlns:a16="http://schemas.microsoft.com/office/drawing/2014/main" id="{3DE01638-3D18-5D77-A153-1CC569655B0B}"/>
              </a:ext>
            </a:extLst>
          </p:cNvPr>
          <p:cNvGrpSpPr/>
          <p:nvPr/>
        </p:nvGrpSpPr>
        <p:grpSpPr>
          <a:xfrm>
            <a:off x="918689" y="5027098"/>
            <a:ext cx="5062097" cy="835554"/>
            <a:chOff x="3302635" y="0"/>
            <a:chExt cx="13823872" cy="16853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Logical Channel: 208   6 = 1248">
                  <a:extLst>
                    <a:ext uri="{FF2B5EF4-FFF2-40B4-BE49-F238E27FC236}">
                      <a16:creationId xmlns:a16="http://schemas.microsoft.com/office/drawing/2014/main" id="{3FD0DC8A-F090-48EB-5D58-FA9F48127984}"/>
                    </a:ext>
                  </a:extLst>
                </p:cNvPr>
                <p:cNvSpPr txBox="1"/>
                <p:nvPr/>
              </p:nvSpPr>
              <p:spPr>
                <a:xfrm>
                  <a:off x="4034377" y="209668"/>
                  <a:ext cx="12981885" cy="1266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wrap="square" lIns="25400" tIns="25400" rIns="25400" bIns="25400" numCol="1" anchor="ctr">
                  <a:noAutofit/>
                </a:bodyPr>
                <a:lstStyle/>
                <a:p>
                  <a:pPr>
                    <a:defRPr sz="4000" b="1">
                      <a:solidFill>
                        <a:srgbClr val="000000"/>
                      </a:solidFill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r>
                    <a:rPr lang="en-US" sz="2000" dirty="0"/>
                    <a:t>Virtual</a:t>
                  </a:r>
                  <a:r>
                    <a:rPr sz="2000" dirty="0"/>
                    <a:t> Channel</a:t>
                  </a:r>
                  <a:r>
                    <a:rPr lang="en-US" sz="2000" dirty="0"/>
                    <a:t>s:</a:t>
                  </a:r>
                  <a:r>
                    <a:rPr sz="2000" dirty="0"/>
                    <a:t> </a:t>
                  </a:r>
                  <a:r>
                    <a:rPr lang="en-US" sz="2000" dirty="0"/>
                    <a:t>6</a:t>
                  </a:r>
                  <a:r>
                    <a:rPr sz="2000" dirty="0"/>
                    <a:t> </a:t>
                  </a:r>
                  <a14:m>
                    <m:oMath xmlns:m="http://schemas.openxmlformats.org/officeDocument/2006/math">
                      <m:r>
                        <a:rPr sz="24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sz="2000" dirty="0"/>
                    <a:t> 6</a:t>
                  </a:r>
                  <a:r>
                    <a:rPr lang="en-US" sz="2000" dirty="0"/>
                    <a:t>4</a:t>
                  </a:r>
                  <a:r>
                    <a:rPr sz="2000" dirty="0"/>
                    <a:t> = </a:t>
                  </a:r>
                  <a:r>
                    <a:rPr lang="en-US" sz="2000" dirty="0">
                      <a:solidFill>
                        <a:schemeClr val="accent5">
                          <a:hueOff val="-82419"/>
                          <a:satOff val="-9513"/>
                          <a:lumOff val="-16343"/>
                        </a:schemeClr>
                      </a:solidFill>
                    </a:rPr>
                    <a:t>384</a:t>
                  </a:r>
                  <a:endParaRPr sz="2000" dirty="0"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Logical Channel: 208   6 = 1248">
                  <a:extLst>
                    <a:ext uri="{FF2B5EF4-FFF2-40B4-BE49-F238E27FC236}">
                      <a16:creationId xmlns:a16="http://schemas.microsoft.com/office/drawing/2014/main" id="{3FD0DC8A-F090-48EB-5D58-FA9F48127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377" y="209668"/>
                  <a:ext cx="12981885" cy="1266036"/>
                </a:xfrm>
                <a:prstGeom prst="rect">
                  <a:avLst/>
                </a:prstGeom>
                <a:blipFill>
                  <a:blip r:embed="rId3"/>
                  <a:stretch>
                    <a:fillRect b="-37500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Rounded Rectangle">
              <a:extLst>
                <a:ext uri="{FF2B5EF4-FFF2-40B4-BE49-F238E27FC236}">
                  <a16:creationId xmlns:a16="http://schemas.microsoft.com/office/drawing/2014/main" id="{DE771DB2-BDC4-84F6-408D-9867232972E3}"/>
                </a:ext>
              </a:extLst>
            </p:cNvPr>
            <p:cNvSpPr/>
            <p:nvPr/>
          </p:nvSpPr>
          <p:spPr>
            <a:xfrm>
              <a:off x="3302635" y="0"/>
              <a:ext cx="13823872" cy="1685372"/>
            </a:xfrm>
            <a:prstGeom prst="roundRect">
              <a:avLst>
                <a:gd name="adj" fmla="val 15000"/>
              </a:avLst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01947-8AA7-49F8-0422-616E5C55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13</a:t>
            </a:fld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6E4361-0E48-8F3D-E295-974B188D7809}"/>
              </a:ext>
            </a:extLst>
          </p:cNvPr>
          <p:cNvSpPr txBox="1"/>
          <p:nvPr/>
        </p:nvSpPr>
        <p:spPr>
          <a:xfrm>
            <a:off x="770405" y="5996235"/>
            <a:ext cx="525945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C00000"/>
                </a:solidFill>
                <a:sym typeface="Helvetica Neue"/>
              </a:rPr>
              <a:t>Hundreds of Virtual Uplink Channels.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2455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09E3-6E12-1444-C5BA-82FECBE9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88" y="2325311"/>
            <a:ext cx="11347422" cy="2461359"/>
          </a:xfrm>
        </p:spPr>
        <p:txBody>
          <a:bodyPr>
            <a:normAutofit/>
          </a:bodyPr>
          <a:lstStyle/>
          <a:p>
            <a:r>
              <a:rPr lang="en-US" dirty="0"/>
              <a:t>Nodes in burst mode within a VC individually compute their time slots for uplink transmission using a hash function, e.g.,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1601686" y="62003"/>
            <a:ext cx="8544006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Hash-based Scheduling for Uplink Transmissions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B868-FC1F-B40E-11A3-AF91079A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14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B946E0-1580-9BC8-782A-FB079E33985D}"/>
              </a:ext>
            </a:extLst>
          </p:cNvPr>
          <p:cNvSpPr txBox="1"/>
          <p:nvPr/>
        </p:nvSpPr>
        <p:spPr>
          <a:xfrm>
            <a:off x="4762500" y="4798981"/>
            <a:ext cx="231778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dirty="0">
                <a:solidFill>
                  <a:srgbClr val="C00000"/>
                </a:solidFill>
              </a:rPr>
              <a:t>h(K) = k mod M</a:t>
            </a:r>
            <a:endParaRPr kumimoji="0" lang="en-US" sz="2400" b="0" i="1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D01448A-85FF-99D0-2355-3188873E63E8}"/>
              </a:ext>
            </a:extLst>
          </p:cNvPr>
          <p:cNvCxnSpPr>
            <a:cxnSpLocks/>
          </p:cNvCxnSpPr>
          <p:nvPr/>
        </p:nvCxnSpPr>
        <p:spPr>
          <a:xfrm flipH="1">
            <a:off x="5114378" y="5200743"/>
            <a:ext cx="182284" cy="224008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1E2EE0-AEAE-D4F2-2390-435BF9325C1B}"/>
              </a:ext>
            </a:extLst>
          </p:cNvPr>
          <p:cNvCxnSpPr>
            <a:cxnSpLocks/>
          </p:cNvCxnSpPr>
          <p:nvPr/>
        </p:nvCxnSpPr>
        <p:spPr>
          <a:xfrm flipH="1">
            <a:off x="5798954" y="5200751"/>
            <a:ext cx="1" cy="26587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381ADB0-8FCA-2AF9-295F-162EB01224A7}"/>
              </a:ext>
            </a:extLst>
          </p:cNvPr>
          <p:cNvCxnSpPr>
            <a:cxnSpLocks/>
          </p:cNvCxnSpPr>
          <p:nvPr/>
        </p:nvCxnSpPr>
        <p:spPr>
          <a:xfrm>
            <a:off x="6854308" y="5200743"/>
            <a:ext cx="211139" cy="13252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BB65208-E715-6DE4-F770-18B1B6665D53}"/>
              </a:ext>
            </a:extLst>
          </p:cNvPr>
          <p:cNvSpPr txBox="1"/>
          <p:nvPr/>
        </p:nvSpPr>
        <p:spPr>
          <a:xfrm>
            <a:off x="4308406" y="5328093"/>
            <a:ext cx="1041567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Hash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414B20-6AEB-48B1-E1C0-B0745F96C8C2}"/>
              </a:ext>
            </a:extLst>
          </p:cNvPr>
          <p:cNvSpPr txBox="1"/>
          <p:nvPr/>
        </p:nvSpPr>
        <p:spPr>
          <a:xfrm>
            <a:off x="5405819" y="5379495"/>
            <a:ext cx="800165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Node ID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0A8D4E-53AF-7693-BABB-C8E037C6C620}"/>
              </a:ext>
            </a:extLst>
          </p:cNvPr>
          <p:cNvSpPr txBox="1"/>
          <p:nvPr/>
        </p:nvSpPr>
        <p:spPr>
          <a:xfrm>
            <a:off x="6495321" y="5339606"/>
            <a:ext cx="119349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No. of nodes in a group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C21CB7-0044-432A-5B43-68C254AB4AE0}"/>
              </a:ext>
            </a:extLst>
          </p:cNvPr>
          <p:cNvSpPr txBox="1"/>
          <p:nvPr/>
        </p:nvSpPr>
        <p:spPr>
          <a:xfrm>
            <a:off x="1116381" y="5989876"/>
            <a:ext cx="4233592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spcBef>
                <a:spcPts val="1150"/>
              </a:spcBef>
            </a:pPr>
            <a:r>
              <a:rPr lang="en-US" sz="1800" dirty="0">
                <a:solidFill>
                  <a:srgbClr val="B5293D"/>
                </a:solidFill>
              </a:rPr>
              <a:t>Hash</a:t>
            </a:r>
            <a:r>
              <a:rPr lang="en-US" sz="1800" dirty="0">
                <a:solidFill>
                  <a:srgbClr val="C00000"/>
                </a:solidFill>
              </a:rPr>
              <a:t> value </a:t>
            </a:r>
            <a:r>
              <a:rPr lang="en-US" sz="1800" dirty="0"/>
              <a:t>= node’s uplink Tx time slot, 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0BFFC2-7ECE-1DD7-1B48-DC4323E09647}"/>
              </a:ext>
            </a:extLst>
          </p:cNvPr>
          <p:cNvGrpSpPr/>
          <p:nvPr/>
        </p:nvGrpSpPr>
        <p:grpSpPr>
          <a:xfrm>
            <a:off x="620801" y="3357390"/>
            <a:ext cx="11392443" cy="1310625"/>
            <a:chOff x="468299" y="2968613"/>
            <a:chExt cx="11392443" cy="131062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0DDC75-8035-49C2-7AD2-B201709E557B}"/>
                </a:ext>
              </a:extLst>
            </p:cNvPr>
            <p:cNvSpPr txBox="1"/>
            <p:nvPr/>
          </p:nvSpPr>
          <p:spPr>
            <a:xfrm>
              <a:off x="1551489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17B5B4-505B-19CA-0864-DB7418790DED}"/>
                </a:ext>
              </a:extLst>
            </p:cNvPr>
            <p:cNvSpPr txBox="1"/>
            <p:nvPr/>
          </p:nvSpPr>
          <p:spPr>
            <a:xfrm>
              <a:off x="741092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6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E39F173-8031-8015-DA58-E26225DEA15D}"/>
                </a:ext>
              </a:extLst>
            </p:cNvPr>
            <p:cNvSpPr txBox="1"/>
            <p:nvPr/>
          </p:nvSpPr>
          <p:spPr>
            <a:xfrm>
              <a:off x="2516948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1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8B87B2A-F8E8-1688-8D6B-57B6530FE47A}"/>
                </a:ext>
              </a:extLst>
            </p:cNvPr>
            <p:cNvSpPr txBox="1"/>
            <p:nvPr/>
          </p:nvSpPr>
          <p:spPr>
            <a:xfrm>
              <a:off x="6454696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5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47CDEB-CD49-BEBC-E5C3-04F3E5A54546}"/>
                </a:ext>
              </a:extLst>
            </p:cNvPr>
            <p:cNvSpPr txBox="1"/>
            <p:nvPr/>
          </p:nvSpPr>
          <p:spPr>
            <a:xfrm>
              <a:off x="3492649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2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601356-0C1D-05FB-FD0B-758C229F7CD2}"/>
                </a:ext>
              </a:extLst>
            </p:cNvPr>
            <p:cNvSpPr txBox="1"/>
            <p:nvPr/>
          </p:nvSpPr>
          <p:spPr>
            <a:xfrm>
              <a:off x="5465789" y="2996917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4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9747701-799E-E632-0A6F-27B8A9C20086}"/>
                </a:ext>
              </a:extLst>
            </p:cNvPr>
            <p:cNvSpPr txBox="1"/>
            <p:nvPr/>
          </p:nvSpPr>
          <p:spPr>
            <a:xfrm>
              <a:off x="4481556" y="299793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3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9A7B52B-C9C5-1F9D-195B-086B32506E2B}"/>
                </a:ext>
              </a:extLst>
            </p:cNvPr>
            <p:cNvSpPr txBox="1"/>
            <p:nvPr/>
          </p:nvSpPr>
          <p:spPr>
            <a:xfrm>
              <a:off x="10315101" y="2983081"/>
              <a:ext cx="325409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9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0AC5F3-7F25-F2AF-4983-2F6AE0D02E11}"/>
                </a:ext>
              </a:extLst>
            </p:cNvPr>
            <p:cNvSpPr txBox="1"/>
            <p:nvPr/>
          </p:nvSpPr>
          <p:spPr>
            <a:xfrm>
              <a:off x="938406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8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24DD0A-A174-11D4-1035-707C70A9CE57}"/>
                </a:ext>
              </a:extLst>
            </p:cNvPr>
            <p:cNvSpPr txBox="1"/>
            <p:nvPr/>
          </p:nvSpPr>
          <p:spPr>
            <a:xfrm>
              <a:off x="8386625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7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5ADB11D-F828-5E05-7F72-6B1F6BD5FCBF}"/>
                </a:ext>
              </a:extLst>
            </p:cNvPr>
            <p:cNvGrpSpPr/>
            <p:nvPr/>
          </p:nvGrpSpPr>
          <p:grpSpPr>
            <a:xfrm>
              <a:off x="468299" y="3300393"/>
              <a:ext cx="11392443" cy="978845"/>
              <a:chOff x="468299" y="3300393"/>
              <a:chExt cx="11392443" cy="978845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17735A6-71B5-1FDB-8FD1-3FA20A4205BB}"/>
                  </a:ext>
                </a:extLst>
              </p:cNvPr>
              <p:cNvGrpSpPr/>
              <p:nvPr/>
            </p:nvGrpSpPr>
            <p:grpSpPr>
              <a:xfrm>
                <a:off x="1362777" y="3300393"/>
                <a:ext cx="9466445" cy="558434"/>
                <a:chOff x="942121" y="3067425"/>
                <a:chExt cx="9466445" cy="558434"/>
              </a:xfrm>
            </p:grpSpPr>
            <p:pic>
              <p:nvPicPr>
                <p:cNvPr id="52" name="图形 9" descr="图形 9">
                  <a:extLst>
                    <a:ext uri="{FF2B5EF4-FFF2-40B4-BE49-F238E27FC236}">
                      <a16:creationId xmlns:a16="http://schemas.microsoft.com/office/drawing/2014/main" id="{8F7453C5-7B81-CBE0-F6B4-435ABCFF83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12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3" name="图形 9" descr="图形 9">
                  <a:extLst>
                    <a:ext uri="{FF2B5EF4-FFF2-40B4-BE49-F238E27FC236}">
                      <a16:creationId xmlns:a16="http://schemas.microsoft.com/office/drawing/2014/main" id="{89E13CE3-4F0D-17A2-9D0E-873DFDE528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3006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图形 9" descr="图形 9">
                  <a:extLst>
                    <a:ext uri="{FF2B5EF4-FFF2-40B4-BE49-F238E27FC236}">
                      <a16:creationId xmlns:a16="http://schemas.microsoft.com/office/drawing/2014/main" id="{0C36E7DF-1F7C-A8D0-0327-863E728A3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389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图形 9" descr="图形 9">
                  <a:extLst>
                    <a:ext uri="{FF2B5EF4-FFF2-40B4-BE49-F238E27FC236}">
                      <a16:creationId xmlns:a16="http://schemas.microsoft.com/office/drawing/2014/main" id="{D8226654-B651-7AD7-9871-1AD54F7035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84776" y="3067429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图形 9" descr="图形 9">
                  <a:extLst>
                    <a:ext uri="{FF2B5EF4-FFF2-40B4-BE49-F238E27FC236}">
                      <a16:creationId xmlns:a16="http://schemas.microsoft.com/office/drawing/2014/main" id="{DB3017DE-5AD2-1876-D891-4F9C0E15D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65661" y="3067428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图形 9" descr="图形 9">
                  <a:extLst>
                    <a:ext uri="{FF2B5EF4-FFF2-40B4-BE49-F238E27FC236}">
                      <a16:creationId xmlns:a16="http://schemas.microsoft.com/office/drawing/2014/main" id="{2EF69CE8-C2B5-C7BF-CBD2-C24DE24A3F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9001" y="3067425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9" name="图形 9" descr="图形 9">
                  <a:extLst>
                    <a:ext uri="{FF2B5EF4-FFF2-40B4-BE49-F238E27FC236}">
                      <a16:creationId xmlns:a16="http://schemas.microsoft.com/office/drawing/2014/main" id="{562EAF78-875C-21B8-0498-FB8E17E89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3935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0" name="图形 9" descr="图形 9">
                  <a:extLst>
                    <a:ext uri="{FF2B5EF4-FFF2-40B4-BE49-F238E27FC236}">
                      <a16:creationId xmlns:a16="http://schemas.microsoft.com/office/drawing/2014/main" id="{A35836E8-F7A1-6319-F4DB-D77D539D62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2039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1" name="图形 9" descr="图形 9">
                  <a:extLst>
                    <a:ext uri="{FF2B5EF4-FFF2-40B4-BE49-F238E27FC236}">
                      <a16:creationId xmlns:a16="http://schemas.microsoft.com/office/drawing/2014/main" id="{8C86A34A-F240-813C-1C3A-1CE6A9D2BC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27431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2" name="图形 9" descr="图形 9">
                  <a:extLst>
                    <a:ext uri="{FF2B5EF4-FFF2-40B4-BE49-F238E27FC236}">
                      <a16:creationId xmlns:a16="http://schemas.microsoft.com/office/drawing/2014/main" id="{D47E5F7A-34A6-BB99-8F7F-F638E9AB18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7557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1A25B23-20CA-53F4-ED06-AE03A1C1D62C}"/>
                  </a:ext>
                </a:extLst>
              </p:cNvPr>
              <p:cNvSpPr txBox="1"/>
              <p:nvPr/>
            </p:nvSpPr>
            <p:spPr>
              <a:xfrm>
                <a:off x="468299" y="3745759"/>
                <a:ext cx="11392443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ID 1230            1231            1232            1243            1244            1235            1245            1266            1287            1299		</a:t>
                </a:r>
              </a:p>
            </p:txBody>
          </p:sp>
        </p:grp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7A5CC5E-356D-47BA-701E-8D5172C6D53E}"/>
              </a:ext>
            </a:extLst>
          </p:cNvPr>
          <p:cNvSpPr txBox="1"/>
          <p:nvPr/>
        </p:nvSpPr>
        <p:spPr>
          <a:xfrm>
            <a:off x="5437116" y="6139407"/>
            <a:ext cx="593591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1800" i="1" dirty="0" err="1">
                <a:solidFill>
                  <a:srgbClr val="C00000"/>
                </a:solidFill>
              </a:rPr>
              <a:t>Superframe</a:t>
            </a:r>
            <a:r>
              <a:rPr lang="en-US" sz="1800" dirty="0"/>
              <a:t> defines the total no. of time slots for a group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1FC66-0527-4922-DA18-120B15530FCA}"/>
              </a:ext>
            </a:extLst>
          </p:cNvPr>
          <p:cNvSpPr txBox="1"/>
          <p:nvPr/>
        </p:nvSpPr>
        <p:spPr>
          <a:xfrm>
            <a:off x="1366092" y="1545719"/>
            <a:ext cx="956704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Hash-based semi-distributed transmission scheduling policy!</a:t>
            </a:r>
          </a:p>
        </p:txBody>
      </p:sp>
    </p:spTree>
    <p:extLst>
      <p:ext uri="{BB962C8B-B14F-4D97-AF65-F5344CB8AC3E}">
        <p14:creationId xmlns:p14="http://schemas.microsoft.com/office/powerpoint/2010/main" val="218835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  <p:bldP spid="39" grpId="0"/>
      <p:bldP spid="40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1601686" y="62003"/>
            <a:ext cx="8544006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Hash-based Scheduling for Uplink Transmissions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B868-FC1F-B40E-11A3-AF91079A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15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1AEAC0-FAD9-E1D1-0EF8-D435B6FFF10A}"/>
              </a:ext>
            </a:extLst>
          </p:cNvPr>
          <p:cNvGrpSpPr/>
          <p:nvPr/>
        </p:nvGrpSpPr>
        <p:grpSpPr>
          <a:xfrm>
            <a:off x="399778" y="1906026"/>
            <a:ext cx="11392443" cy="1310625"/>
            <a:chOff x="468299" y="2968613"/>
            <a:chExt cx="11392443" cy="13106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2E7500-3288-DB36-1FEE-7E96E27EDFFD}"/>
                </a:ext>
              </a:extLst>
            </p:cNvPr>
            <p:cNvSpPr txBox="1"/>
            <p:nvPr/>
          </p:nvSpPr>
          <p:spPr>
            <a:xfrm>
              <a:off x="1551489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5B144-01E6-0FC1-08BB-0D8F2D2FC615}"/>
                </a:ext>
              </a:extLst>
            </p:cNvPr>
            <p:cNvSpPr txBox="1"/>
            <p:nvPr/>
          </p:nvSpPr>
          <p:spPr>
            <a:xfrm>
              <a:off x="741092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6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23AB17-B9BB-A2EE-3AEF-DC802B408E24}"/>
                </a:ext>
              </a:extLst>
            </p:cNvPr>
            <p:cNvSpPr txBox="1"/>
            <p:nvPr/>
          </p:nvSpPr>
          <p:spPr>
            <a:xfrm>
              <a:off x="2516948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1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0B2FAE-F17B-A997-3F74-8798364FB2F3}"/>
                </a:ext>
              </a:extLst>
            </p:cNvPr>
            <p:cNvSpPr txBox="1"/>
            <p:nvPr/>
          </p:nvSpPr>
          <p:spPr>
            <a:xfrm>
              <a:off x="6454696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5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E17122-0167-5B88-9688-9910ADC85EF2}"/>
                </a:ext>
              </a:extLst>
            </p:cNvPr>
            <p:cNvSpPr txBox="1"/>
            <p:nvPr/>
          </p:nvSpPr>
          <p:spPr>
            <a:xfrm>
              <a:off x="3492649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2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A8CC4-E237-02C4-36FB-7A4CA0748141}"/>
                </a:ext>
              </a:extLst>
            </p:cNvPr>
            <p:cNvSpPr txBox="1"/>
            <p:nvPr/>
          </p:nvSpPr>
          <p:spPr>
            <a:xfrm>
              <a:off x="5465789" y="2996917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4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952CD6-32F3-A17F-7D11-BEAFC77B5D73}"/>
                </a:ext>
              </a:extLst>
            </p:cNvPr>
            <p:cNvSpPr txBox="1"/>
            <p:nvPr/>
          </p:nvSpPr>
          <p:spPr>
            <a:xfrm>
              <a:off x="4481556" y="299793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3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E42692-7832-2AA5-FEDB-0329DDE6A5DC}"/>
                </a:ext>
              </a:extLst>
            </p:cNvPr>
            <p:cNvSpPr txBox="1"/>
            <p:nvPr/>
          </p:nvSpPr>
          <p:spPr>
            <a:xfrm>
              <a:off x="10315101" y="2983081"/>
              <a:ext cx="325409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9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1FE2B7-CDBC-1370-F4B2-6DD898217109}"/>
                </a:ext>
              </a:extLst>
            </p:cNvPr>
            <p:cNvSpPr txBox="1"/>
            <p:nvPr/>
          </p:nvSpPr>
          <p:spPr>
            <a:xfrm>
              <a:off x="938406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8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E552D4-1230-5C72-80A2-602EF25935C2}"/>
                </a:ext>
              </a:extLst>
            </p:cNvPr>
            <p:cNvSpPr txBox="1"/>
            <p:nvPr/>
          </p:nvSpPr>
          <p:spPr>
            <a:xfrm>
              <a:off x="8386625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7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E1DEDF-7CDD-547C-4069-2C6F9F4749DD}"/>
                </a:ext>
              </a:extLst>
            </p:cNvPr>
            <p:cNvGrpSpPr/>
            <p:nvPr/>
          </p:nvGrpSpPr>
          <p:grpSpPr>
            <a:xfrm>
              <a:off x="468299" y="3300393"/>
              <a:ext cx="11392443" cy="978845"/>
              <a:chOff x="468299" y="3300393"/>
              <a:chExt cx="11392443" cy="97884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A55D00-C48B-0DF6-1906-4295D1EAA70F}"/>
                  </a:ext>
                </a:extLst>
              </p:cNvPr>
              <p:cNvGrpSpPr/>
              <p:nvPr/>
            </p:nvGrpSpPr>
            <p:grpSpPr>
              <a:xfrm>
                <a:off x="1362777" y="3300393"/>
                <a:ext cx="9466445" cy="558434"/>
                <a:chOff x="942121" y="3067425"/>
                <a:chExt cx="9466445" cy="558434"/>
              </a:xfrm>
            </p:grpSpPr>
            <p:pic>
              <p:nvPicPr>
                <p:cNvPr id="6" name="图形 9" descr="图形 9">
                  <a:extLst>
                    <a:ext uri="{FF2B5EF4-FFF2-40B4-BE49-F238E27FC236}">
                      <a16:creationId xmlns:a16="http://schemas.microsoft.com/office/drawing/2014/main" id="{8CF31AA0-A24B-E1B7-2B40-0AF6F5AEA8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12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" name="图形 9" descr="图形 9">
                  <a:extLst>
                    <a:ext uri="{FF2B5EF4-FFF2-40B4-BE49-F238E27FC236}">
                      <a16:creationId xmlns:a16="http://schemas.microsoft.com/office/drawing/2014/main" id="{D375F8CB-2372-07AA-FAE3-D44529C6DF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3006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" name="图形 9" descr="图形 9">
                  <a:extLst>
                    <a:ext uri="{FF2B5EF4-FFF2-40B4-BE49-F238E27FC236}">
                      <a16:creationId xmlns:a16="http://schemas.microsoft.com/office/drawing/2014/main" id="{956D3C48-E78E-E558-E8EB-9C4AE0245C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389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2" name="图形 9" descr="图形 9">
                  <a:extLst>
                    <a:ext uri="{FF2B5EF4-FFF2-40B4-BE49-F238E27FC236}">
                      <a16:creationId xmlns:a16="http://schemas.microsoft.com/office/drawing/2014/main" id="{3C127091-1F10-27CE-6368-40B904CBD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84776" y="3067429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图形 9" descr="图形 9">
                  <a:extLst>
                    <a:ext uri="{FF2B5EF4-FFF2-40B4-BE49-F238E27FC236}">
                      <a16:creationId xmlns:a16="http://schemas.microsoft.com/office/drawing/2014/main" id="{E30B30BF-483C-0829-D3DC-D133259C5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65661" y="3067428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图形 9" descr="图形 9">
                  <a:extLst>
                    <a:ext uri="{FF2B5EF4-FFF2-40B4-BE49-F238E27FC236}">
                      <a16:creationId xmlns:a16="http://schemas.microsoft.com/office/drawing/2014/main" id="{4AF8684F-6F11-64A3-DB5C-6F702A5D8E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9001" y="3067425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图形 9" descr="图形 9">
                  <a:extLst>
                    <a:ext uri="{FF2B5EF4-FFF2-40B4-BE49-F238E27FC236}">
                      <a16:creationId xmlns:a16="http://schemas.microsoft.com/office/drawing/2014/main" id="{79D61889-B558-48CA-A515-9C3BA6AE7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3935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图形 9" descr="图形 9">
                  <a:extLst>
                    <a:ext uri="{FF2B5EF4-FFF2-40B4-BE49-F238E27FC236}">
                      <a16:creationId xmlns:a16="http://schemas.microsoft.com/office/drawing/2014/main" id="{81183BBE-F6DD-5ED9-7A68-67DC3D5ACC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2039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7" name="图形 9" descr="图形 9">
                  <a:extLst>
                    <a:ext uri="{FF2B5EF4-FFF2-40B4-BE49-F238E27FC236}">
                      <a16:creationId xmlns:a16="http://schemas.microsoft.com/office/drawing/2014/main" id="{D8078D6C-C897-8C17-6AB9-C1BEC3046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27431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8" name="图形 9" descr="图形 9">
                  <a:extLst>
                    <a:ext uri="{FF2B5EF4-FFF2-40B4-BE49-F238E27FC236}">
                      <a16:creationId xmlns:a16="http://schemas.microsoft.com/office/drawing/2014/main" id="{A7E21158-C636-FB3B-D5E4-730A1D4575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7557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7026F1-97FD-571B-42A4-05C618046355}"/>
                  </a:ext>
                </a:extLst>
              </p:cNvPr>
              <p:cNvSpPr txBox="1"/>
              <p:nvPr/>
            </p:nvSpPr>
            <p:spPr>
              <a:xfrm>
                <a:off x="468299" y="3745759"/>
                <a:ext cx="11392443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ID 1230            1231            1232            1243            1244            1235            1245            1266            1287            1299		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2B946E0-1580-9BC8-782A-FB079E33985D}"/>
              </a:ext>
            </a:extLst>
          </p:cNvPr>
          <p:cNvSpPr txBox="1"/>
          <p:nvPr/>
        </p:nvSpPr>
        <p:spPr>
          <a:xfrm>
            <a:off x="5022924" y="3151806"/>
            <a:ext cx="1631488" cy="331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dirty="0">
                <a:solidFill>
                  <a:srgbClr val="C00000"/>
                </a:solidFill>
              </a:rPr>
              <a:t>h(K) = k mod M</a:t>
            </a:r>
            <a:endParaRPr kumimoji="0" lang="en-US" sz="2400" b="0" i="1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B65208-E715-6DE4-F770-18B1B6665D53}"/>
              </a:ext>
            </a:extLst>
          </p:cNvPr>
          <p:cNvSpPr txBox="1"/>
          <p:nvPr/>
        </p:nvSpPr>
        <p:spPr>
          <a:xfrm>
            <a:off x="4607421" y="3471498"/>
            <a:ext cx="2252220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Time Slot = Node ID % 10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7DCA5C-8729-184F-01A5-6B7852D89E49}"/>
              </a:ext>
            </a:extLst>
          </p:cNvPr>
          <p:cNvSpPr txBox="1"/>
          <p:nvPr/>
        </p:nvSpPr>
        <p:spPr>
          <a:xfrm>
            <a:off x="620801" y="5065612"/>
            <a:ext cx="54983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Time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slots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50B8E7-2174-4F4C-CB88-3427C0B060F5}"/>
              </a:ext>
            </a:extLst>
          </p:cNvPr>
          <p:cNvSpPr txBox="1"/>
          <p:nvPr/>
        </p:nvSpPr>
        <p:spPr>
          <a:xfrm>
            <a:off x="1339746" y="5127167"/>
            <a:ext cx="75664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0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30A12D0-686F-A71B-AA3B-6EC75DC84F79}"/>
              </a:ext>
            </a:extLst>
          </p:cNvPr>
          <p:cNvCxnSpPr>
            <a:cxnSpLocks/>
          </p:cNvCxnSpPr>
          <p:nvPr/>
        </p:nvCxnSpPr>
        <p:spPr>
          <a:xfrm>
            <a:off x="1692559" y="3151806"/>
            <a:ext cx="0" cy="1975361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40BE6B3-A09B-64B1-303B-F98CA9622316}"/>
              </a:ext>
            </a:extLst>
          </p:cNvPr>
          <p:cNvCxnSpPr/>
          <p:nvPr/>
        </p:nvCxnSpPr>
        <p:spPr>
          <a:xfrm>
            <a:off x="2673444" y="4161285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1C69E29-DC6A-8705-4868-ACBB165F016E}"/>
              </a:ext>
            </a:extLst>
          </p:cNvPr>
          <p:cNvCxnSpPr/>
          <p:nvPr/>
        </p:nvCxnSpPr>
        <p:spPr>
          <a:xfrm>
            <a:off x="3654329" y="4178263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426519-E1C3-C445-E49F-1DEC84A79D90}"/>
              </a:ext>
            </a:extLst>
          </p:cNvPr>
          <p:cNvCxnSpPr/>
          <p:nvPr/>
        </p:nvCxnSpPr>
        <p:spPr>
          <a:xfrm>
            <a:off x="9562107" y="4161285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3AC853B-C581-F001-6B44-AD6B1E33A870}"/>
              </a:ext>
            </a:extLst>
          </p:cNvPr>
          <p:cNvCxnSpPr>
            <a:cxnSpLocks/>
          </p:cNvCxnSpPr>
          <p:nvPr/>
        </p:nvCxnSpPr>
        <p:spPr>
          <a:xfrm>
            <a:off x="10499439" y="3151806"/>
            <a:ext cx="0" cy="1975361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E482D1-6E58-F35D-D52C-916989DEF0B4}"/>
              </a:ext>
            </a:extLst>
          </p:cNvPr>
          <p:cNvCxnSpPr/>
          <p:nvPr/>
        </p:nvCxnSpPr>
        <p:spPr>
          <a:xfrm>
            <a:off x="4599734" y="4178263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BF369D-1AF5-CB9A-9D18-F0580EFE7964}"/>
              </a:ext>
            </a:extLst>
          </p:cNvPr>
          <p:cNvCxnSpPr/>
          <p:nvPr/>
        </p:nvCxnSpPr>
        <p:spPr>
          <a:xfrm>
            <a:off x="5626918" y="4178263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5CAF6C-00B1-F70C-73F4-C2B7F583BFDD}"/>
              </a:ext>
            </a:extLst>
          </p:cNvPr>
          <p:cNvCxnSpPr/>
          <p:nvPr/>
        </p:nvCxnSpPr>
        <p:spPr>
          <a:xfrm>
            <a:off x="6642809" y="4178263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A580B7-5F41-7E86-AD0D-E8405950B0A2}"/>
              </a:ext>
            </a:extLst>
          </p:cNvPr>
          <p:cNvCxnSpPr/>
          <p:nvPr/>
        </p:nvCxnSpPr>
        <p:spPr>
          <a:xfrm>
            <a:off x="7642638" y="4178263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34F361-0453-D834-2729-DACF40C5E9FC}"/>
              </a:ext>
            </a:extLst>
          </p:cNvPr>
          <p:cNvCxnSpPr/>
          <p:nvPr/>
        </p:nvCxnSpPr>
        <p:spPr>
          <a:xfrm>
            <a:off x="8568396" y="4161285"/>
            <a:ext cx="0" cy="965882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528E14D-BD34-7D26-9E8D-3486053233EB}"/>
              </a:ext>
            </a:extLst>
          </p:cNvPr>
          <p:cNvSpPr txBox="1"/>
          <p:nvPr/>
        </p:nvSpPr>
        <p:spPr>
          <a:xfrm>
            <a:off x="4655350" y="6030914"/>
            <a:ext cx="3077766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Superframe</a:t>
            </a: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length = 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0B884B-62C2-2B62-B3EB-23A7F2FFE01F}"/>
              </a:ext>
            </a:extLst>
          </p:cNvPr>
          <p:cNvSpPr txBox="1"/>
          <p:nvPr/>
        </p:nvSpPr>
        <p:spPr>
          <a:xfrm>
            <a:off x="2557268" y="4792382"/>
            <a:ext cx="728086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 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CFF740-24DA-6C0B-38E3-40C867E983D5}"/>
              </a:ext>
            </a:extLst>
          </p:cNvPr>
          <p:cNvSpPr txBox="1"/>
          <p:nvPr/>
        </p:nvSpPr>
        <p:spPr>
          <a:xfrm>
            <a:off x="3543762" y="5153212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83FDB2-6E9E-5861-D7A4-F4076617AE31}"/>
              </a:ext>
            </a:extLst>
          </p:cNvPr>
          <p:cNvSpPr txBox="1"/>
          <p:nvPr/>
        </p:nvSpPr>
        <p:spPr>
          <a:xfrm>
            <a:off x="4495730" y="5153212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E6FF4A-A4A6-969C-1B31-C8A3FFF122A8}"/>
              </a:ext>
            </a:extLst>
          </p:cNvPr>
          <p:cNvSpPr txBox="1"/>
          <p:nvPr/>
        </p:nvSpPr>
        <p:spPr>
          <a:xfrm>
            <a:off x="5501841" y="5153212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7C5F89-8920-42BB-0EFD-3D3D060AEC79}"/>
              </a:ext>
            </a:extLst>
          </p:cNvPr>
          <p:cNvSpPr txBox="1"/>
          <p:nvPr/>
        </p:nvSpPr>
        <p:spPr>
          <a:xfrm>
            <a:off x="6507952" y="5162359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5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23C7FA-AB43-F368-7129-A64E78726952}"/>
              </a:ext>
            </a:extLst>
          </p:cNvPr>
          <p:cNvSpPr txBox="1"/>
          <p:nvPr/>
        </p:nvSpPr>
        <p:spPr>
          <a:xfrm>
            <a:off x="8459741" y="5127167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729ED0-958F-4F33-D6BF-B43A8A823BD2}"/>
              </a:ext>
            </a:extLst>
          </p:cNvPr>
          <p:cNvSpPr txBox="1"/>
          <p:nvPr/>
        </p:nvSpPr>
        <p:spPr>
          <a:xfrm>
            <a:off x="9465852" y="5153132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7         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DBC4B-CE9B-40F8-78E1-7815B2FA85EF}"/>
              </a:ext>
            </a:extLst>
          </p:cNvPr>
          <p:cNvSpPr txBox="1"/>
          <p:nvPr/>
        </p:nvSpPr>
        <p:spPr>
          <a:xfrm>
            <a:off x="7523843" y="5127167"/>
            <a:ext cx="38381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909264-5B3B-BDCD-369C-96EC472A860D}"/>
              </a:ext>
            </a:extLst>
          </p:cNvPr>
          <p:cNvSpPr txBox="1"/>
          <p:nvPr/>
        </p:nvSpPr>
        <p:spPr>
          <a:xfrm>
            <a:off x="10381604" y="5153052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9 </a:t>
            </a:r>
          </a:p>
        </p:txBody>
      </p:sp>
    </p:spTree>
    <p:extLst>
      <p:ext uri="{BB962C8B-B14F-4D97-AF65-F5344CB8AC3E}">
        <p14:creationId xmlns:p14="http://schemas.microsoft.com/office/powerpoint/2010/main" val="3248148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4" grpId="0"/>
      <p:bldP spid="46" grpId="0"/>
      <p:bldP spid="53" grpId="0"/>
      <p:bldP spid="56" grpId="0"/>
      <p:bldP spid="59" grpId="0"/>
      <p:bldP spid="61" grpId="0"/>
      <p:bldP spid="62" grpId="0"/>
      <p:bldP spid="63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0B56972-CDC0-D6C2-EBC0-048FFE0D61CD}"/>
              </a:ext>
            </a:extLst>
          </p:cNvPr>
          <p:cNvSpPr/>
          <p:nvPr/>
        </p:nvSpPr>
        <p:spPr>
          <a:xfrm>
            <a:off x="6311963" y="3070784"/>
            <a:ext cx="1787767" cy="1099595"/>
          </a:xfrm>
          <a:prstGeom prst="rect">
            <a:avLst/>
          </a:prstGeom>
          <a:solidFill>
            <a:srgbClr val="FF0000">
              <a:alpha val="64817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2544252" y="62003"/>
            <a:ext cx="6658874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Ensuring Collision Free Transmissions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B868-FC1F-B40E-11A3-AF91079A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16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1AEAC0-FAD9-E1D1-0EF8-D435B6FFF10A}"/>
              </a:ext>
            </a:extLst>
          </p:cNvPr>
          <p:cNvGrpSpPr/>
          <p:nvPr/>
        </p:nvGrpSpPr>
        <p:grpSpPr>
          <a:xfrm>
            <a:off x="468299" y="1431101"/>
            <a:ext cx="11392443" cy="1310625"/>
            <a:chOff x="468299" y="2968613"/>
            <a:chExt cx="11392443" cy="13106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2E7500-3288-DB36-1FEE-7E96E27EDFFD}"/>
                </a:ext>
              </a:extLst>
            </p:cNvPr>
            <p:cNvSpPr txBox="1"/>
            <p:nvPr/>
          </p:nvSpPr>
          <p:spPr>
            <a:xfrm>
              <a:off x="1551489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5B144-01E6-0FC1-08BB-0D8F2D2FC615}"/>
                </a:ext>
              </a:extLst>
            </p:cNvPr>
            <p:cNvSpPr txBox="1"/>
            <p:nvPr/>
          </p:nvSpPr>
          <p:spPr>
            <a:xfrm>
              <a:off x="741092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6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23AB17-B9BB-A2EE-3AEF-DC802B408E24}"/>
                </a:ext>
              </a:extLst>
            </p:cNvPr>
            <p:cNvSpPr txBox="1"/>
            <p:nvPr/>
          </p:nvSpPr>
          <p:spPr>
            <a:xfrm>
              <a:off x="2516948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1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0B2FAE-F17B-A997-3F74-8798364FB2F3}"/>
                </a:ext>
              </a:extLst>
            </p:cNvPr>
            <p:cNvSpPr txBox="1"/>
            <p:nvPr/>
          </p:nvSpPr>
          <p:spPr>
            <a:xfrm>
              <a:off x="6454696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5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E17122-0167-5B88-9688-9910ADC85EF2}"/>
                </a:ext>
              </a:extLst>
            </p:cNvPr>
            <p:cNvSpPr txBox="1"/>
            <p:nvPr/>
          </p:nvSpPr>
          <p:spPr>
            <a:xfrm>
              <a:off x="3492649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2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A8CC4-E237-02C4-36FB-7A4CA0748141}"/>
                </a:ext>
              </a:extLst>
            </p:cNvPr>
            <p:cNvSpPr txBox="1"/>
            <p:nvPr/>
          </p:nvSpPr>
          <p:spPr>
            <a:xfrm>
              <a:off x="5465789" y="2996917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4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952CD6-32F3-A17F-7D11-BEAFC77B5D73}"/>
                </a:ext>
              </a:extLst>
            </p:cNvPr>
            <p:cNvSpPr txBox="1"/>
            <p:nvPr/>
          </p:nvSpPr>
          <p:spPr>
            <a:xfrm>
              <a:off x="4481556" y="299793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3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E42692-7832-2AA5-FEDB-0329DDE6A5DC}"/>
                </a:ext>
              </a:extLst>
            </p:cNvPr>
            <p:cNvSpPr txBox="1"/>
            <p:nvPr/>
          </p:nvSpPr>
          <p:spPr>
            <a:xfrm>
              <a:off x="10315101" y="2983081"/>
              <a:ext cx="325409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9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1FE2B7-CDBC-1370-F4B2-6DD898217109}"/>
                </a:ext>
              </a:extLst>
            </p:cNvPr>
            <p:cNvSpPr txBox="1"/>
            <p:nvPr/>
          </p:nvSpPr>
          <p:spPr>
            <a:xfrm>
              <a:off x="938406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8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E552D4-1230-5C72-80A2-602EF25935C2}"/>
                </a:ext>
              </a:extLst>
            </p:cNvPr>
            <p:cNvSpPr txBox="1"/>
            <p:nvPr/>
          </p:nvSpPr>
          <p:spPr>
            <a:xfrm>
              <a:off x="8386625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7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E1DEDF-7CDD-547C-4069-2C6F9F4749DD}"/>
                </a:ext>
              </a:extLst>
            </p:cNvPr>
            <p:cNvGrpSpPr/>
            <p:nvPr/>
          </p:nvGrpSpPr>
          <p:grpSpPr>
            <a:xfrm>
              <a:off x="468299" y="3300393"/>
              <a:ext cx="11392443" cy="978845"/>
              <a:chOff x="468299" y="3300393"/>
              <a:chExt cx="11392443" cy="97884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A55D00-C48B-0DF6-1906-4295D1EAA70F}"/>
                  </a:ext>
                </a:extLst>
              </p:cNvPr>
              <p:cNvGrpSpPr/>
              <p:nvPr/>
            </p:nvGrpSpPr>
            <p:grpSpPr>
              <a:xfrm>
                <a:off x="1362777" y="3300393"/>
                <a:ext cx="9466445" cy="558434"/>
                <a:chOff x="942121" y="3067425"/>
                <a:chExt cx="9466445" cy="558434"/>
              </a:xfrm>
            </p:grpSpPr>
            <p:pic>
              <p:nvPicPr>
                <p:cNvPr id="6" name="图形 9" descr="图形 9">
                  <a:extLst>
                    <a:ext uri="{FF2B5EF4-FFF2-40B4-BE49-F238E27FC236}">
                      <a16:creationId xmlns:a16="http://schemas.microsoft.com/office/drawing/2014/main" id="{8CF31AA0-A24B-E1B7-2B40-0AF6F5AEA8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12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" name="图形 9" descr="图形 9">
                  <a:extLst>
                    <a:ext uri="{FF2B5EF4-FFF2-40B4-BE49-F238E27FC236}">
                      <a16:creationId xmlns:a16="http://schemas.microsoft.com/office/drawing/2014/main" id="{D375F8CB-2372-07AA-FAE3-D44529C6DF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3006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" name="图形 9" descr="图形 9">
                  <a:extLst>
                    <a:ext uri="{FF2B5EF4-FFF2-40B4-BE49-F238E27FC236}">
                      <a16:creationId xmlns:a16="http://schemas.microsoft.com/office/drawing/2014/main" id="{956D3C48-E78E-E558-E8EB-9C4AE0245C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389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2" name="图形 9" descr="图形 9">
                  <a:extLst>
                    <a:ext uri="{FF2B5EF4-FFF2-40B4-BE49-F238E27FC236}">
                      <a16:creationId xmlns:a16="http://schemas.microsoft.com/office/drawing/2014/main" id="{3C127091-1F10-27CE-6368-40B904CBD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84776" y="3067429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图形 9" descr="图形 9">
                  <a:extLst>
                    <a:ext uri="{FF2B5EF4-FFF2-40B4-BE49-F238E27FC236}">
                      <a16:creationId xmlns:a16="http://schemas.microsoft.com/office/drawing/2014/main" id="{E30B30BF-483C-0829-D3DC-D133259C5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65661" y="3067428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图形 9" descr="图形 9">
                  <a:extLst>
                    <a:ext uri="{FF2B5EF4-FFF2-40B4-BE49-F238E27FC236}">
                      <a16:creationId xmlns:a16="http://schemas.microsoft.com/office/drawing/2014/main" id="{4AF8684F-6F11-64A3-DB5C-6F702A5D8E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9001" y="3067425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图形 9" descr="图形 9">
                  <a:extLst>
                    <a:ext uri="{FF2B5EF4-FFF2-40B4-BE49-F238E27FC236}">
                      <a16:creationId xmlns:a16="http://schemas.microsoft.com/office/drawing/2014/main" id="{79D61889-B558-48CA-A515-9C3BA6AE7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3935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图形 9" descr="图形 9">
                  <a:extLst>
                    <a:ext uri="{FF2B5EF4-FFF2-40B4-BE49-F238E27FC236}">
                      <a16:creationId xmlns:a16="http://schemas.microsoft.com/office/drawing/2014/main" id="{81183BBE-F6DD-5ED9-7A68-67DC3D5ACC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2039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7" name="图形 9" descr="图形 9">
                  <a:extLst>
                    <a:ext uri="{FF2B5EF4-FFF2-40B4-BE49-F238E27FC236}">
                      <a16:creationId xmlns:a16="http://schemas.microsoft.com/office/drawing/2014/main" id="{D8078D6C-C897-8C17-6AB9-C1BEC3046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27431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8" name="图形 9" descr="图形 9">
                  <a:extLst>
                    <a:ext uri="{FF2B5EF4-FFF2-40B4-BE49-F238E27FC236}">
                      <a16:creationId xmlns:a16="http://schemas.microsoft.com/office/drawing/2014/main" id="{A7E21158-C636-FB3B-D5E4-730A1D4575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7557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7026F1-97FD-571B-42A4-05C618046355}"/>
                  </a:ext>
                </a:extLst>
              </p:cNvPr>
              <p:cNvSpPr txBox="1"/>
              <p:nvPr/>
            </p:nvSpPr>
            <p:spPr>
              <a:xfrm>
                <a:off x="468299" y="3745759"/>
                <a:ext cx="11392443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ID 1230            1231            1232            1243            1244            1235            1245            1266            1287            1299		</a:t>
                </a: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67DCA5C-8729-184F-01A5-6B7852D89E49}"/>
              </a:ext>
            </a:extLst>
          </p:cNvPr>
          <p:cNvSpPr txBox="1"/>
          <p:nvPr/>
        </p:nvSpPr>
        <p:spPr>
          <a:xfrm>
            <a:off x="679851" y="3417035"/>
            <a:ext cx="54983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Time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slots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50B8E7-2174-4F4C-CB88-3427C0B060F5}"/>
              </a:ext>
            </a:extLst>
          </p:cNvPr>
          <p:cNvSpPr txBox="1"/>
          <p:nvPr/>
        </p:nvSpPr>
        <p:spPr>
          <a:xfrm>
            <a:off x="1371719" y="3478591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0         1          2         3          4      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6          7         9 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526F78D-2E32-9012-C890-38598A3E91DB}"/>
              </a:ext>
            </a:extLst>
          </p:cNvPr>
          <p:cNvGrpSpPr/>
          <p:nvPr/>
        </p:nvGrpSpPr>
        <p:grpSpPr>
          <a:xfrm>
            <a:off x="1692559" y="2552061"/>
            <a:ext cx="8806880" cy="982860"/>
            <a:chOff x="1692559" y="4161285"/>
            <a:chExt cx="8806880" cy="982860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30A12D0-686F-A71B-AA3B-6EC75DC84F79}"/>
                </a:ext>
              </a:extLst>
            </p:cNvPr>
            <p:cNvCxnSpPr/>
            <p:nvPr/>
          </p:nvCxnSpPr>
          <p:spPr>
            <a:xfrm>
              <a:off x="1692559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40BE6B3-A09B-64B1-303B-F98CA9622316}"/>
                </a:ext>
              </a:extLst>
            </p:cNvPr>
            <p:cNvCxnSpPr/>
            <p:nvPr/>
          </p:nvCxnSpPr>
          <p:spPr>
            <a:xfrm>
              <a:off x="2673444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1C69E29-DC6A-8705-4868-ACBB165F016E}"/>
                </a:ext>
              </a:extLst>
            </p:cNvPr>
            <p:cNvCxnSpPr/>
            <p:nvPr/>
          </p:nvCxnSpPr>
          <p:spPr>
            <a:xfrm>
              <a:off x="3654329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B426519-E1C3-C445-E49F-1DEC84A79D90}"/>
                </a:ext>
              </a:extLst>
            </p:cNvPr>
            <p:cNvCxnSpPr/>
            <p:nvPr/>
          </p:nvCxnSpPr>
          <p:spPr>
            <a:xfrm>
              <a:off x="9562107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3AC853B-C581-F001-6B44-AD6B1E33A870}"/>
                </a:ext>
              </a:extLst>
            </p:cNvPr>
            <p:cNvCxnSpPr/>
            <p:nvPr/>
          </p:nvCxnSpPr>
          <p:spPr>
            <a:xfrm>
              <a:off x="10499439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FE482D1-6E58-F35D-D52C-916989DEF0B4}"/>
                </a:ext>
              </a:extLst>
            </p:cNvPr>
            <p:cNvCxnSpPr/>
            <p:nvPr/>
          </p:nvCxnSpPr>
          <p:spPr>
            <a:xfrm>
              <a:off x="4599734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BF369D-1AF5-CB9A-9D18-F0580EFE7964}"/>
                </a:ext>
              </a:extLst>
            </p:cNvPr>
            <p:cNvCxnSpPr/>
            <p:nvPr/>
          </p:nvCxnSpPr>
          <p:spPr>
            <a:xfrm>
              <a:off x="5626918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5CAF6C-00B1-F70C-73F4-C2B7F583BFDD}"/>
                </a:ext>
              </a:extLst>
            </p:cNvPr>
            <p:cNvCxnSpPr/>
            <p:nvPr/>
          </p:nvCxnSpPr>
          <p:spPr>
            <a:xfrm>
              <a:off x="6642809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4A580B7-5F41-7E86-AD0D-E8405950B0A2}"/>
                </a:ext>
              </a:extLst>
            </p:cNvPr>
            <p:cNvCxnSpPr/>
            <p:nvPr/>
          </p:nvCxnSpPr>
          <p:spPr>
            <a:xfrm>
              <a:off x="7642638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134F361-0453-D834-2729-DACF40C5E9FC}"/>
                </a:ext>
              </a:extLst>
            </p:cNvPr>
            <p:cNvCxnSpPr/>
            <p:nvPr/>
          </p:nvCxnSpPr>
          <p:spPr>
            <a:xfrm>
              <a:off x="8568396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A26D54D-4282-D996-CEBC-341BBAC9A458}"/>
              </a:ext>
            </a:extLst>
          </p:cNvPr>
          <p:cNvSpPr txBox="1"/>
          <p:nvPr/>
        </p:nvSpPr>
        <p:spPr>
          <a:xfrm>
            <a:off x="6482855" y="4106262"/>
            <a:ext cx="1439498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Collision!!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CAB6E4-75BB-136D-7E17-F3F757BF080B}"/>
              </a:ext>
            </a:extLst>
          </p:cNvPr>
          <p:cNvSpPr txBox="1"/>
          <p:nvPr/>
        </p:nvSpPr>
        <p:spPr>
          <a:xfrm>
            <a:off x="2599748" y="4954975"/>
            <a:ext cx="733694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dynamically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handles time slot collisions.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62D0EA-0DE8-A6D7-9FDC-5F1B7404F0C8}"/>
              </a:ext>
            </a:extLst>
          </p:cNvPr>
          <p:cNvSpPr txBox="1"/>
          <p:nvPr/>
        </p:nvSpPr>
        <p:spPr>
          <a:xfrm>
            <a:off x="3673752" y="5582646"/>
            <a:ext cx="518892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New time slot via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Piggybacked ACK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58029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55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0B56972-CDC0-D6C2-EBC0-048FFE0D61CD}"/>
              </a:ext>
            </a:extLst>
          </p:cNvPr>
          <p:cNvSpPr/>
          <p:nvPr/>
        </p:nvSpPr>
        <p:spPr>
          <a:xfrm>
            <a:off x="6311963" y="3070784"/>
            <a:ext cx="1787767" cy="109959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2544252" y="62003"/>
            <a:ext cx="6658874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Ensuring Collision Free Transmissions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B868-FC1F-B40E-11A3-AF91079A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17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1AEAC0-FAD9-E1D1-0EF8-D435B6FFF10A}"/>
              </a:ext>
            </a:extLst>
          </p:cNvPr>
          <p:cNvGrpSpPr/>
          <p:nvPr/>
        </p:nvGrpSpPr>
        <p:grpSpPr>
          <a:xfrm>
            <a:off x="468299" y="1431101"/>
            <a:ext cx="11392443" cy="1310625"/>
            <a:chOff x="468299" y="2968613"/>
            <a:chExt cx="11392443" cy="13106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2E7500-3288-DB36-1FEE-7E96E27EDFFD}"/>
                </a:ext>
              </a:extLst>
            </p:cNvPr>
            <p:cNvSpPr txBox="1"/>
            <p:nvPr/>
          </p:nvSpPr>
          <p:spPr>
            <a:xfrm>
              <a:off x="1551489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5B144-01E6-0FC1-08BB-0D8F2D2FC615}"/>
                </a:ext>
              </a:extLst>
            </p:cNvPr>
            <p:cNvSpPr txBox="1"/>
            <p:nvPr/>
          </p:nvSpPr>
          <p:spPr>
            <a:xfrm>
              <a:off x="741092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6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23AB17-B9BB-A2EE-3AEF-DC802B408E24}"/>
                </a:ext>
              </a:extLst>
            </p:cNvPr>
            <p:cNvSpPr txBox="1"/>
            <p:nvPr/>
          </p:nvSpPr>
          <p:spPr>
            <a:xfrm>
              <a:off x="2516948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1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0B2FAE-F17B-A997-3F74-8798364FB2F3}"/>
                </a:ext>
              </a:extLst>
            </p:cNvPr>
            <p:cNvSpPr txBox="1"/>
            <p:nvPr/>
          </p:nvSpPr>
          <p:spPr>
            <a:xfrm>
              <a:off x="6454696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5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E17122-0167-5B88-9688-9910ADC85EF2}"/>
                </a:ext>
              </a:extLst>
            </p:cNvPr>
            <p:cNvSpPr txBox="1"/>
            <p:nvPr/>
          </p:nvSpPr>
          <p:spPr>
            <a:xfrm>
              <a:off x="3492649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2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A8CC4-E237-02C4-36FB-7A4CA0748141}"/>
                </a:ext>
              </a:extLst>
            </p:cNvPr>
            <p:cNvSpPr txBox="1"/>
            <p:nvPr/>
          </p:nvSpPr>
          <p:spPr>
            <a:xfrm>
              <a:off x="5465789" y="2996917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4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952CD6-32F3-A17F-7D11-BEAFC77B5D73}"/>
                </a:ext>
              </a:extLst>
            </p:cNvPr>
            <p:cNvSpPr txBox="1"/>
            <p:nvPr/>
          </p:nvSpPr>
          <p:spPr>
            <a:xfrm>
              <a:off x="4481556" y="299793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3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E42692-7832-2AA5-FEDB-0329DDE6A5DC}"/>
                </a:ext>
              </a:extLst>
            </p:cNvPr>
            <p:cNvSpPr txBox="1"/>
            <p:nvPr/>
          </p:nvSpPr>
          <p:spPr>
            <a:xfrm>
              <a:off x="10315101" y="2983081"/>
              <a:ext cx="325409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9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1FE2B7-CDBC-1370-F4B2-6DD898217109}"/>
                </a:ext>
              </a:extLst>
            </p:cNvPr>
            <p:cNvSpPr txBox="1"/>
            <p:nvPr/>
          </p:nvSpPr>
          <p:spPr>
            <a:xfrm>
              <a:off x="938406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8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E552D4-1230-5C72-80A2-602EF25935C2}"/>
                </a:ext>
              </a:extLst>
            </p:cNvPr>
            <p:cNvSpPr txBox="1"/>
            <p:nvPr/>
          </p:nvSpPr>
          <p:spPr>
            <a:xfrm>
              <a:off x="8386625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7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E1DEDF-7CDD-547C-4069-2C6F9F4749DD}"/>
                </a:ext>
              </a:extLst>
            </p:cNvPr>
            <p:cNvGrpSpPr/>
            <p:nvPr/>
          </p:nvGrpSpPr>
          <p:grpSpPr>
            <a:xfrm>
              <a:off x="468299" y="3300393"/>
              <a:ext cx="11392443" cy="978845"/>
              <a:chOff x="468299" y="3300393"/>
              <a:chExt cx="11392443" cy="97884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A55D00-C48B-0DF6-1906-4295D1EAA70F}"/>
                  </a:ext>
                </a:extLst>
              </p:cNvPr>
              <p:cNvGrpSpPr/>
              <p:nvPr/>
            </p:nvGrpSpPr>
            <p:grpSpPr>
              <a:xfrm>
                <a:off x="1362777" y="3300393"/>
                <a:ext cx="9466445" cy="558434"/>
                <a:chOff x="942121" y="3067425"/>
                <a:chExt cx="9466445" cy="558434"/>
              </a:xfrm>
            </p:grpSpPr>
            <p:pic>
              <p:nvPicPr>
                <p:cNvPr id="6" name="图形 9" descr="图形 9">
                  <a:extLst>
                    <a:ext uri="{FF2B5EF4-FFF2-40B4-BE49-F238E27FC236}">
                      <a16:creationId xmlns:a16="http://schemas.microsoft.com/office/drawing/2014/main" id="{8CF31AA0-A24B-E1B7-2B40-0AF6F5AEA8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12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" name="图形 9" descr="图形 9">
                  <a:extLst>
                    <a:ext uri="{FF2B5EF4-FFF2-40B4-BE49-F238E27FC236}">
                      <a16:creationId xmlns:a16="http://schemas.microsoft.com/office/drawing/2014/main" id="{D375F8CB-2372-07AA-FAE3-D44529C6DF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3006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" name="图形 9" descr="图形 9">
                  <a:extLst>
                    <a:ext uri="{FF2B5EF4-FFF2-40B4-BE49-F238E27FC236}">
                      <a16:creationId xmlns:a16="http://schemas.microsoft.com/office/drawing/2014/main" id="{956D3C48-E78E-E558-E8EB-9C4AE0245C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389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2" name="图形 9" descr="图形 9">
                  <a:extLst>
                    <a:ext uri="{FF2B5EF4-FFF2-40B4-BE49-F238E27FC236}">
                      <a16:creationId xmlns:a16="http://schemas.microsoft.com/office/drawing/2014/main" id="{3C127091-1F10-27CE-6368-40B904CBD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84776" y="3067429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图形 9" descr="图形 9">
                  <a:extLst>
                    <a:ext uri="{FF2B5EF4-FFF2-40B4-BE49-F238E27FC236}">
                      <a16:creationId xmlns:a16="http://schemas.microsoft.com/office/drawing/2014/main" id="{E30B30BF-483C-0829-D3DC-D133259C5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65661" y="3067428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图形 9" descr="图形 9">
                  <a:extLst>
                    <a:ext uri="{FF2B5EF4-FFF2-40B4-BE49-F238E27FC236}">
                      <a16:creationId xmlns:a16="http://schemas.microsoft.com/office/drawing/2014/main" id="{4AF8684F-6F11-64A3-DB5C-6F702A5D8E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9001" y="3067425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图形 9" descr="图形 9">
                  <a:extLst>
                    <a:ext uri="{FF2B5EF4-FFF2-40B4-BE49-F238E27FC236}">
                      <a16:creationId xmlns:a16="http://schemas.microsoft.com/office/drawing/2014/main" id="{79D61889-B558-48CA-A515-9C3BA6AE7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3935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图形 9" descr="图形 9">
                  <a:extLst>
                    <a:ext uri="{FF2B5EF4-FFF2-40B4-BE49-F238E27FC236}">
                      <a16:creationId xmlns:a16="http://schemas.microsoft.com/office/drawing/2014/main" id="{81183BBE-F6DD-5ED9-7A68-67DC3D5ACC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2039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7" name="图形 9" descr="图形 9">
                  <a:extLst>
                    <a:ext uri="{FF2B5EF4-FFF2-40B4-BE49-F238E27FC236}">
                      <a16:creationId xmlns:a16="http://schemas.microsoft.com/office/drawing/2014/main" id="{D8078D6C-C897-8C17-6AB9-C1BEC3046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27431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8" name="图形 9" descr="图形 9">
                  <a:extLst>
                    <a:ext uri="{FF2B5EF4-FFF2-40B4-BE49-F238E27FC236}">
                      <a16:creationId xmlns:a16="http://schemas.microsoft.com/office/drawing/2014/main" id="{A7E21158-C636-FB3B-D5E4-730A1D4575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7557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7026F1-97FD-571B-42A4-05C618046355}"/>
                  </a:ext>
                </a:extLst>
              </p:cNvPr>
              <p:cNvSpPr txBox="1"/>
              <p:nvPr/>
            </p:nvSpPr>
            <p:spPr>
              <a:xfrm>
                <a:off x="468299" y="3745759"/>
                <a:ext cx="11392443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ID 1230            1231            1232            1243            1244            1235            1245            1266            1287            1299		</a:t>
                </a: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67DCA5C-8729-184F-01A5-6B7852D89E49}"/>
              </a:ext>
            </a:extLst>
          </p:cNvPr>
          <p:cNvSpPr txBox="1"/>
          <p:nvPr/>
        </p:nvSpPr>
        <p:spPr>
          <a:xfrm>
            <a:off x="679851" y="3417035"/>
            <a:ext cx="54983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Time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slots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50B8E7-2174-4F4C-CB88-3427C0B060F5}"/>
              </a:ext>
            </a:extLst>
          </p:cNvPr>
          <p:cNvSpPr txBox="1"/>
          <p:nvPr/>
        </p:nvSpPr>
        <p:spPr>
          <a:xfrm>
            <a:off x="1371719" y="3478591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0         1          2         3          4      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8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6          7         9 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526F78D-2E32-9012-C890-38598A3E91DB}"/>
              </a:ext>
            </a:extLst>
          </p:cNvPr>
          <p:cNvGrpSpPr/>
          <p:nvPr/>
        </p:nvGrpSpPr>
        <p:grpSpPr>
          <a:xfrm>
            <a:off x="1692559" y="2552061"/>
            <a:ext cx="8806880" cy="982860"/>
            <a:chOff x="1692559" y="4161285"/>
            <a:chExt cx="8806880" cy="982860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30A12D0-686F-A71B-AA3B-6EC75DC84F79}"/>
                </a:ext>
              </a:extLst>
            </p:cNvPr>
            <p:cNvCxnSpPr/>
            <p:nvPr/>
          </p:nvCxnSpPr>
          <p:spPr>
            <a:xfrm>
              <a:off x="1692559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40BE6B3-A09B-64B1-303B-F98CA9622316}"/>
                </a:ext>
              </a:extLst>
            </p:cNvPr>
            <p:cNvCxnSpPr/>
            <p:nvPr/>
          </p:nvCxnSpPr>
          <p:spPr>
            <a:xfrm>
              <a:off x="2673444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1C69E29-DC6A-8705-4868-ACBB165F016E}"/>
                </a:ext>
              </a:extLst>
            </p:cNvPr>
            <p:cNvCxnSpPr/>
            <p:nvPr/>
          </p:nvCxnSpPr>
          <p:spPr>
            <a:xfrm>
              <a:off x="3654329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B426519-E1C3-C445-E49F-1DEC84A79D90}"/>
                </a:ext>
              </a:extLst>
            </p:cNvPr>
            <p:cNvCxnSpPr/>
            <p:nvPr/>
          </p:nvCxnSpPr>
          <p:spPr>
            <a:xfrm>
              <a:off x="9562107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3AC853B-C581-F001-6B44-AD6B1E33A870}"/>
                </a:ext>
              </a:extLst>
            </p:cNvPr>
            <p:cNvCxnSpPr/>
            <p:nvPr/>
          </p:nvCxnSpPr>
          <p:spPr>
            <a:xfrm>
              <a:off x="10499439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FE482D1-6E58-F35D-D52C-916989DEF0B4}"/>
                </a:ext>
              </a:extLst>
            </p:cNvPr>
            <p:cNvCxnSpPr/>
            <p:nvPr/>
          </p:nvCxnSpPr>
          <p:spPr>
            <a:xfrm>
              <a:off x="4599734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BF369D-1AF5-CB9A-9D18-F0580EFE7964}"/>
                </a:ext>
              </a:extLst>
            </p:cNvPr>
            <p:cNvCxnSpPr/>
            <p:nvPr/>
          </p:nvCxnSpPr>
          <p:spPr>
            <a:xfrm>
              <a:off x="5626918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5CAF6C-00B1-F70C-73F4-C2B7F583BFDD}"/>
                </a:ext>
              </a:extLst>
            </p:cNvPr>
            <p:cNvCxnSpPr/>
            <p:nvPr/>
          </p:nvCxnSpPr>
          <p:spPr>
            <a:xfrm>
              <a:off x="6642809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4A580B7-5F41-7E86-AD0D-E8405950B0A2}"/>
                </a:ext>
              </a:extLst>
            </p:cNvPr>
            <p:cNvCxnSpPr/>
            <p:nvPr/>
          </p:nvCxnSpPr>
          <p:spPr>
            <a:xfrm>
              <a:off x="7642638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134F361-0453-D834-2729-DACF40C5E9FC}"/>
                </a:ext>
              </a:extLst>
            </p:cNvPr>
            <p:cNvCxnSpPr/>
            <p:nvPr/>
          </p:nvCxnSpPr>
          <p:spPr>
            <a:xfrm>
              <a:off x="8568396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A26D54D-4282-D996-CEBC-341BBAC9A458}"/>
              </a:ext>
            </a:extLst>
          </p:cNvPr>
          <p:cNvSpPr txBox="1"/>
          <p:nvPr/>
        </p:nvSpPr>
        <p:spPr>
          <a:xfrm>
            <a:off x="5801582" y="4106262"/>
            <a:ext cx="280205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Collision Resolved!!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858A3-DE58-FB3C-D783-ACF4C255E426}"/>
              </a:ext>
            </a:extLst>
          </p:cNvPr>
          <p:cNvSpPr txBox="1"/>
          <p:nvPr/>
        </p:nvSpPr>
        <p:spPr>
          <a:xfrm>
            <a:off x="3097173" y="4808309"/>
            <a:ext cx="613469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Burst-MAC maximizes overall utilization.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C994EE-2E28-D3C3-FAE5-6CAF1A9E24F1}"/>
              </a:ext>
            </a:extLst>
          </p:cNvPr>
          <p:cNvSpPr txBox="1"/>
          <p:nvPr/>
        </p:nvSpPr>
        <p:spPr>
          <a:xfrm>
            <a:off x="2744516" y="5385256"/>
            <a:ext cx="684001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Ensures Bounded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L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atencies for every packet.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C356D7-F1EA-81D8-379B-92D3C486B4ED}"/>
              </a:ext>
            </a:extLst>
          </p:cNvPr>
          <p:cNvSpPr txBox="1"/>
          <p:nvPr/>
        </p:nvSpPr>
        <p:spPr>
          <a:xfrm>
            <a:off x="1164063" y="5943710"/>
            <a:ext cx="4980531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Before collision resolution: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 *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N</a:t>
            </a:r>
            <a:r>
              <a:rPr lang="en-US" sz="2000" baseline="-25000" dirty="0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time slots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After collision resolution: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</a:t>
            </a:r>
            <a:r>
              <a:rPr kumimoji="0" lang="en-US" sz="2000" b="0" i="0" u="none" strike="noStrike" cap="none" spc="0" normalizeH="0" baseline="-2500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time slots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92091A-804F-7B50-B6E0-22359F2EFE51}"/>
              </a:ext>
            </a:extLst>
          </p:cNvPr>
          <p:cNvSpPr txBox="1"/>
          <p:nvPr/>
        </p:nvSpPr>
        <p:spPr>
          <a:xfrm>
            <a:off x="8215004" y="5943710"/>
            <a:ext cx="233812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Where,</a:t>
            </a:r>
            <a:b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</a:b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</a:t>
            </a:r>
            <a:r>
              <a:rPr kumimoji="0" lang="en-US" sz="1600" b="0" i="0" u="none" strike="noStrike" cap="none" spc="0" normalizeH="0" baseline="-2500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</a:t>
            </a:r>
            <a:r>
              <a:rPr kumimoji="0" lang="en-US" sz="1600" b="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= </a:t>
            </a:r>
            <a:r>
              <a:rPr kumimoji="0" lang="en-US" sz="1600" b="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superframe</a:t>
            </a:r>
            <a:r>
              <a:rPr kumimoji="0" lang="en-US" sz="1600" b="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length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74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/>
      <p:bldP spid="2" grpId="1"/>
      <p:bldP spid="56" grpId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2407194" y="62003"/>
            <a:ext cx="6932988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Downlink Communication in Burst-MAC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sym typeface="Helvetica Neu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F661-BE9E-A8F1-C0B0-81D8EBCF8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138" y="1232485"/>
            <a:ext cx="10741722" cy="191318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200" dirty="0"/>
              <a:t>To ensure new schedules are received successfully, burst nodes work in </a:t>
            </a:r>
            <a:r>
              <a:rPr lang="en-US" sz="2200" b="1" dirty="0">
                <a:solidFill>
                  <a:srgbClr val="FF0000"/>
                </a:solidFill>
              </a:rPr>
              <a:t>Class-B</a:t>
            </a:r>
            <a:r>
              <a:rPr lang="en-US" sz="2200" dirty="0"/>
              <a:t> mode.</a:t>
            </a:r>
          </a:p>
          <a:p>
            <a:pPr lvl="2" algn="just">
              <a:lnSpc>
                <a:spcPct val="120000"/>
              </a:lnSpc>
              <a:spcBef>
                <a:spcPts val="1050"/>
              </a:spcBef>
            </a:pPr>
            <a:r>
              <a:rPr lang="en-US" sz="1600" dirty="0"/>
              <a:t>Nodes can receive ACKs in either RX1, RX2, or additional </a:t>
            </a:r>
            <a:r>
              <a:rPr lang="en-US" sz="1600" i="1" dirty="0"/>
              <a:t>ping slots</a:t>
            </a:r>
            <a:r>
              <a:rPr lang="en-US" sz="1600" dirty="0"/>
              <a:t>. More chances to receive downlink ACK containing new Tx slots.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B0594D-83DE-0279-7456-83C978BC8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231" y="2839016"/>
            <a:ext cx="7090914" cy="22102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23E1D4-32EE-A30D-2EA3-6E3365A626D7}"/>
              </a:ext>
            </a:extLst>
          </p:cNvPr>
          <p:cNvSpPr txBox="1"/>
          <p:nvPr/>
        </p:nvSpPr>
        <p:spPr>
          <a:xfrm>
            <a:off x="4803979" y="5049262"/>
            <a:ext cx="258404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Fig: Class-B mode of LoRa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B7B91-259C-28F0-BC4F-1A805B197A1A}"/>
              </a:ext>
            </a:extLst>
          </p:cNvPr>
          <p:cNvSpPr txBox="1"/>
          <p:nvPr/>
        </p:nvSpPr>
        <p:spPr>
          <a:xfrm>
            <a:off x="991432" y="5699203"/>
            <a:ext cx="1020913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Increases chances of successful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collision resolution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1326BF-942B-1C6E-9C0A-3250B268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2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759001A0-6905-D29A-EF2A-0B968D72B240}"/>
              </a:ext>
            </a:extLst>
          </p:cNvPr>
          <p:cNvSpPr/>
          <p:nvPr/>
        </p:nvSpPr>
        <p:spPr>
          <a:xfrm>
            <a:off x="1551489" y="3517943"/>
            <a:ext cx="9277733" cy="432572"/>
          </a:xfrm>
          <a:prstGeom prst="rect">
            <a:avLst/>
          </a:prstGeom>
          <a:solidFill>
            <a:schemeClr val="accent1">
              <a:lumMod val="40000"/>
              <a:lumOff val="60000"/>
              <a:alpha val="777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1758784" y="62003"/>
            <a:ext cx="8229817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Final Collision Free Transmission Slots look like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4B868-FC1F-B40E-11A3-AF91079A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19</a:t>
            </a:fld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1AEAC0-FAD9-E1D1-0EF8-D435B6FFF10A}"/>
              </a:ext>
            </a:extLst>
          </p:cNvPr>
          <p:cNvGrpSpPr/>
          <p:nvPr/>
        </p:nvGrpSpPr>
        <p:grpSpPr>
          <a:xfrm>
            <a:off x="468299" y="1431101"/>
            <a:ext cx="11392443" cy="1310625"/>
            <a:chOff x="468299" y="2968613"/>
            <a:chExt cx="11392443" cy="13106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2E7500-3288-DB36-1FEE-7E96E27EDFFD}"/>
                </a:ext>
              </a:extLst>
            </p:cNvPr>
            <p:cNvSpPr txBox="1"/>
            <p:nvPr/>
          </p:nvSpPr>
          <p:spPr>
            <a:xfrm>
              <a:off x="1551489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5B144-01E6-0FC1-08BB-0D8F2D2FC615}"/>
                </a:ext>
              </a:extLst>
            </p:cNvPr>
            <p:cNvSpPr txBox="1"/>
            <p:nvPr/>
          </p:nvSpPr>
          <p:spPr>
            <a:xfrm>
              <a:off x="741092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6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623AB17-B9BB-A2EE-3AEF-DC802B408E24}"/>
                </a:ext>
              </a:extLst>
            </p:cNvPr>
            <p:cNvSpPr txBox="1"/>
            <p:nvPr/>
          </p:nvSpPr>
          <p:spPr>
            <a:xfrm>
              <a:off x="2516948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1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0B2FAE-F17B-A997-3F74-8798364FB2F3}"/>
                </a:ext>
              </a:extLst>
            </p:cNvPr>
            <p:cNvSpPr txBox="1"/>
            <p:nvPr/>
          </p:nvSpPr>
          <p:spPr>
            <a:xfrm>
              <a:off x="6454696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5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E17122-0167-5B88-9688-9910ADC85EF2}"/>
                </a:ext>
              </a:extLst>
            </p:cNvPr>
            <p:cNvSpPr txBox="1"/>
            <p:nvPr/>
          </p:nvSpPr>
          <p:spPr>
            <a:xfrm>
              <a:off x="3492649" y="299228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2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A8CC4-E237-02C4-36FB-7A4CA0748141}"/>
                </a:ext>
              </a:extLst>
            </p:cNvPr>
            <p:cNvSpPr txBox="1"/>
            <p:nvPr/>
          </p:nvSpPr>
          <p:spPr>
            <a:xfrm>
              <a:off x="5465789" y="2996917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4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952CD6-32F3-A17F-7D11-BEAFC77B5D73}"/>
                </a:ext>
              </a:extLst>
            </p:cNvPr>
            <p:cNvSpPr txBox="1"/>
            <p:nvPr/>
          </p:nvSpPr>
          <p:spPr>
            <a:xfrm>
              <a:off x="4481556" y="2997936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3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E42692-7832-2AA5-FEDB-0329DDE6A5DC}"/>
                </a:ext>
              </a:extLst>
            </p:cNvPr>
            <p:cNvSpPr txBox="1"/>
            <p:nvPr/>
          </p:nvSpPr>
          <p:spPr>
            <a:xfrm>
              <a:off x="10315101" y="2983081"/>
              <a:ext cx="325409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6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9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1FE2B7-CDBC-1370-F4B2-6DD898217109}"/>
                </a:ext>
              </a:extLst>
            </p:cNvPr>
            <p:cNvSpPr txBox="1"/>
            <p:nvPr/>
          </p:nvSpPr>
          <p:spPr>
            <a:xfrm>
              <a:off x="9384064" y="2992285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8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E552D4-1230-5C72-80A2-602EF25935C2}"/>
                </a:ext>
              </a:extLst>
            </p:cNvPr>
            <p:cNvSpPr txBox="1"/>
            <p:nvPr/>
          </p:nvSpPr>
          <p:spPr>
            <a:xfrm>
              <a:off x="8386625" y="2968613"/>
              <a:ext cx="325410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600" baseline="-25000" dirty="0"/>
                <a:t>7</a:t>
              </a:r>
              <a:r>
                <a:rPr kumimoji="0" lang="en-US" sz="1400" b="0" i="0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E1DEDF-7CDD-547C-4069-2C6F9F4749DD}"/>
                </a:ext>
              </a:extLst>
            </p:cNvPr>
            <p:cNvGrpSpPr/>
            <p:nvPr/>
          </p:nvGrpSpPr>
          <p:grpSpPr>
            <a:xfrm>
              <a:off x="468299" y="3300393"/>
              <a:ext cx="11392443" cy="978845"/>
              <a:chOff x="468299" y="3300393"/>
              <a:chExt cx="11392443" cy="97884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1A55D00-C48B-0DF6-1906-4295D1EAA70F}"/>
                  </a:ext>
                </a:extLst>
              </p:cNvPr>
              <p:cNvGrpSpPr/>
              <p:nvPr/>
            </p:nvGrpSpPr>
            <p:grpSpPr>
              <a:xfrm>
                <a:off x="1362777" y="3300393"/>
                <a:ext cx="9466445" cy="558434"/>
                <a:chOff x="942121" y="3067425"/>
                <a:chExt cx="9466445" cy="558434"/>
              </a:xfrm>
            </p:grpSpPr>
            <p:pic>
              <p:nvPicPr>
                <p:cNvPr id="6" name="图形 9" descr="图形 9">
                  <a:extLst>
                    <a:ext uri="{FF2B5EF4-FFF2-40B4-BE49-F238E27FC236}">
                      <a16:creationId xmlns:a16="http://schemas.microsoft.com/office/drawing/2014/main" id="{8CF31AA0-A24B-E1B7-2B40-0AF6F5AEA8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12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" name="图形 9" descr="图形 9">
                  <a:extLst>
                    <a:ext uri="{FF2B5EF4-FFF2-40B4-BE49-F238E27FC236}">
                      <a16:creationId xmlns:a16="http://schemas.microsoft.com/office/drawing/2014/main" id="{D375F8CB-2372-07AA-FAE3-D44529C6DF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23006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" name="图形 9" descr="图形 9">
                  <a:extLst>
                    <a:ext uri="{FF2B5EF4-FFF2-40B4-BE49-F238E27FC236}">
                      <a16:creationId xmlns:a16="http://schemas.microsoft.com/office/drawing/2014/main" id="{956D3C48-E78E-E558-E8EB-9C4AE0245C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3891" y="3067430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2" name="图形 9" descr="图形 9">
                  <a:extLst>
                    <a:ext uri="{FF2B5EF4-FFF2-40B4-BE49-F238E27FC236}">
                      <a16:creationId xmlns:a16="http://schemas.microsoft.com/office/drawing/2014/main" id="{3C127091-1F10-27CE-6368-40B904CBD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84776" y="3067429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图形 9" descr="图形 9">
                  <a:extLst>
                    <a:ext uri="{FF2B5EF4-FFF2-40B4-BE49-F238E27FC236}">
                      <a16:creationId xmlns:a16="http://schemas.microsoft.com/office/drawing/2014/main" id="{E30B30BF-483C-0829-D3DC-D133259C5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65661" y="3067428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图形 9" descr="图形 9">
                  <a:extLst>
                    <a:ext uri="{FF2B5EF4-FFF2-40B4-BE49-F238E27FC236}">
                      <a16:creationId xmlns:a16="http://schemas.microsoft.com/office/drawing/2014/main" id="{4AF8684F-6F11-64A3-DB5C-6F702A5D8E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9001" y="3067425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图形 9" descr="图形 9">
                  <a:extLst>
                    <a:ext uri="{FF2B5EF4-FFF2-40B4-BE49-F238E27FC236}">
                      <a16:creationId xmlns:a16="http://schemas.microsoft.com/office/drawing/2014/main" id="{79D61889-B558-48CA-A515-9C3BA6AE7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3935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图形 9" descr="图形 9">
                  <a:extLst>
                    <a:ext uri="{FF2B5EF4-FFF2-40B4-BE49-F238E27FC236}">
                      <a16:creationId xmlns:a16="http://schemas.microsoft.com/office/drawing/2014/main" id="{81183BBE-F6DD-5ED9-7A68-67DC3D5ACC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2039" y="3067426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7" name="图形 9" descr="图形 9">
                  <a:extLst>
                    <a:ext uri="{FF2B5EF4-FFF2-40B4-BE49-F238E27FC236}">
                      <a16:creationId xmlns:a16="http://schemas.microsoft.com/office/drawing/2014/main" id="{D8078D6C-C897-8C17-6AB9-C1BEC3046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27431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8" name="图形 9" descr="图形 9">
                  <a:extLst>
                    <a:ext uri="{FF2B5EF4-FFF2-40B4-BE49-F238E27FC236}">
                      <a16:creationId xmlns:a16="http://schemas.microsoft.com/office/drawing/2014/main" id="{A7E21158-C636-FB3B-D5E4-730A1D4575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7557" y="3067427"/>
                  <a:ext cx="659565" cy="55842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7026F1-97FD-571B-42A4-05C618046355}"/>
                  </a:ext>
                </a:extLst>
              </p:cNvPr>
              <p:cNvSpPr txBox="1"/>
              <p:nvPr/>
            </p:nvSpPr>
            <p:spPr>
              <a:xfrm>
                <a:off x="468299" y="3745759"/>
                <a:ext cx="11392443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ID 1230            1231            1232            1243            1244            1235            1245            1266            1287            1299		</a:t>
                </a: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67DCA5C-8729-184F-01A5-6B7852D89E49}"/>
              </a:ext>
            </a:extLst>
          </p:cNvPr>
          <p:cNvSpPr txBox="1"/>
          <p:nvPr/>
        </p:nvSpPr>
        <p:spPr>
          <a:xfrm>
            <a:off x="679851" y="3417035"/>
            <a:ext cx="54983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Time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slots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50B8E7-2174-4F4C-CB88-3427C0B060F5}"/>
              </a:ext>
            </a:extLst>
          </p:cNvPr>
          <p:cNvSpPr txBox="1"/>
          <p:nvPr/>
        </p:nvSpPr>
        <p:spPr>
          <a:xfrm>
            <a:off x="1371719" y="3478591"/>
            <a:ext cx="94894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1          2         3          4      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        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8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        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6          7         9 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526F78D-2E32-9012-C890-38598A3E91DB}"/>
              </a:ext>
            </a:extLst>
          </p:cNvPr>
          <p:cNvGrpSpPr/>
          <p:nvPr/>
        </p:nvGrpSpPr>
        <p:grpSpPr>
          <a:xfrm>
            <a:off x="1692559" y="2552061"/>
            <a:ext cx="8806880" cy="982860"/>
            <a:chOff x="1692559" y="4161285"/>
            <a:chExt cx="8806880" cy="982860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30A12D0-686F-A71B-AA3B-6EC75DC84F79}"/>
                </a:ext>
              </a:extLst>
            </p:cNvPr>
            <p:cNvCxnSpPr/>
            <p:nvPr/>
          </p:nvCxnSpPr>
          <p:spPr>
            <a:xfrm>
              <a:off x="1692559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40BE6B3-A09B-64B1-303B-F98CA9622316}"/>
                </a:ext>
              </a:extLst>
            </p:cNvPr>
            <p:cNvCxnSpPr/>
            <p:nvPr/>
          </p:nvCxnSpPr>
          <p:spPr>
            <a:xfrm>
              <a:off x="2673444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1C69E29-DC6A-8705-4868-ACBB165F016E}"/>
                </a:ext>
              </a:extLst>
            </p:cNvPr>
            <p:cNvCxnSpPr/>
            <p:nvPr/>
          </p:nvCxnSpPr>
          <p:spPr>
            <a:xfrm>
              <a:off x="3654329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B426519-E1C3-C445-E49F-1DEC84A79D90}"/>
                </a:ext>
              </a:extLst>
            </p:cNvPr>
            <p:cNvCxnSpPr/>
            <p:nvPr/>
          </p:nvCxnSpPr>
          <p:spPr>
            <a:xfrm>
              <a:off x="9562107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3AC853B-C581-F001-6B44-AD6B1E33A870}"/>
                </a:ext>
              </a:extLst>
            </p:cNvPr>
            <p:cNvCxnSpPr/>
            <p:nvPr/>
          </p:nvCxnSpPr>
          <p:spPr>
            <a:xfrm>
              <a:off x="10499439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FE482D1-6E58-F35D-D52C-916989DEF0B4}"/>
                </a:ext>
              </a:extLst>
            </p:cNvPr>
            <p:cNvCxnSpPr/>
            <p:nvPr/>
          </p:nvCxnSpPr>
          <p:spPr>
            <a:xfrm>
              <a:off x="4599734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BF369D-1AF5-CB9A-9D18-F0580EFE7964}"/>
                </a:ext>
              </a:extLst>
            </p:cNvPr>
            <p:cNvCxnSpPr/>
            <p:nvPr/>
          </p:nvCxnSpPr>
          <p:spPr>
            <a:xfrm>
              <a:off x="5626918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5CAF6C-00B1-F70C-73F4-C2B7F583BFDD}"/>
                </a:ext>
              </a:extLst>
            </p:cNvPr>
            <p:cNvCxnSpPr/>
            <p:nvPr/>
          </p:nvCxnSpPr>
          <p:spPr>
            <a:xfrm>
              <a:off x="6642809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4A580B7-5F41-7E86-AD0D-E8405950B0A2}"/>
                </a:ext>
              </a:extLst>
            </p:cNvPr>
            <p:cNvCxnSpPr/>
            <p:nvPr/>
          </p:nvCxnSpPr>
          <p:spPr>
            <a:xfrm>
              <a:off x="7642638" y="4178263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134F361-0453-D834-2729-DACF40C5E9FC}"/>
                </a:ext>
              </a:extLst>
            </p:cNvPr>
            <p:cNvCxnSpPr/>
            <p:nvPr/>
          </p:nvCxnSpPr>
          <p:spPr>
            <a:xfrm>
              <a:off x="8568396" y="4161285"/>
              <a:ext cx="0" cy="965882"/>
            </a:xfrm>
            <a:prstGeom prst="straightConnector1">
              <a:avLst/>
            </a:prstGeom>
            <a:noFill/>
            <a:ln w="19050" cap="flat">
              <a:solidFill>
                <a:srgbClr val="000000"/>
              </a:solidFill>
              <a:prstDash val="dash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52F466-7CE1-9ED0-6A74-0F92FDB6D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06137"/>
              </p:ext>
            </p:extLst>
          </p:nvPr>
        </p:nvGraphicFramePr>
        <p:xfrm>
          <a:off x="694314" y="5117481"/>
          <a:ext cx="10660446" cy="522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034">
                  <a:extLst>
                    <a:ext uri="{9D8B030D-6E8A-4147-A177-3AD203B41FA5}">
                      <a16:colId xmlns:a16="http://schemas.microsoft.com/office/drawing/2014/main" val="3957203508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545774815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2204079686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3608998158"/>
                    </a:ext>
                  </a:extLst>
                </a:gridCol>
                <a:gridCol w="515391">
                  <a:extLst>
                    <a:ext uri="{9D8B030D-6E8A-4147-A177-3AD203B41FA5}">
                      <a16:colId xmlns:a16="http://schemas.microsoft.com/office/drawing/2014/main" val="3708253373"/>
                    </a:ext>
                  </a:extLst>
                </a:gridCol>
                <a:gridCol w="550676">
                  <a:extLst>
                    <a:ext uri="{9D8B030D-6E8A-4147-A177-3AD203B41FA5}">
                      <a16:colId xmlns:a16="http://schemas.microsoft.com/office/drawing/2014/main" val="2988358908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3730972424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2082320265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2351744520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1896992142"/>
                    </a:ext>
                  </a:extLst>
                </a:gridCol>
                <a:gridCol w="517374">
                  <a:extLst>
                    <a:ext uri="{9D8B030D-6E8A-4147-A177-3AD203B41FA5}">
                      <a16:colId xmlns:a16="http://schemas.microsoft.com/office/drawing/2014/main" val="3256743294"/>
                    </a:ext>
                  </a:extLst>
                </a:gridCol>
                <a:gridCol w="548461">
                  <a:extLst>
                    <a:ext uri="{9D8B030D-6E8A-4147-A177-3AD203B41FA5}">
                      <a16:colId xmlns:a16="http://schemas.microsoft.com/office/drawing/2014/main" val="363667061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244107510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3459539295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3330315559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112769240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2567994708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4159470622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568304245"/>
                    </a:ext>
                  </a:extLst>
                </a:gridCol>
                <a:gridCol w="533034">
                  <a:extLst>
                    <a:ext uri="{9D8B030D-6E8A-4147-A177-3AD203B41FA5}">
                      <a16:colId xmlns:a16="http://schemas.microsoft.com/office/drawing/2014/main" val="535658625"/>
                    </a:ext>
                  </a:extLst>
                </a:gridCol>
              </a:tblGrid>
              <a:tr h="522593"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0</a:t>
                      </a:r>
                      <a:endParaRPr lang="en-US" sz="1600" dirty="0"/>
                    </a:p>
                  </a:txBody>
                  <a:tcPr>
                    <a:solidFill>
                      <a:srgbClr val="FFC000">
                        <a:alpha val="7917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3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4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5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6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7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8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9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0</a:t>
                      </a:r>
                      <a:endParaRPr lang="en-US" sz="1600" dirty="0"/>
                    </a:p>
                  </a:txBody>
                  <a:tcPr>
                    <a:solidFill>
                      <a:srgbClr val="FFC000">
                        <a:alpha val="7917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1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2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3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4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5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6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7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8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9</a:t>
                      </a:r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  <a:alpha val="7917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078116"/>
                  </a:ext>
                </a:extLst>
              </a:tr>
            </a:tbl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44804370-0138-08B7-2D0D-E5D7A28F1940}"/>
              </a:ext>
            </a:extLst>
          </p:cNvPr>
          <p:cNvGrpSpPr/>
          <p:nvPr/>
        </p:nvGrpSpPr>
        <p:grpSpPr>
          <a:xfrm>
            <a:off x="779049" y="4788219"/>
            <a:ext cx="10787287" cy="318036"/>
            <a:chOff x="690912" y="4805938"/>
            <a:chExt cx="10787287" cy="31803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25CA66-5F7C-01B8-3592-1F7DEB33D974}"/>
                </a:ext>
              </a:extLst>
            </p:cNvPr>
            <p:cNvSpPr txBox="1"/>
            <p:nvPr/>
          </p:nvSpPr>
          <p:spPr>
            <a:xfrm flipH="1">
              <a:off x="690912" y="4805938"/>
              <a:ext cx="5506513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 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1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       n</a:t>
              </a:r>
              <a:r>
                <a:rPr lang="en-US" sz="1400" i="1" baseline="-25000" dirty="0"/>
                <a:t>2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       n</a:t>
              </a:r>
              <a:r>
                <a:rPr lang="en-US" sz="1400" i="1" baseline="-25000" dirty="0"/>
                <a:t>3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4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5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7</a:t>
              </a:r>
              <a:r>
                <a:rPr lang="en-US" sz="1400" i="1" baseline="-25000" dirty="0"/>
                <a:t>  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8</a:t>
              </a:r>
              <a:r>
                <a:rPr lang="en-US" sz="1400" i="1" baseline="-25000" dirty="0"/>
                <a:t>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6</a:t>
              </a:r>
              <a:r>
                <a:rPr lang="en-US" sz="1400" i="1" baseline="-25000" dirty="0"/>
                <a:t>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9</a:t>
              </a:r>
              <a:endParaRPr kumimoji="0" lang="en-US" sz="1400" b="0" i="1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C433F6-B34D-4B57-C2FD-FBACB19C9207}"/>
                </a:ext>
              </a:extLst>
            </p:cNvPr>
            <p:cNvSpPr txBox="1"/>
            <p:nvPr/>
          </p:nvSpPr>
          <p:spPr>
            <a:xfrm flipH="1">
              <a:off x="6197426" y="4805938"/>
              <a:ext cx="5280773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0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1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      n</a:t>
              </a:r>
              <a:r>
                <a:rPr lang="en-US" sz="1400" i="1" baseline="-25000" dirty="0"/>
                <a:t>2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       n</a:t>
              </a:r>
              <a:r>
                <a:rPr lang="en-US" sz="1400" i="1" baseline="-25000" dirty="0"/>
                <a:t>3 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4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5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7</a:t>
              </a:r>
              <a:r>
                <a:rPr lang="en-US" sz="1400" i="1" baseline="-25000" dirty="0"/>
                <a:t>  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8 </a:t>
              </a:r>
              <a:r>
                <a:rPr lang="en-US" sz="1400" i="1" baseline="-25000" dirty="0"/>
                <a:t>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kumimoji="0" lang="en-US" sz="1400" b="0" i="1" u="none" strike="noStrike" cap="none" spc="0" normalizeH="0" baseline="-2500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6</a:t>
              </a:r>
              <a:r>
                <a:rPr lang="en-US" sz="1400" i="1" baseline="-25000" dirty="0"/>
                <a:t>          </a:t>
              </a:r>
              <a:r>
                <a:rPr kumimoji="0" lang="en-US" sz="1400" b="0" i="1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n</a:t>
              </a:r>
              <a:r>
                <a:rPr lang="en-US" sz="1400" i="1" baseline="-25000" dirty="0"/>
                <a:t>9 </a:t>
              </a:r>
              <a:endParaRPr kumimoji="0" lang="en-US" sz="1400" b="0" i="1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88A9C0-B854-0A86-84D3-6BA3817ACA72}"/>
              </a:ext>
            </a:extLst>
          </p:cNvPr>
          <p:cNvGrpSpPr/>
          <p:nvPr/>
        </p:nvGrpSpPr>
        <p:grpSpPr>
          <a:xfrm>
            <a:off x="679851" y="5581414"/>
            <a:ext cx="11280116" cy="1066045"/>
            <a:chOff x="622489" y="5686197"/>
            <a:chExt cx="11280116" cy="106604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C059BA-20CC-16C3-E38D-0777A515E079}"/>
                </a:ext>
              </a:extLst>
            </p:cNvPr>
            <p:cNvSpPr txBox="1"/>
            <p:nvPr/>
          </p:nvSpPr>
          <p:spPr>
            <a:xfrm>
              <a:off x="622489" y="5686197"/>
              <a:ext cx="46807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/>
                <a:t>P</a:t>
              </a: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kt1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3E2157-A4F0-80C6-79F3-277BFB6743A0}"/>
                </a:ext>
              </a:extLst>
            </p:cNvPr>
            <p:cNvSpPr txBox="1"/>
            <p:nvPr/>
          </p:nvSpPr>
          <p:spPr>
            <a:xfrm>
              <a:off x="6041654" y="5690721"/>
              <a:ext cx="577081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Pkt 2/</a:t>
              </a:r>
              <a:b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</a:br>
              <a:r>
                <a:rPr kumimoji="0" lang="en-US" sz="1400" b="0" i="0" u="none" strike="noStrike" cap="none" spc="0" normalizeH="0" baseline="0" dirty="0" err="1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ReTx</a:t>
              </a:r>
              <a:endPara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C6BAF4CF-3F95-867C-30A8-215D4EBEC25B}"/>
                </a:ext>
              </a:extLst>
            </p:cNvPr>
            <p:cNvSpPr/>
            <p:nvPr/>
          </p:nvSpPr>
          <p:spPr>
            <a:xfrm rot="5400000">
              <a:off x="3207265" y="3590984"/>
              <a:ext cx="318035" cy="5459434"/>
            </a:xfrm>
            <a:prstGeom prst="rightBrace">
              <a:avLst>
                <a:gd name="adj1" fmla="val 8333"/>
                <a:gd name="adj2" fmla="val 50211"/>
              </a:avLst>
            </a:prstGeom>
            <a:noFill/>
            <a:ln w="63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C26FDB7E-E4B9-B235-122B-A7BC72ADFA41}"/>
                </a:ext>
              </a:extLst>
            </p:cNvPr>
            <p:cNvSpPr/>
            <p:nvPr/>
          </p:nvSpPr>
          <p:spPr>
            <a:xfrm rot="5400000">
              <a:off x="8693659" y="3583326"/>
              <a:ext cx="318035" cy="5459434"/>
            </a:xfrm>
            <a:prstGeom prst="rightBrace">
              <a:avLst>
                <a:gd name="adj1" fmla="val 8333"/>
                <a:gd name="adj2" fmla="val 50211"/>
              </a:avLst>
            </a:prstGeom>
            <a:noFill/>
            <a:ln w="63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692CF31-65E9-F539-8A75-D161AA73B683}"/>
                </a:ext>
              </a:extLst>
            </p:cNvPr>
            <p:cNvSpPr txBox="1"/>
            <p:nvPr/>
          </p:nvSpPr>
          <p:spPr>
            <a:xfrm>
              <a:off x="2836589" y="6434206"/>
              <a:ext cx="1027525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Round 1 Tx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7334F06-7BBA-F24F-DDCF-B359C2C5AA59}"/>
                </a:ext>
              </a:extLst>
            </p:cNvPr>
            <p:cNvSpPr txBox="1"/>
            <p:nvPr/>
          </p:nvSpPr>
          <p:spPr>
            <a:xfrm>
              <a:off x="5802747" y="6434206"/>
              <a:ext cx="6099858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Round 2 Tx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284E64-3BA7-553C-0D11-E7B4449DDBC2}"/>
              </a:ext>
            </a:extLst>
          </p:cNvPr>
          <p:cNvSpPr txBox="1"/>
          <p:nvPr/>
        </p:nvSpPr>
        <p:spPr>
          <a:xfrm>
            <a:off x="2072413" y="4382013"/>
            <a:ext cx="2670604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One </a:t>
            </a:r>
            <a:r>
              <a:rPr lang="en-US" sz="1400" dirty="0" err="1"/>
              <a:t>S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uperframe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(within one VC)</a:t>
            </a:r>
          </a:p>
        </p:txBody>
      </p:sp>
      <p:sp>
        <p:nvSpPr>
          <p:cNvPr id="56" name="Right Brace 55">
            <a:extLst>
              <a:ext uri="{FF2B5EF4-FFF2-40B4-BE49-F238E27FC236}">
                <a16:creationId xmlns:a16="http://schemas.microsoft.com/office/drawing/2014/main" id="{B6C39123-8DD6-5AD3-CEC4-216A6B56FB3E}"/>
              </a:ext>
            </a:extLst>
          </p:cNvPr>
          <p:cNvSpPr/>
          <p:nvPr/>
        </p:nvSpPr>
        <p:spPr>
          <a:xfrm rot="16200000">
            <a:off x="3207614" y="2141573"/>
            <a:ext cx="317313" cy="5344684"/>
          </a:xfrm>
          <a:prstGeom prst="rightBrace">
            <a:avLst>
              <a:gd name="adj1" fmla="val 63884"/>
              <a:gd name="adj2" fmla="val 50211"/>
            </a:avLst>
          </a:prstGeom>
          <a:noFill/>
          <a:ln w="635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8450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3807B-373A-D12D-6EB5-1F3098722F81}"/>
              </a:ext>
            </a:extLst>
          </p:cNvPr>
          <p:cNvSpPr txBox="1"/>
          <p:nvPr/>
        </p:nvSpPr>
        <p:spPr>
          <a:xfrm>
            <a:off x="3033165" y="62003"/>
            <a:ext cx="5681042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Burst-MAC Design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</a:rPr>
              <a:t>Handling the end of Burst Traffic</a:t>
            </a:r>
            <a:endParaRPr kumimoji="0" lang="en-US" sz="2800" b="1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69999-2644-BE89-5FDA-7316E9D9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5820-523E-2842-ACC7-93CA10EDC84F}" type="slidenum">
              <a:rPr lang="en-US" smtClean="0"/>
              <a:t>20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A2605-DF01-B25B-1C5E-576B5454FC68}"/>
              </a:ext>
            </a:extLst>
          </p:cNvPr>
          <p:cNvSpPr txBox="1"/>
          <p:nvPr/>
        </p:nvSpPr>
        <p:spPr>
          <a:xfrm>
            <a:off x="2042943" y="3480009"/>
            <a:ext cx="102657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" name="Radio Tower">
            <a:extLst>
              <a:ext uri="{FF2B5EF4-FFF2-40B4-BE49-F238E27FC236}">
                <a16:creationId xmlns:a16="http://schemas.microsoft.com/office/drawing/2014/main" id="{F42B2737-D57C-D291-2769-BD3EA90AD816}"/>
              </a:ext>
            </a:extLst>
          </p:cNvPr>
          <p:cNvSpPr/>
          <p:nvPr/>
        </p:nvSpPr>
        <p:spPr>
          <a:xfrm>
            <a:off x="5155360" y="2001267"/>
            <a:ext cx="1117197" cy="1362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9" y="0"/>
                </a:moveTo>
                <a:cubicBezTo>
                  <a:pt x="4844" y="0"/>
                  <a:pt x="0" y="3364"/>
                  <a:pt x="0" y="7498"/>
                </a:cubicBezTo>
                <a:cubicBezTo>
                  <a:pt x="0" y="10532"/>
                  <a:pt x="2679" y="13248"/>
                  <a:pt x="6711" y="14418"/>
                </a:cubicBezTo>
                <a:lnTo>
                  <a:pt x="6905" y="13852"/>
                </a:lnTo>
                <a:cubicBezTo>
                  <a:pt x="3202" y="12777"/>
                  <a:pt x="881" y="10284"/>
                  <a:pt x="881" y="7498"/>
                </a:cubicBezTo>
                <a:cubicBezTo>
                  <a:pt x="881" y="3702"/>
                  <a:pt x="5330" y="613"/>
                  <a:pt x="10799" y="613"/>
                </a:cubicBezTo>
                <a:cubicBezTo>
                  <a:pt x="16267" y="613"/>
                  <a:pt x="20717" y="3702"/>
                  <a:pt x="20717" y="7498"/>
                </a:cubicBezTo>
                <a:cubicBezTo>
                  <a:pt x="20717" y="10294"/>
                  <a:pt x="18385" y="12790"/>
                  <a:pt x="14664" y="13860"/>
                </a:cubicBezTo>
                <a:lnTo>
                  <a:pt x="14855" y="14426"/>
                </a:lnTo>
                <a:cubicBezTo>
                  <a:pt x="18907" y="13261"/>
                  <a:pt x="21600" y="10542"/>
                  <a:pt x="21600" y="7498"/>
                </a:cubicBezTo>
                <a:cubicBezTo>
                  <a:pt x="21600" y="3364"/>
                  <a:pt x="16754" y="0"/>
                  <a:pt x="10799" y="0"/>
                </a:cubicBezTo>
                <a:close/>
                <a:moveTo>
                  <a:pt x="10782" y="2273"/>
                </a:moveTo>
                <a:cubicBezTo>
                  <a:pt x="6615" y="2273"/>
                  <a:pt x="3224" y="4625"/>
                  <a:pt x="3224" y="7518"/>
                </a:cubicBezTo>
                <a:cubicBezTo>
                  <a:pt x="3224" y="9596"/>
                  <a:pt x="4974" y="11397"/>
                  <a:pt x="7505" y="12246"/>
                </a:cubicBezTo>
                <a:lnTo>
                  <a:pt x="7730" y="11636"/>
                </a:lnTo>
                <a:cubicBezTo>
                  <a:pt x="5583" y="10866"/>
                  <a:pt x="4112" y="9308"/>
                  <a:pt x="4112" y="7518"/>
                </a:cubicBezTo>
                <a:cubicBezTo>
                  <a:pt x="4112" y="4965"/>
                  <a:pt x="7104" y="2890"/>
                  <a:pt x="10782" y="2890"/>
                </a:cubicBezTo>
                <a:cubicBezTo>
                  <a:pt x="14459" y="2890"/>
                  <a:pt x="17452" y="4965"/>
                  <a:pt x="17452" y="7518"/>
                </a:cubicBezTo>
                <a:cubicBezTo>
                  <a:pt x="17452" y="9308"/>
                  <a:pt x="15979" y="10866"/>
                  <a:pt x="13831" y="11636"/>
                </a:cubicBezTo>
                <a:lnTo>
                  <a:pt x="14059" y="12246"/>
                </a:lnTo>
                <a:cubicBezTo>
                  <a:pt x="16590" y="11397"/>
                  <a:pt x="18340" y="9596"/>
                  <a:pt x="18340" y="7518"/>
                </a:cubicBezTo>
                <a:cubicBezTo>
                  <a:pt x="18340" y="4625"/>
                  <a:pt x="14949" y="2273"/>
                  <a:pt x="10782" y="2273"/>
                </a:cubicBezTo>
                <a:close/>
                <a:moveTo>
                  <a:pt x="10782" y="4513"/>
                </a:moveTo>
                <a:cubicBezTo>
                  <a:pt x="8395" y="4513"/>
                  <a:pt x="6452" y="5861"/>
                  <a:pt x="6452" y="7518"/>
                </a:cubicBezTo>
                <a:cubicBezTo>
                  <a:pt x="6452" y="8546"/>
                  <a:pt x="7201" y="9456"/>
                  <a:pt x="8337" y="9998"/>
                </a:cubicBezTo>
                <a:lnTo>
                  <a:pt x="8575" y="9351"/>
                </a:lnTo>
                <a:cubicBezTo>
                  <a:pt x="7820" y="8912"/>
                  <a:pt x="7340" y="8253"/>
                  <a:pt x="7340" y="7518"/>
                </a:cubicBezTo>
                <a:cubicBezTo>
                  <a:pt x="7340" y="6201"/>
                  <a:pt x="8884" y="5129"/>
                  <a:pt x="10782" y="5129"/>
                </a:cubicBezTo>
                <a:cubicBezTo>
                  <a:pt x="12680" y="5129"/>
                  <a:pt x="14223" y="6201"/>
                  <a:pt x="14223" y="7518"/>
                </a:cubicBezTo>
                <a:cubicBezTo>
                  <a:pt x="14223" y="8253"/>
                  <a:pt x="13743" y="8912"/>
                  <a:pt x="12989" y="9351"/>
                </a:cubicBezTo>
                <a:lnTo>
                  <a:pt x="13226" y="9996"/>
                </a:lnTo>
                <a:cubicBezTo>
                  <a:pt x="14363" y="9454"/>
                  <a:pt x="15112" y="8546"/>
                  <a:pt x="15112" y="7518"/>
                </a:cubicBezTo>
                <a:cubicBezTo>
                  <a:pt x="15112" y="5861"/>
                  <a:pt x="13169" y="4513"/>
                  <a:pt x="10782" y="4513"/>
                </a:cubicBezTo>
                <a:close/>
                <a:moveTo>
                  <a:pt x="10782" y="6734"/>
                </a:moveTo>
                <a:cubicBezTo>
                  <a:pt x="10157" y="6734"/>
                  <a:pt x="9652" y="7085"/>
                  <a:pt x="9652" y="7518"/>
                </a:cubicBezTo>
                <a:cubicBezTo>
                  <a:pt x="9652" y="7780"/>
                  <a:pt x="9837" y="8012"/>
                  <a:pt x="10121" y="8155"/>
                </a:cubicBezTo>
                <a:lnTo>
                  <a:pt x="5153" y="21600"/>
                </a:lnTo>
                <a:lnTo>
                  <a:pt x="6317" y="21600"/>
                </a:lnTo>
                <a:lnTo>
                  <a:pt x="10782" y="19994"/>
                </a:lnTo>
                <a:lnTo>
                  <a:pt x="15247" y="21600"/>
                </a:lnTo>
                <a:lnTo>
                  <a:pt x="16411" y="21600"/>
                </a:lnTo>
                <a:lnTo>
                  <a:pt x="11443" y="8155"/>
                </a:lnTo>
                <a:cubicBezTo>
                  <a:pt x="11727" y="8012"/>
                  <a:pt x="11912" y="7780"/>
                  <a:pt x="11912" y="7518"/>
                </a:cubicBezTo>
                <a:cubicBezTo>
                  <a:pt x="11912" y="7085"/>
                  <a:pt x="11406" y="6734"/>
                  <a:pt x="10782" y="6734"/>
                </a:cubicBezTo>
                <a:close/>
                <a:moveTo>
                  <a:pt x="10782" y="9574"/>
                </a:moveTo>
                <a:lnTo>
                  <a:pt x="11648" y="11920"/>
                </a:lnTo>
                <a:lnTo>
                  <a:pt x="9915" y="11920"/>
                </a:lnTo>
                <a:lnTo>
                  <a:pt x="10782" y="9574"/>
                </a:lnTo>
                <a:close/>
                <a:moveTo>
                  <a:pt x="10029" y="12215"/>
                </a:moveTo>
                <a:lnTo>
                  <a:pt x="11532" y="12215"/>
                </a:lnTo>
                <a:lnTo>
                  <a:pt x="10782" y="12891"/>
                </a:lnTo>
                <a:lnTo>
                  <a:pt x="10029" y="12215"/>
                </a:lnTo>
                <a:close/>
                <a:moveTo>
                  <a:pt x="9729" y="12427"/>
                </a:moveTo>
                <a:lnTo>
                  <a:pt x="10513" y="13133"/>
                </a:lnTo>
                <a:lnTo>
                  <a:pt x="8947" y="14541"/>
                </a:lnTo>
                <a:lnTo>
                  <a:pt x="9729" y="12427"/>
                </a:lnTo>
                <a:close/>
                <a:moveTo>
                  <a:pt x="11835" y="12427"/>
                </a:moveTo>
                <a:lnTo>
                  <a:pt x="12616" y="14541"/>
                </a:lnTo>
                <a:lnTo>
                  <a:pt x="11050" y="13133"/>
                </a:lnTo>
                <a:lnTo>
                  <a:pt x="11835" y="12427"/>
                </a:lnTo>
                <a:close/>
                <a:moveTo>
                  <a:pt x="10782" y="13375"/>
                </a:moveTo>
                <a:lnTo>
                  <a:pt x="12568" y="14979"/>
                </a:lnTo>
                <a:lnTo>
                  <a:pt x="8996" y="14979"/>
                </a:lnTo>
                <a:lnTo>
                  <a:pt x="10782" y="13375"/>
                </a:lnTo>
                <a:close/>
                <a:moveTo>
                  <a:pt x="9003" y="15275"/>
                </a:moveTo>
                <a:lnTo>
                  <a:pt x="12561" y="15275"/>
                </a:lnTo>
                <a:lnTo>
                  <a:pt x="10782" y="16237"/>
                </a:lnTo>
                <a:lnTo>
                  <a:pt x="9003" y="15275"/>
                </a:lnTo>
                <a:close/>
                <a:moveTo>
                  <a:pt x="8613" y="15439"/>
                </a:moveTo>
                <a:lnTo>
                  <a:pt x="10436" y="16426"/>
                </a:lnTo>
                <a:lnTo>
                  <a:pt x="7703" y="17904"/>
                </a:lnTo>
                <a:lnTo>
                  <a:pt x="8613" y="15439"/>
                </a:lnTo>
                <a:close/>
                <a:moveTo>
                  <a:pt x="12948" y="15439"/>
                </a:moveTo>
                <a:lnTo>
                  <a:pt x="13860" y="17904"/>
                </a:lnTo>
                <a:lnTo>
                  <a:pt x="11128" y="16426"/>
                </a:lnTo>
                <a:lnTo>
                  <a:pt x="12948" y="15439"/>
                </a:lnTo>
                <a:close/>
                <a:moveTo>
                  <a:pt x="10782" y="16612"/>
                </a:moveTo>
                <a:lnTo>
                  <a:pt x="13785" y="18238"/>
                </a:lnTo>
                <a:lnTo>
                  <a:pt x="7778" y="18238"/>
                </a:lnTo>
                <a:lnTo>
                  <a:pt x="10782" y="16612"/>
                </a:lnTo>
                <a:close/>
                <a:moveTo>
                  <a:pt x="7643" y="18534"/>
                </a:moveTo>
                <a:lnTo>
                  <a:pt x="13921" y="18534"/>
                </a:lnTo>
                <a:lnTo>
                  <a:pt x="10782" y="19661"/>
                </a:lnTo>
                <a:lnTo>
                  <a:pt x="7643" y="18534"/>
                </a:lnTo>
                <a:close/>
                <a:moveTo>
                  <a:pt x="7382" y="18773"/>
                </a:moveTo>
                <a:lnTo>
                  <a:pt x="10320" y="19828"/>
                </a:lnTo>
                <a:lnTo>
                  <a:pt x="6484" y="21207"/>
                </a:lnTo>
                <a:lnTo>
                  <a:pt x="7382" y="18773"/>
                </a:lnTo>
                <a:close/>
                <a:moveTo>
                  <a:pt x="14180" y="18773"/>
                </a:moveTo>
                <a:lnTo>
                  <a:pt x="15080" y="21207"/>
                </a:lnTo>
                <a:lnTo>
                  <a:pt x="11244" y="19828"/>
                </a:lnTo>
                <a:lnTo>
                  <a:pt x="14180" y="18773"/>
                </a:lnTo>
                <a:close/>
              </a:path>
            </a:pathLst>
          </a:custGeom>
          <a:solidFill>
            <a:srgbClr val="B22222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/>
          </a:p>
        </p:txBody>
      </p:sp>
      <p:pic>
        <p:nvPicPr>
          <p:cNvPr id="13" name="图形 9" descr="图形 9">
            <a:extLst>
              <a:ext uri="{FF2B5EF4-FFF2-40B4-BE49-F238E27FC236}">
                <a16:creationId xmlns:a16="http://schemas.microsoft.com/office/drawing/2014/main" id="{CD729055-E1EF-772F-CF2A-6A7851BFB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876" y="4386943"/>
            <a:ext cx="659565" cy="55842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4" name="图形 9" descr="图形 9">
            <a:extLst>
              <a:ext uri="{FF2B5EF4-FFF2-40B4-BE49-F238E27FC236}">
                <a16:creationId xmlns:a16="http://schemas.microsoft.com/office/drawing/2014/main" id="{5ADFEA31-B847-4ACE-9096-4276578D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840" y="4382647"/>
            <a:ext cx="659564" cy="55842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7" name="图形 9" descr="图形 9">
            <a:extLst>
              <a:ext uri="{FF2B5EF4-FFF2-40B4-BE49-F238E27FC236}">
                <a16:creationId xmlns:a16="http://schemas.microsoft.com/office/drawing/2014/main" id="{228860BA-F855-DE36-BC36-3C5FE1E06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004" y="4386943"/>
            <a:ext cx="659565" cy="55842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22" name="图形 9" descr="图形 9">
            <a:extLst>
              <a:ext uri="{FF2B5EF4-FFF2-40B4-BE49-F238E27FC236}">
                <a16:creationId xmlns:a16="http://schemas.microsoft.com/office/drawing/2014/main" id="{64C28B14-C14D-E1F9-781F-1A1365C18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966" y="4386511"/>
            <a:ext cx="659565" cy="55842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25" name="图形 26" descr="图形 26">
            <a:extLst>
              <a:ext uri="{FF2B5EF4-FFF2-40B4-BE49-F238E27FC236}">
                <a16:creationId xmlns:a16="http://schemas.microsoft.com/office/drawing/2014/main" id="{58929546-400C-4573-1FE7-7BA6C71C6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38" y="3315846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形 26" descr="图形 26">
            <a:extLst>
              <a:ext uri="{FF2B5EF4-FFF2-40B4-BE49-F238E27FC236}">
                <a16:creationId xmlns:a16="http://schemas.microsoft.com/office/drawing/2014/main" id="{CB7D0C1F-E611-6064-D5EA-6FF3D6D1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625" y="372801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形 26" descr="图形 26">
            <a:extLst>
              <a:ext uri="{FF2B5EF4-FFF2-40B4-BE49-F238E27FC236}">
                <a16:creationId xmlns:a16="http://schemas.microsoft.com/office/drawing/2014/main" id="{C293B51C-591D-E141-A3C7-1715653A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79" y="3468246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形 26" descr="图形 26">
            <a:extLst>
              <a:ext uri="{FF2B5EF4-FFF2-40B4-BE49-F238E27FC236}">
                <a16:creationId xmlns:a16="http://schemas.microsoft.com/office/drawing/2014/main" id="{1774BA0B-3F08-A6B7-F181-F4EE6FF19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253" y="3552323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形 26" descr="图形 26">
            <a:extLst>
              <a:ext uri="{FF2B5EF4-FFF2-40B4-BE49-F238E27FC236}">
                <a16:creationId xmlns:a16="http://schemas.microsoft.com/office/drawing/2014/main" id="{9C6CFC2F-9188-1F06-B7A3-A6C2AE022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200" y="340500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形 26" descr="图形 26">
            <a:extLst>
              <a:ext uri="{FF2B5EF4-FFF2-40B4-BE49-F238E27FC236}">
                <a16:creationId xmlns:a16="http://schemas.microsoft.com/office/drawing/2014/main" id="{AA3509F6-4D5D-3880-0CB2-F1C29D0F8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046" y="4936410"/>
            <a:ext cx="540004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Line">
            <a:extLst>
              <a:ext uri="{FF2B5EF4-FFF2-40B4-BE49-F238E27FC236}">
                <a16:creationId xmlns:a16="http://schemas.microsoft.com/office/drawing/2014/main" id="{0DB514AB-99AE-A8D0-E3AB-F4FF89885C94}"/>
              </a:ext>
            </a:extLst>
          </p:cNvPr>
          <p:cNvSpPr/>
          <p:nvPr/>
        </p:nvSpPr>
        <p:spPr>
          <a:xfrm flipV="1">
            <a:off x="4345035" y="3294357"/>
            <a:ext cx="1117197" cy="1175356"/>
          </a:xfrm>
          <a:prstGeom prst="line">
            <a:avLst/>
          </a:prstGeom>
          <a:noFill/>
          <a:ln w="50800" cap="flat">
            <a:solidFill>
              <a:srgbClr val="B22222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1200"/>
          </a:p>
        </p:txBody>
      </p:sp>
      <p:sp>
        <p:nvSpPr>
          <p:cNvPr id="77" name="Line">
            <a:extLst>
              <a:ext uri="{FF2B5EF4-FFF2-40B4-BE49-F238E27FC236}">
                <a16:creationId xmlns:a16="http://schemas.microsoft.com/office/drawing/2014/main" id="{089F92D8-8DA0-2AC9-4A1A-F74C3BA0FFF0}"/>
              </a:ext>
            </a:extLst>
          </p:cNvPr>
          <p:cNvSpPr/>
          <p:nvPr/>
        </p:nvSpPr>
        <p:spPr>
          <a:xfrm flipH="1" flipV="1">
            <a:off x="5693764" y="3401742"/>
            <a:ext cx="479970" cy="1049428"/>
          </a:xfrm>
          <a:prstGeom prst="line">
            <a:avLst/>
          </a:prstGeom>
          <a:noFill/>
          <a:ln w="50800" cap="flat">
            <a:solidFill>
              <a:srgbClr val="B22222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1200"/>
          </a:p>
        </p:txBody>
      </p:sp>
      <p:sp>
        <p:nvSpPr>
          <p:cNvPr id="78" name="Line">
            <a:extLst>
              <a:ext uri="{FF2B5EF4-FFF2-40B4-BE49-F238E27FC236}">
                <a16:creationId xmlns:a16="http://schemas.microsoft.com/office/drawing/2014/main" id="{0E446B27-67F4-73CC-BBB0-04A78B9CBA56}"/>
              </a:ext>
            </a:extLst>
          </p:cNvPr>
          <p:cNvSpPr/>
          <p:nvPr/>
        </p:nvSpPr>
        <p:spPr>
          <a:xfrm>
            <a:off x="6318129" y="3282013"/>
            <a:ext cx="1189016" cy="1210282"/>
          </a:xfrm>
          <a:prstGeom prst="line">
            <a:avLst/>
          </a:prstGeom>
          <a:noFill/>
          <a:ln w="50800" cap="flat">
            <a:solidFill>
              <a:srgbClr val="B22222"/>
            </a:solidFill>
            <a:custDash>
              <a:ds d="200000" sp="200000"/>
            </a:custDash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5BD6AB-121A-C0D6-EBC1-FC83A6058963}"/>
              </a:ext>
            </a:extLst>
          </p:cNvPr>
          <p:cNvSpPr txBox="1"/>
          <p:nvPr/>
        </p:nvSpPr>
        <p:spPr>
          <a:xfrm>
            <a:off x="3559799" y="6016296"/>
            <a:ext cx="4693594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packet generation within threshold?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200" dirty="0">
                <a:solidFill>
                  <a:srgbClr val="FF0000"/>
                </a:solidFill>
              </a:rPr>
              <a:t>Burst End!</a:t>
            </a: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26" name="图形 26" descr="图形 26">
            <a:extLst>
              <a:ext uri="{FF2B5EF4-FFF2-40B4-BE49-F238E27FC236}">
                <a16:creationId xmlns:a16="http://schemas.microsoft.com/office/drawing/2014/main" id="{BD46A50F-6CD0-F140-8AE5-E3E2F1CD9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143" y="49494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图形 26" descr="图形 26">
            <a:extLst>
              <a:ext uri="{FF2B5EF4-FFF2-40B4-BE49-F238E27FC236}">
                <a16:creationId xmlns:a16="http://schemas.microsoft.com/office/drawing/2014/main" id="{7AFC7CA8-543B-2DD1-1A05-A5BF09FD8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44" y="51018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图形 26" descr="图形 26">
            <a:extLst>
              <a:ext uri="{FF2B5EF4-FFF2-40B4-BE49-F238E27FC236}">
                <a16:creationId xmlns:a16="http://schemas.microsoft.com/office/drawing/2014/main" id="{05E495DC-0FDE-0039-5076-7F47355E7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145" y="52542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形 26" descr="图形 26">
            <a:extLst>
              <a:ext uri="{FF2B5EF4-FFF2-40B4-BE49-F238E27FC236}">
                <a16:creationId xmlns:a16="http://schemas.microsoft.com/office/drawing/2014/main" id="{251451FA-17CE-A3FB-41C9-D59256B00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695" y="5174457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形 26" descr="图形 26">
            <a:extLst>
              <a:ext uri="{FF2B5EF4-FFF2-40B4-BE49-F238E27FC236}">
                <a16:creationId xmlns:a16="http://schemas.microsoft.com/office/drawing/2014/main" id="{1F07A61C-4470-9443-1B50-D9ECD1AB6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58" y="3578279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形 26" descr="图形 26">
            <a:extLst>
              <a:ext uri="{FF2B5EF4-FFF2-40B4-BE49-F238E27FC236}">
                <a16:creationId xmlns:a16="http://schemas.microsoft.com/office/drawing/2014/main" id="{8CE4A212-336B-FBB1-2D71-800B453E6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92" y="49494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形 26" descr="图形 26">
            <a:extLst>
              <a:ext uri="{FF2B5EF4-FFF2-40B4-BE49-F238E27FC236}">
                <a16:creationId xmlns:a16="http://schemas.microsoft.com/office/drawing/2014/main" id="{CA68F7B7-0850-D7F0-E622-9B56582B2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593" y="51018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形 26" descr="图形 26">
            <a:extLst>
              <a:ext uri="{FF2B5EF4-FFF2-40B4-BE49-F238E27FC236}">
                <a16:creationId xmlns:a16="http://schemas.microsoft.com/office/drawing/2014/main" id="{DA768AA9-5A5B-D811-4E4B-3388C46CF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594" y="5254295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形 26" descr="图形 26">
            <a:extLst>
              <a:ext uri="{FF2B5EF4-FFF2-40B4-BE49-F238E27FC236}">
                <a16:creationId xmlns:a16="http://schemas.microsoft.com/office/drawing/2014/main" id="{465F884A-97C2-4EAF-8CD6-552699E5F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4" y="536320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形 26" descr="图形 26">
            <a:extLst>
              <a:ext uri="{FF2B5EF4-FFF2-40B4-BE49-F238E27FC236}">
                <a16:creationId xmlns:a16="http://schemas.microsoft.com/office/drawing/2014/main" id="{FE442B89-B9B8-6005-ACFE-D6CB907D8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149" y="5511066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图形 26" descr="图形 26">
            <a:extLst>
              <a:ext uri="{FF2B5EF4-FFF2-40B4-BE49-F238E27FC236}">
                <a16:creationId xmlns:a16="http://schemas.microsoft.com/office/drawing/2014/main" id="{A6759877-32DD-9AE0-4DB7-3545D1319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47" y="50888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图形 26" descr="图形 26">
            <a:extLst>
              <a:ext uri="{FF2B5EF4-FFF2-40B4-BE49-F238E27FC236}">
                <a16:creationId xmlns:a16="http://schemas.microsoft.com/office/drawing/2014/main" id="{D68E340E-D150-9A96-9AEE-0FD28988D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048" y="52412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形 26" descr="图形 26">
            <a:extLst>
              <a:ext uri="{FF2B5EF4-FFF2-40B4-BE49-F238E27FC236}">
                <a16:creationId xmlns:a16="http://schemas.microsoft.com/office/drawing/2014/main" id="{FDE53D2E-6D07-D760-0EE9-ECE929CC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49" y="53936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形 26" descr="图形 26">
            <a:extLst>
              <a:ext uri="{FF2B5EF4-FFF2-40B4-BE49-F238E27FC236}">
                <a16:creationId xmlns:a16="http://schemas.microsoft.com/office/drawing/2014/main" id="{29FC6DBC-B33A-2509-268E-00465DFFB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050" y="5546010"/>
            <a:ext cx="540004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形 26" descr="图形 26">
            <a:extLst>
              <a:ext uri="{FF2B5EF4-FFF2-40B4-BE49-F238E27FC236}">
                <a16:creationId xmlns:a16="http://schemas.microsoft.com/office/drawing/2014/main" id="{6BDCB682-EF59-12AD-FEEE-990558EAC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798" y="5417033"/>
            <a:ext cx="540004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8A8E76-FF93-5B15-4C93-56D7D285C637}"/>
              </a:ext>
            </a:extLst>
          </p:cNvPr>
          <p:cNvSpPr txBox="1"/>
          <p:nvPr/>
        </p:nvSpPr>
        <p:spPr>
          <a:xfrm>
            <a:off x="2766667" y="1191181"/>
            <a:ext cx="6099858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+ Increased no. of unused slots? 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FF0000"/>
                </a:solidFill>
              </a:rPr>
              <a:t>Burst End!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7" name="图形 26" descr="图形 26">
            <a:extLst>
              <a:ext uri="{FF2B5EF4-FFF2-40B4-BE49-F238E27FC236}">
                <a16:creationId xmlns:a16="http://schemas.microsoft.com/office/drawing/2014/main" id="{5E3ECD30-783C-330D-67B3-D589897C6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696" y="5294418"/>
            <a:ext cx="540004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FA85C0-D1EF-E96C-50FD-B0FE47D90D85}"/>
              </a:ext>
            </a:extLst>
          </p:cNvPr>
          <p:cNvSpPr txBox="1"/>
          <p:nvPr/>
        </p:nvSpPr>
        <p:spPr>
          <a:xfrm>
            <a:off x="2042943" y="3480009"/>
            <a:ext cx="102657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/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AABE27-28CC-B4C4-6424-B0350293C8A0}"/>
              </a:ext>
            </a:extLst>
          </p:cNvPr>
          <p:cNvCxnSpPr/>
          <p:nvPr/>
        </p:nvCxnSpPr>
        <p:spPr>
          <a:xfrm flipV="1">
            <a:off x="2787444" y="3141406"/>
            <a:ext cx="0" cy="2732828"/>
          </a:xfrm>
          <a:prstGeom prst="straightConnector1">
            <a:avLst/>
          </a:prstGeom>
          <a:ln w="41275">
            <a:prstDash val="sysDash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4D5877A-C88F-81ED-FE98-97C6B9E65DF8}"/>
              </a:ext>
            </a:extLst>
          </p:cNvPr>
          <p:cNvSpPr txBox="1"/>
          <p:nvPr/>
        </p:nvSpPr>
        <p:spPr>
          <a:xfrm rot="16200000">
            <a:off x="996820" y="4297991"/>
            <a:ext cx="3105017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Explicit Feedback- Nodes ended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D5221-0A1A-03D6-2E52-CB6DF879F80E}"/>
              </a:ext>
            </a:extLst>
          </p:cNvPr>
          <p:cNvSpPr txBox="1"/>
          <p:nvPr/>
        </p:nvSpPr>
        <p:spPr>
          <a:xfrm rot="16200000">
            <a:off x="2615404" y="4440881"/>
            <a:ext cx="64761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uplink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0E62B-A1CE-B58D-CEFC-5A3912F4B3FE}"/>
              </a:ext>
            </a:extLst>
          </p:cNvPr>
          <p:cNvSpPr txBox="1"/>
          <p:nvPr/>
        </p:nvSpPr>
        <p:spPr>
          <a:xfrm>
            <a:off x="8551406" y="5185839"/>
            <a:ext cx="2911533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000" dirty="0"/>
              <a:t>Transition from Class-B to Class-A. Stop computing </a:t>
            </a:r>
            <a:r>
              <a:rPr lang="en-US" sz="2000" dirty="0" err="1"/>
              <a:t>tx</a:t>
            </a:r>
            <a:r>
              <a:rPr lang="en-US" sz="2000" dirty="0"/>
              <a:t> slots.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4A2175-34C0-E23C-A003-85D28693201F}"/>
              </a:ext>
            </a:extLst>
          </p:cNvPr>
          <p:cNvSpPr txBox="1"/>
          <p:nvPr/>
        </p:nvSpPr>
        <p:spPr>
          <a:xfrm>
            <a:off x="8422050" y="1806009"/>
            <a:ext cx="290810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000" dirty="0">
                <a:latin typeface="+mn-ea"/>
                <a:ea typeface="+mn-ea"/>
              </a:rPr>
              <a:t>End Burst-MAC</a:t>
            </a:r>
            <a:r>
              <a:rPr lang="en-US" sz="2000" dirty="0">
                <a:latin typeface="+mn-ea"/>
              </a:rPr>
              <a:t>. S</a:t>
            </a:r>
            <a:r>
              <a:rPr lang="en-US" sz="2000" dirty="0">
                <a:latin typeface="+mn-ea"/>
                <a:ea typeface="+mn-ea"/>
              </a:rPr>
              <a:t>top sending any schedules.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ea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7242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Thanks for your attention!…"/>
          <p:cNvSpPr txBox="1">
            <a:spLocks noGrp="1"/>
          </p:cNvSpPr>
          <p:nvPr>
            <p:ph type="body" idx="22"/>
          </p:nvPr>
        </p:nvSpPr>
        <p:spPr>
          <a:xfrm>
            <a:off x="603250" y="4154190"/>
            <a:ext cx="10985500" cy="2242833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404495">
              <a:defRPr sz="4704"/>
            </a:pPr>
            <a:r>
              <a:rPr lang="en-US" sz="2800" dirty="0" err="1"/>
              <a:t>Aakriti</a:t>
            </a:r>
            <a:r>
              <a:rPr lang="en-US" sz="2800" dirty="0"/>
              <a:t> Jain</a:t>
            </a:r>
          </a:p>
          <a:p>
            <a:pPr defTabSz="404495">
              <a:defRPr sz="4704"/>
            </a:pPr>
            <a:r>
              <a:rPr lang="en-US" sz="2000" u="sng" dirty="0">
                <a:hlinkClick r:id="rId2"/>
              </a:rPr>
              <a:t>aakriti.jain@utdallas.edu</a:t>
            </a:r>
            <a:endParaRPr lang="en-US" sz="2000" u="sng" dirty="0"/>
          </a:p>
          <a:p>
            <a:pPr defTabSz="404495">
              <a:defRPr sz="4704"/>
            </a:pPr>
            <a:endParaRPr lang="en-US" sz="2000" u="sng" dirty="0">
              <a:hlinkClick r:id="rId3"/>
            </a:endParaRPr>
          </a:p>
          <a:p>
            <a:pPr defTabSz="404495">
              <a:defRPr sz="4704"/>
            </a:pPr>
            <a:r>
              <a:rPr lang="en-US" sz="1400" dirty="0"/>
              <a:t>Read my paper at: </a:t>
            </a:r>
          </a:p>
          <a:p>
            <a:pPr defTabSz="404495">
              <a:defRPr sz="4704"/>
            </a:pPr>
            <a:r>
              <a:rPr lang="en-US" sz="900" dirty="0">
                <a:hlinkClick r:id="rId4"/>
              </a:rPr>
              <a:t>DOI: 10.1109/RTSS62706.2024.00022</a:t>
            </a:r>
            <a:endParaRPr sz="2000" u="sng" dirty="0">
              <a:hlinkClick r:id="rId3"/>
            </a:endParaRPr>
          </a:p>
        </p:txBody>
      </p:sp>
      <p:sp>
        <p:nvSpPr>
          <p:cNvPr id="1518" name="Line"/>
          <p:cNvSpPr/>
          <p:nvPr/>
        </p:nvSpPr>
        <p:spPr>
          <a:xfrm flipH="1" flipV="1">
            <a:off x="3523635" y="3338240"/>
            <a:ext cx="5144730" cy="1"/>
          </a:xfrm>
          <a:prstGeom prst="line">
            <a:avLst/>
          </a:prstGeom>
          <a:ln w="508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1200"/>
          </a:p>
        </p:txBody>
      </p:sp>
      <p:pic>
        <p:nvPicPr>
          <p:cNvPr id="151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887" y="495095"/>
            <a:ext cx="3025381" cy="579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0" name="Image" descr="Image"/>
          <p:cNvPicPr>
            <a:picLocks noChangeAspect="1"/>
          </p:cNvPicPr>
          <p:nvPr/>
        </p:nvPicPr>
        <p:blipFill>
          <a:blip r:embed="rId6"/>
          <a:srcRect l="4083" t="5625" r="2826" b="13846"/>
          <a:stretch>
            <a:fillRect/>
          </a:stretch>
        </p:blipFill>
        <p:spPr>
          <a:xfrm>
            <a:off x="3723191" y="487296"/>
            <a:ext cx="1948078" cy="595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1" name="截屏2024-06-13 下午11.34.10.png" descr="截屏2024-06-13 下午11.34.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477" y="220720"/>
            <a:ext cx="4381955" cy="112846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BC72DE-2480-534A-D424-07DF68486AE4}"/>
              </a:ext>
            </a:extLst>
          </p:cNvPr>
          <p:cNvSpPr/>
          <p:nvPr/>
        </p:nvSpPr>
        <p:spPr>
          <a:xfrm>
            <a:off x="210207" y="189186"/>
            <a:ext cx="11896912" cy="118766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CD661-9A6D-59C7-5632-FDABDCB1184C}"/>
              </a:ext>
            </a:extLst>
          </p:cNvPr>
          <p:cNvSpPr txBox="1"/>
          <p:nvPr/>
        </p:nvSpPr>
        <p:spPr>
          <a:xfrm>
            <a:off x="3108734" y="2545886"/>
            <a:ext cx="609985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404495">
              <a:defRPr sz="4704"/>
            </a:pPr>
            <a:r>
              <a:rPr lang="en-US" sz="3600" dirty="0"/>
              <a:t>Thank you!</a:t>
            </a:r>
          </a:p>
          <a:p>
            <a:pPr defTabSz="404495">
              <a:defRPr sz="4704"/>
            </a:pP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 dir="r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heme1" id="{F722EF72-F5AF-704A-81C9-AD9DAB514DBB}" vid="{73E602AC-6E9B-A349-A933-A183062E07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F5D7A2-EA58-BF44-8B48-3DDFC8814FB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18086</TotalTime>
  <Words>1700</Words>
  <Application>Microsoft Macintosh PowerPoint</Application>
  <PresentationFormat>Widescreen</PresentationFormat>
  <Paragraphs>385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-apple-system</vt:lpstr>
      <vt:lpstr>Apple Color Emoji</vt:lpstr>
      <vt:lpstr>Aptos</vt:lpstr>
      <vt:lpstr>Arial</vt:lpstr>
      <vt:lpstr>Cambria Math</vt:lpstr>
      <vt:lpstr>Gill Sans Light</vt:lpstr>
      <vt:lpstr>Helvetica</vt:lpstr>
      <vt:lpstr>Helvetica Neue</vt:lpstr>
      <vt:lpstr>Helvetica Neue Medium</vt:lpstr>
      <vt:lpstr>Times New Roman</vt:lpstr>
      <vt:lpstr>Theme1</vt:lpstr>
      <vt:lpstr>Burst-MAC: A MAC Protocol for Handling Burst Traffic in LoRa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Burst-MAC: A MAC Protocol for Handling Burst Traffic in LoRa Network</dc:title>
  <dc:creator>Aakriti Jain</dc:creator>
  <cp:lastModifiedBy>Aakriti Jain</cp:lastModifiedBy>
  <cp:revision>35</cp:revision>
  <dcterms:created xsi:type="dcterms:W3CDTF">2024-11-20T03:38:24Z</dcterms:created>
  <dcterms:modified xsi:type="dcterms:W3CDTF">2025-10-15T19:29:27Z</dcterms:modified>
</cp:coreProperties>
</file>